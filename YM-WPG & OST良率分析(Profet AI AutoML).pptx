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8" r:id="rId3"/>
    <p:sldId id="259" r:id="rId4"/>
    <p:sldId id="260" r:id="rId5"/>
    <p:sldId id="261" r:id="rId6"/>
    <p:sldId id="262" r:id="rId7"/>
    <p:sldId id="271" r:id="rId8"/>
    <p:sldId id="273" r:id="rId9"/>
    <p:sldId id="272" r:id="rId10"/>
    <p:sldId id="269" r:id="rId11"/>
    <p:sldId id="275" r:id="rId12"/>
    <p:sldId id="274" r:id="rId13"/>
    <p:sldId id="257" r:id="rId14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266678"/>
    <a:srgbClr val="F2F2F2"/>
    <a:srgbClr val="EFE8F5"/>
    <a:srgbClr val="93CDDD"/>
    <a:srgbClr val="F0E7F6"/>
    <a:srgbClr val="31859C"/>
    <a:srgbClr val="DDE7E4"/>
    <a:srgbClr val="FFFFFF"/>
    <a:srgbClr val="DBE5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3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DF61A00D-4CD8-356F-DE98-11D470182D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88D0B7B-2CDB-39A9-08AB-A1E71815BE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289D3-C7ED-497D-A3F2-FFF90F949D27}" type="datetimeFigureOut">
              <a:rPr lang="zh-TW" altLang="en-US" smtClean="0"/>
              <a:t>04/23/2026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E02C525-52E6-2911-B2CD-3F3EEBC19C1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8399F75-C272-58CD-D561-7D0C70E37D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41E21-C921-47FF-8E60-B6E0429F13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5860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5596C8-34DD-4001-AD23-B9CF2D626989}" type="datetimeFigureOut">
              <a:rPr lang="zh-TW" altLang="en-US" smtClean="0"/>
              <a:t>04/23/2026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7B3EEB-381A-42B9-8EC5-CB055AC264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149688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EB32E-EFC0-373D-12BE-FA90D9A76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6DB1C64-400B-BBDF-9117-F61DAD2690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4393010-6FDA-35C0-5E14-8EB7366DE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基於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WPG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屬於結構穩定性高度相關指標，且主要失效現象為板彎翹，本分析聚焦以下三類 </a:t>
            </a:r>
            <a:r>
              <a:rPr lang="en-US" altLang="zh-TW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ys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</a:p>
          <a:p>
            <a:endParaRPr lang="en-US" altLang="zh-TW" dirty="0"/>
          </a:p>
          <a:p>
            <a:pPr fontAlgn="t"/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ys-1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材來料特性</a:t>
            </a:r>
          </a:p>
          <a:p>
            <a:pPr fontAlgn="t"/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失效模式（現象）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b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板彎翹趨勢異常、疊構後平坦度不足</a:t>
            </a:r>
          </a:p>
          <a:p>
            <a:pPr fontAlgn="t"/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中間機制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b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銅厚均勻性不足，導致熱應力分佈不對稱</a:t>
            </a:r>
          </a:p>
          <a:p>
            <a:pPr fontAlgn="t"/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潛在根因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 </a:t>
            </a:r>
          </a:p>
          <a:p>
            <a:pPr lvl="1" fontAlgn="t"/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來料銅厚公差分佈過寬</a:t>
            </a:r>
          </a:p>
          <a:p>
            <a:pPr lvl="1" fontAlgn="t"/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製程被動吸收來料差異（電鍍補償）</a:t>
            </a:r>
          </a:p>
          <a:p>
            <a:pPr lvl="1" fontAlgn="t"/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疊構後應力層層累積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fontAlgn="t"/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ys-2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：銅厚與 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ABF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厚度組合（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Stack-up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交互效應）</a:t>
            </a:r>
          </a:p>
          <a:p>
            <a:pPr fontAlgn="t"/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失效模式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b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貼合不均、樹脂流動偏析</a:t>
            </a:r>
          </a:p>
          <a:p>
            <a:pPr fontAlgn="t"/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中間機制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b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各層厚度比例與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CTE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不匹配，冷卻收縮行為不一致</a:t>
            </a:r>
          </a:p>
          <a:p>
            <a:pPr fontAlgn="t"/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潛在根因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 </a:t>
            </a:r>
          </a:p>
          <a:p>
            <a:pPr lvl="1" fontAlgn="t"/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ABF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厚度與實際銅厚未形成對稱疊構</a:t>
            </a:r>
          </a:p>
          <a:p>
            <a:pPr lvl="1" fontAlgn="t"/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壓合參數無法同時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多種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stack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組合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fontAlgn="t"/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ys-3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：機台使用與差異性（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Machine Variation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endParaRPr lang="en-US" altLang="zh-TW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失效模式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b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不同機台間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WPG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分佈存在系統性差異 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中間機制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b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貼合壓力、溫度或真空條件均勻性不同 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潛在根因（舉例）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 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fontAlgn="t"/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壓合壓力回饋控制精度不同</a:t>
            </a:r>
          </a:p>
          <a:p>
            <a:pPr lvl="1" fontAlgn="t"/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真空抽氣路徑設計差異導致氣體殘留</a:t>
            </a:r>
          </a:p>
          <a:p>
            <a:pPr lvl="1" fontAlgn="t"/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Recipe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歷史微調未完全同步</a:t>
            </a:r>
          </a:p>
        </p:txBody>
      </p:sp>
    </p:spTree>
    <p:extLst>
      <p:ext uri="{BB962C8B-B14F-4D97-AF65-F5344CB8AC3E}">
        <p14:creationId xmlns:p14="http://schemas.microsoft.com/office/powerpoint/2010/main" val="1605342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52783-E8FE-2422-3CF0-1B3D44355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6F69679-0315-6633-BC5A-921A1440A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1567AC7-6DE6-C760-6605-D53407034F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本次模型建置所使用之 </a:t>
            </a:r>
            <a:r>
              <a:rPr lang="en-US" altLang="zh-TW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Xs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係基於資料可得性、製程邏輯合理性，以及與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WPG Yield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的統計關聯性篩選而成，主要包含以下三大類：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1️⃣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來料相關因子（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Material-related </a:t>
            </a:r>
            <a:r>
              <a:rPr lang="en-US" altLang="zh-TW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Xs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模型中影響度最高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</a:t>
            </a:r>
          </a:p>
          <a:p>
            <a:pPr fontAlgn="t"/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材來料編號使用</a:t>
            </a:r>
          </a:p>
          <a:p>
            <a:pPr fontAlgn="t"/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疊構與結構因子（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Stack-up related </a:t>
            </a:r>
            <a:r>
              <a:rPr lang="en-US" altLang="zh-TW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Xs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</a:p>
          <a:p>
            <a:pPr fontAlgn="t"/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ABF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厚度等級</a:t>
            </a:r>
          </a:p>
          <a:p>
            <a:pPr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銅厚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ABF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厚度組合因子</a:t>
            </a:r>
          </a:p>
          <a:p>
            <a:pPr fontAlgn="t"/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製程與設備因子（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 / Tool </a:t>
            </a:r>
            <a:r>
              <a:rPr lang="en-US" altLang="zh-TW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Xs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</a:p>
          <a:p>
            <a:pPr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製程站點</a:t>
            </a:r>
          </a:p>
          <a:p>
            <a:pPr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使用機台別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altLang="zh-TW" dirty="0"/>
              <a:t>-----------------------------------------------</a:t>
            </a:r>
          </a:p>
          <a:p>
            <a:pPr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整體模型建置流程如下：</a:t>
            </a:r>
          </a:p>
          <a:p>
            <a:pPr fontAlgn="t"/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資料蒐集與整併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85800" lvl="1" indent="-228600" fontAlgn="t">
              <a:buAutoNum type="arabicPeriod"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製程站機台別匯出歷史資料</a:t>
            </a:r>
          </a:p>
          <a:p>
            <a:pPr marL="685800" lvl="1" indent="-228600" fontAlgn="t">
              <a:buAutoNum type="arabicPeriod" startAt="2"/>
            </a:pP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WPG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量測結果進行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LOT / LAYER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對應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85800" lvl="1" indent="-228600" fontAlgn="t">
              <a:buAutoNum type="arabicPeriod" startAt="2"/>
            </a:pP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SPC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系統結構疊合厚度量測數值</a:t>
            </a:r>
          </a:p>
          <a:p>
            <a:pPr fontAlgn="t"/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資料前處理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缺失值篩除或合理補值</a:t>
            </a: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類別型因子轉換</a:t>
            </a: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排除明顯量測或記錄異常資料</a:t>
            </a:r>
          </a:p>
          <a:p>
            <a:pPr fontAlgn="t"/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特徵選擇與初版建模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將所有候選 </a:t>
            </a:r>
            <a:r>
              <a:rPr lang="en-US" altLang="zh-TW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Xs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納入模型</a:t>
            </a: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透過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Profet AI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評估特徵重要度與統計顯著性</a:t>
            </a:r>
          </a:p>
          <a:p>
            <a:pPr fontAlgn="t"/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模型訓練與驗證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WPG Yield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為預測目標進行回歸建模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-----------------------------------------------</a:t>
            </a:r>
          </a:p>
          <a:p>
            <a:pPr fontAlgn="t"/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R-square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（解釋能力）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：已達到穩定且具實用性之水準</a:t>
            </a:r>
          </a:p>
          <a:p>
            <a:pPr fontAlgn="t"/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ANOVA /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特徵重要度分析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 </a:t>
            </a: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來料相關因子呈現最顯著影響</a:t>
            </a: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疊構與設備因子為次要但不可忽略因素</a:t>
            </a:r>
          </a:p>
          <a:p>
            <a:pPr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📌 評估原則：</a:t>
            </a:r>
          </a:p>
          <a:p>
            <a:pPr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本模型以「可解釋性與穩定性」為優先，而非單純追求極高分數。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-----------------------------------------------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模型演化與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Fine-tuning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過程說明</a:t>
            </a:r>
          </a:p>
          <a:p>
            <a:pPr fontAlgn="t"/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初版模型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納入所有可得 </a:t>
            </a:r>
            <a:r>
              <a:rPr lang="en-US" altLang="zh-TW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Xs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用於確認主要影響來源</a:t>
            </a:r>
          </a:p>
          <a:p>
            <a:pPr fontAlgn="t"/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特徵收斂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移除影響度低或高度相關（共線性）之因子</a:t>
            </a: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聚焦於對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WPG Yield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具實質影響的 </a:t>
            </a:r>
            <a:r>
              <a:rPr lang="en-US" altLang="zh-TW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Xs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分群與條件化思考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針對不同材料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結構條件觀察模型表現</a:t>
            </a: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避免不同製程族群被平均化導致解釋力稀釋</a:t>
            </a:r>
          </a:p>
          <a:p>
            <a:pPr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Fine-tune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的目標為「提升可用性與決策價值」，而非僅提升指標數字。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-----------------------------------------------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實際資料測試與驗證結果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使用未參與模型訓練的歷史資料進行驗證 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驗證結果顯示： 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模型可合理反映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WPG Yield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的高低趨勢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高風險來料與結構條件，對應到較差的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WPG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表現</a:t>
            </a:r>
          </a:p>
          <a:p>
            <a:pPr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模型結果與既有製程經驗具一致性，並補強人工作業下難以量化的關聯性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📌 目前模型定位為：</a:t>
            </a:r>
          </a:p>
          <a:p>
            <a:pPr fontAlgn="t"/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決策輔助與風險辨識工具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，後續仍需搭配製程試驗進行最終驗證。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-----------------------------------------------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總結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本模型已成功建立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WPG Yield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與來料、結構及部分製程因子之關聯性，並透過逐步演化與驗證，具備作為後續製程改善與決策輔助之實用價值。</a:t>
            </a:r>
          </a:p>
          <a:p>
            <a:pPr fontAlgn="t"/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t"/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40974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51892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D88A1-E226-6571-AB67-51273B4D8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789190C-B4EE-11ED-3951-F3C04DF9C0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FBE8F7B-B14F-5E34-5F11-4155CAFBC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22700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479D4-799F-248D-DD68-3A7DFCCF7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4B75478-CA9C-EC85-66B7-79B497E1C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95DA783-5F7B-E764-DE3A-29F8DD32B1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模型上線狀態</a:t>
            </a:r>
          </a:p>
          <a:p>
            <a:pPr fontAlgn="t"/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目前模型狀態：試行中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已完成： </a:t>
            </a:r>
          </a:p>
          <a:p>
            <a:pPr lvl="1" fontAlgn="t"/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歷史資料訓練</a:t>
            </a:r>
          </a:p>
          <a:p>
            <a:pPr lvl="1" fontAlgn="t"/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特徵重要度與統計指標分析</a:t>
            </a:r>
          </a:p>
          <a:p>
            <a:pPr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尚未完全自動化整合至製程決策流程，但已可作為： </a:t>
            </a: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製程改善方向判斷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fontAlgn="t"/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已發生／預期量化效益（至年底）</a:t>
            </a:r>
          </a:p>
          <a:p>
            <a:pPr fontAlgn="t"/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縮短問題定位時間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過去需大量人工層別 → 現可快速聚焦於高關聯因子</a:t>
            </a:r>
          </a:p>
          <a:p>
            <a:pPr fontAlgn="t"/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降低問題層別與交互確認的分析時間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模型提供「因子優先順序」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潛在效益（目標型）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支援來料分級使用策略，有助於： </a:t>
            </a:r>
          </a:p>
          <a:p>
            <a:pPr lvl="2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降低高風險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誤用</a:t>
            </a:r>
          </a:p>
          <a:p>
            <a:pPr lvl="2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穩定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WPG yield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波動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t"/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------------------------------------------------------------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步驟仍可持續優化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1️⃣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資料層面優化（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Enhancement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</a:p>
          <a:p>
            <a:pPr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目前模型顯示「來料相關性最高」，但來料仍以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批次級資訊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為主</a:t>
            </a:r>
          </a:p>
          <a:p>
            <a:pPr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待優化方向： </a:t>
            </a: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納入更細顆粒度的來料量測資料（來料多點位量測資料）</a:t>
            </a:r>
          </a:p>
          <a:p>
            <a:pPr fontAlgn="t"/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模型迭代策略優化（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Refinement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</a:p>
          <a:p>
            <a:pPr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以現有模型為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 </a:t>
            </a: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區分高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低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WPG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條件</a:t>
            </a: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分群訓練，避免不同物料狀態被平均化</a:t>
            </a:r>
          </a:p>
          <a:p>
            <a:pPr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提升模型對「可改善空間」的指引能力，而非僅解釋歷史結果</a:t>
            </a:r>
          </a:p>
          <a:p>
            <a:pPr fontAlgn="t"/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決策應用流程優化（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Actionable Workflow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</a:p>
          <a:p>
            <a:pPr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將模型輸出與實務決策連結： </a:t>
            </a: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來料放行條件</a:t>
            </a: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製程參數調整策略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------------------------------------------------------------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已知／潛在未使用的 </a:t>
            </a:r>
            <a:r>
              <a:rPr lang="en-US" altLang="zh-TW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Xs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為何？為何未使用？</a:t>
            </a:r>
          </a:p>
          <a:p>
            <a:pPr fontAlgn="t"/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(1) Core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來料更細部的量測資訊</a:t>
            </a:r>
          </a:p>
          <a:p>
            <a:pPr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例如： </a:t>
            </a: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整板面多點位銅厚分佈</a:t>
            </a: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板內厚度均勻性指標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值等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未使用原因：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層別的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Level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，當前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方向指出需要收斂到該程度</a:t>
            </a:r>
          </a:p>
          <a:p>
            <a:pPr fontAlgn="t"/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(2)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製程條件的細部交互項（進階）</a:t>
            </a:r>
          </a:p>
          <a:p>
            <a:pPr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例如： </a:t>
            </a: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來料特性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壓合條件</a:t>
            </a: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多層疊構下的熱應力交互效應</a:t>
            </a:r>
          </a:p>
          <a:p>
            <a:pPr fontAlgn="t"/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未使用原因：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結構高度複雜，資料需求與模型維護成本高</a:t>
            </a:r>
          </a:p>
          <a:p>
            <a:pPr lvl="1" fontAlgn="t"/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現階段先聚焦於影響最大的主因（來料）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------------------------------------------------------------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目前模型已成功協助辨識影響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WPG Yield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的關鍵主因；後續將透過更精細的來料資訊與分群模型策略，逐步將模型由「解釋工具」轉化為「改善與決策輔助工具」。</a:t>
            </a:r>
          </a:p>
        </p:txBody>
      </p:sp>
    </p:spTree>
    <p:extLst>
      <p:ext uri="{BB962C8B-B14F-4D97-AF65-F5344CB8AC3E}">
        <p14:creationId xmlns:p14="http://schemas.microsoft.com/office/powerpoint/2010/main" val="2879536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584" y="-19050"/>
            <a:ext cx="12213168" cy="689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線接點 4"/>
          <p:cNvCxnSpPr/>
          <p:nvPr/>
        </p:nvCxnSpPr>
        <p:spPr>
          <a:xfrm flipV="1">
            <a:off x="313267" y="3551593"/>
            <a:ext cx="7418917" cy="6350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 flipV="1">
            <a:off x="402167" y="3501008"/>
            <a:ext cx="7236884" cy="9525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720421" y="6064512"/>
            <a:ext cx="4855633" cy="0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1815671" y="6022975"/>
            <a:ext cx="4671483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1761811" y="4376058"/>
            <a:ext cx="1292" cy="1673121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1815671" y="4441826"/>
            <a:ext cx="0" cy="1584325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" name="副標題 2"/>
          <p:cNvSpPr>
            <a:spLocks noGrp="1"/>
          </p:cNvSpPr>
          <p:nvPr>
            <p:ph type="subTitle" idx="1"/>
          </p:nvPr>
        </p:nvSpPr>
        <p:spPr>
          <a:xfrm>
            <a:off x="2032454" y="4679998"/>
            <a:ext cx="4447589" cy="1197274"/>
          </a:xfrm>
          <a:effectLst>
            <a:glow rad="63500">
              <a:schemeClr val="bg1">
                <a:alpha val="40000"/>
              </a:schemeClr>
            </a:glow>
          </a:effectLst>
        </p:spPr>
        <p:txBody>
          <a:bodyPr>
            <a:normAutofit/>
          </a:bodyPr>
          <a:lstStyle>
            <a:lvl1pPr marL="0" indent="0" algn="l" defTabSz="914400" rtl="0" eaLnBrk="0" latinLnBrk="0" hangingPunct="0">
              <a:lnSpc>
                <a:spcPct val="100000"/>
              </a:lnSpc>
              <a:spcBef>
                <a:spcPts val="300"/>
              </a:spcBef>
              <a:buClr>
                <a:srgbClr val="3333CC"/>
              </a:buClr>
              <a:buSzPct val="75000"/>
              <a:buFont typeface="Wingdings" pitchFamily="2" charset="2"/>
              <a:buNone/>
              <a:defRPr kumimoji="0" lang="zh-TW" altLang="en-US" sz="2000" b="1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itchFamily="34" charset="0"/>
                <a:ea typeface="微軟正黑體" pitchFamily="34" charset="-120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zh-TW" altLang="en-US" dirty="0"/>
          </a:p>
        </p:txBody>
      </p:sp>
      <p:sp>
        <p:nvSpPr>
          <p:cNvPr id="23" name="標題 1"/>
          <p:cNvSpPr>
            <a:spLocks noGrp="1"/>
          </p:cNvSpPr>
          <p:nvPr>
            <p:ph type="ctrTitle"/>
          </p:nvPr>
        </p:nvSpPr>
        <p:spPr>
          <a:xfrm>
            <a:off x="335361" y="2568896"/>
            <a:ext cx="7381401" cy="500065"/>
          </a:xfrm>
        </p:spPr>
        <p:txBody>
          <a:bodyPr>
            <a:noAutofit/>
          </a:bodyPr>
          <a:lstStyle>
            <a:lvl1pPr marL="0" indent="0" algn="ctr">
              <a:defRPr lang="zh-TW" altLang="en-US" sz="4000" b="1" kern="1200" baseline="0" dirty="0">
                <a:solidFill>
                  <a:srgbClr val="00007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3760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584" y="-19050"/>
            <a:ext cx="12213168" cy="689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標題 1"/>
          <p:cNvSpPr>
            <a:spLocks noGrp="1"/>
          </p:cNvSpPr>
          <p:nvPr>
            <p:ph type="ctrTitle"/>
          </p:nvPr>
        </p:nvSpPr>
        <p:spPr>
          <a:xfrm>
            <a:off x="335362" y="44624"/>
            <a:ext cx="7396823" cy="720080"/>
          </a:xfrm>
        </p:spPr>
        <p:txBody>
          <a:bodyPr lIns="0" rIns="0"/>
          <a:lstStyle>
            <a:lvl1pPr algn="ctr">
              <a:defRPr lang="zh-TW" altLang="en-US" sz="3600" b="1" kern="1200" baseline="0" dirty="0">
                <a:solidFill>
                  <a:srgbClr val="00007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335360" y="1052736"/>
            <a:ext cx="7232651" cy="3887788"/>
          </a:xfrm>
        </p:spPr>
        <p:txBody>
          <a:bodyPr>
            <a:normAutofit/>
          </a:bodyPr>
          <a:lstStyle>
            <a:lvl1pPr>
              <a:defRPr sz="2800">
                <a:solidFill>
                  <a:srgbClr val="002060"/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cxnSp>
        <p:nvCxnSpPr>
          <p:cNvPr id="12" name="直線接點 11"/>
          <p:cNvCxnSpPr/>
          <p:nvPr/>
        </p:nvCxnSpPr>
        <p:spPr>
          <a:xfrm flipV="1">
            <a:off x="300567" y="811312"/>
            <a:ext cx="7418917" cy="6350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V="1">
            <a:off x="402167" y="764705"/>
            <a:ext cx="7236884" cy="9525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35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584" y="-19050"/>
            <a:ext cx="12213168" cy="689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標題 1"/>
          <p:cNvSpPr>
            <a:spLocks noGrp="1"/>
          </p:cNvSpPr>
          <p:nvPr>
            <p:ph type="ctrTitle"/>
          </p:nvPr>
        </p:nvSpPr>
        <p:spPr>
          <a:xfrm>
            <a:off x="335362" y="2828925"/>
            <a:ext cx="7396823" cy="633984"/>
          </a:xfrm>
        </p:spPr>
        <p:txBody>
          <a:bodyPr lIns="0" rIns="0" anchor="ctr"/>
          <a:lstStyle>
            <a:lvl1pPr algn="ctr">
              <a:defRPr lang="zh-TW" altLang="en-US" sz="3600" b="1" kern="1200" baseline="0" dirty="0">
                <a:solidFill>
                  <a:srgbClr val="00007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cxnSp>
        <p:nvCxnSpPr>
          <p:cNvPr id="6" name="直線接點 5"/>
          <p:cNvCxnSpPr/>
          <p:nvPr/>
        </p:nvCxnSpPr>
        <p:spPr>
          <a:xfrm flipV="1">
            <a:off x="313267" y="3551593"/>
            <a:ext cx="7418917" cy="6350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 flipV="1">
            <a:off x="402167" y="3501008"/>
            <a:ext cx="7236884" cy="9525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7502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橢圓 5"/>
          <p:cNvSpPr/>
          <p:nvPr/>
        </p:nvSpPr>
        <p:spPr>
          <a:xfrm flipH="1">
            <a:off x="10551584" y="6084888"/>
            <a:ext cx="336549" cy="252412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7" name="橢圓 6"/>
          <p:cNvSpPr/>
          <p:nvPr/>
        </p:nvSpPr>
        <p:spPr>
          <a:xfrm flipH="1">
            <a:off x="10202333" y="6184900"/>
            <a:ext cx="239184" cy="17938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cxnSp>
        <p:nvCxnSpPr>
          <p:cNvPr id="8" name="直線接點 7"/>
          <p:cNvCxnSpPr/>
          <p:nvPr/>
        </p:nvCxnSpPr>
        <p:spPr>
          <a:xfrm>
            <a:off x="390889" y="809698"/>
            <a:ext cx="11391609" cy="6980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527052" y="765175"/>
            <a:ext cx="11093449" cy="635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7" name="文字版面配置區 6"/>
          <p:cNvSpPr>
            <a:spLocks noGrp="1"/>
          </p:cNvSpPr>
          <p:nvPr>
            <p:ph type="body" sz="quarter" idx="14"/>
          </p:nvPr>
        </p:nvSpPr>
        <p:spPr>
          <a:xfrm>
            <a:off x="268288" y="6525344"/>
            <a:ext cx="3523456" cy="216024"/>
          </a:xfrm>
        </p:spPr>
        <p:txBody>
          <a:bodyPr lIns="72000" rIns="72000" anchor="ctr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0" name="標題 1"/>
          <p:cNvSpPr>
            <a:spLocks noGrp="1"/>
          </p:cNvSpPr>
          <p:nvPr>
            <p:ph type="title"/>
          </p:nvPr>
        </p:nvSpPr>
        <p:spPr>
          <a:xfrm>
            <a:off x="-30865" y="44625"/>
            <a:ext cx="12222865" cy="720080"/>
          </a:xfrm>
        </p:spPr>
        <p:txBody>
          <a:bodyPr/>
          <a:lstStyle>
            <a:lvl1pPr marL="0" algn="ctr" defTabSz="914400" rtl="0" eaLnBrk="1" latinLnBrk="0" hangingPunct="1">
              <a:spcBef>
                <a:spcPct val="0"/>
              </a:spcBef>
              <a:buNone/>
              <a:defRPr lang="zh-TW" altLang="en-US" sz="3000" b="1" kern="1200" baseline="0" dirty="0">
                <a:solidFill>
                  <a:srgbClr val="00007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5" name="內容版面配置區 6"/>
          <p:cNvSpPr>
            <a:spLocks noGrp="1"/>
          </p:cNvSpPr>
          <p:nvPr>
            <p:ph sz="quarter" idx="13"/>
          </p:nvPr>
        </p:nvSpPr>
        <p:spPr>
          <a:xfrm>
            <a:off x="393271" y="990600"/>
            <a:ext cx="5515083" cy="5246712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baseline="0"/>
            </a:lvl1pPr>
            <a:lvl2pPr marL="742950" indent="-28575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l"/>
              <a:defRPr sz="2000" baseline="0"/>
            </a:lvl2pPr>
            <a:lvl3pPr>
              <a:lnSpc>
                <a:spcPct val="100000"/>
              </a:lnSpc>
              <a:spcBef>
                <a:spcPts val="600"/>
              </a:spcBef>
              <a:defRPr baseline="0"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6" name="內容版面配置區 6"/>
          <p:cNvSpPr>
            <a:spLocks noGrp="1"/>
          </p:cNvSpPr>
          <p:nvPr>
            <p:ph sz="quarter" idx="15"/>
          </p:nvPr>
        </p:nvSpPr>
        <p:spPr>
          <a:xfrm>
            <a:off x="6245547" y="980729"/>
            <a:ext cx="5515083" cy="5240658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baseline="0"/>
            </a:lvl1pPr>
            <a:lvl2pPr marL="742950" indent="-28575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l"/>
              <a:defRPr sz="2000" baseline="0"/>
            </a:lvl2pPr>
            <a:lvl3pPr>
              <a:lnSpc>
                <a:spcPct val="100000"/>
              </a:lnSpc>
              <a:spcBef>
                <a:spcPts val="600"/>
              </a:spcBef>
              <a:defRPr baseline="0"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" name="投影片編號版面配置區 5"/>
          <p:cNvSpPr>
            <a:spLocks noGrp="1"/>
          </p:cNvSpPr>
          <p:nvPr>
            <p:ph type="sldNum" sz="quarter" idx="16"/>
          </p:nvPr>
        </p:nvSpPr>
        <p:spPr>
          <a:xfrm>
            <a:off x="5519937" y="6361114"/>
            <a:ext cx="1007864" cy="365125"/>
          </a:xfrm>
          <a:prstGeom prst="rect">
            <a:avLst/>
          </a:prstGeom>
        </p:spPr>
        <p:txBody>
          <a:bodyPr anchor="ctr"/>
          <a:lstStyle>
            <a:lvl1pPr marL="0" algn="ctr" defTabSz="914400" rtl="0" eaLnBrk="1" latinLnBrk="0" hangingPunct="1">
              <a:defRPr lang="zh-TW" altLang="en-US" sz="1400" b="1" kern="1200" smtClean="0">
                <a:ln>
                  <a:solidFill>
                    <a:srgbClr val="1F497D">
                      <a:lumMod val="20000"/>
                      <a:lumOff val="80000"/>
                    </a:srgbClr>
                  </a:solidFill>
                </a:ln>
                <a:solidFill>
                  <a:prstClr val="white"/>
                </a:solidFill>
                <a:effectLst>
                  <a:glow rad="101600">
                    <a:schemeClr val="tx1">
                      <a:lumMod val="75000"/>
                      <a:lumOff val="25000"/>
                      <a:alpha val="40000"/>
                    </a:schemeClr>
                  </a:glow>
                </a:effectLst>
                <a:latin typeface="+mj-lt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</a:lstStyle>
          <a:p>
            <a:fld id="{EAA96D2A-866D-4FFE-B5B2-353D64420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921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橢圓 4"/>
          <p:cNvSpPr/>
          <p:nvPr/>
        </p:nvSpPr>
        <p:spPr>
          <a:xfrm flipH="1">
            <a:off x="10551584" y="6084888"/>
            <a:ext cx="336549" cy="252412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6" name="橢圓 5"/>
          <p:cNvSpPr/>
          <p:nvPr/>
        </p:nvSpPr>
        <p:spPr>
          <a:xfrm flipH="1">
            <a:off x="10202333" y="6184900"/>
            <a:ext cx="239184" cy="17938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21" name="標題 1"/>
          <p:cNvSpPr>
            <a:spLocks noGrp="1"/>
          </p:cNvSpPr>
          <p:nvPr>
            <p:ph type="title"/>
          </p:nvPr>
        </p:nvSpPr>
        <p:spPr>
          <a:xfrm>
            <a:off x="-15432" y="44625"/>
            <a:ext cx="12207432" cy="720080"/>
          </a:xfrm>
        </p:spPr>
        <p:txBody>
          <a:bodyPr/>
          <a:lstStyle>
            <a:lvl1pPr marL="0" algn="ctr" defTabSz="914400" rtl="0" eaLnBrk="1" latinLnBrk="0" hangingPunct="1">
              <a:spcBef>
                <a:spcPct val="0"/>
              </a:spcBef>
              <a:buNone/>
              <a:defRPr lang="zh-TW" altLang="en-US" sz="3000" b="1" kern="1200" baseline="0" dirty="0">
                <a:solidFill>
                  <a:srgbClr val="00007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2" name="文字版面配置區 6"/>
          <p:cNvSpPr>
            <a:spLocks noGrp="1"/>
          </p:cNvSpPr>
          <p:nvPr>
            <p:ph type="body" sz="quarter" idx="14"/>
          </p:nvPr>
        </p:nvSpPr>
        <p:spPr>
          <a:xfrm>
            <a:off x="268288" y="6525344"/>
            <a:ext cx="3523456" cy="216024"/>
          </a:xfrm>
        </p:spPr>
        <p:txBody>
          <a:bodyPr lIns="72000" rIns="72000" anchor="ctr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" name="內容版面配置區 6"/>
          <p:cNvSpPr>
            <a:spLocks noGrp="1"/>
          </p:cNvSpPr>
          <p:nvPr>
            <p:ph sz="quarter" idx="13"/>
          </p:nvPr>
        </p:nvSpPr>
        <p:spPr>
          <a:xfrm>
            <a:off x="388953" y="980728"/>
            <a:ext cx="11363568" cy="5256560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baseline="0"/>
            </a:lvl1pPr>
            <a:lvl2pPr marL="742950" indent="-28575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l"/>
              <a:defRPr sz="2000" baseline="0"/>
            </a:lvl2pPr>
            <a:lvl3pPr>
              <a:lnSpc>
                <a:spcPct val="100000"/>
              </a:lnSpc>
              <a:spcBef>
                <a:spcPts val="600"/>
              </a:spcBef>
              <a:defRPr baseline="0"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2" name="投影片編號版面配置區 5"/>
          <p:cNvSpPr>
            <a:spLocks noGrp="1"/>
          </p:cNvSpPr>
          <p:nvPr>
            <p:ph type="sldNum" sz="quarter" idx="16"/>
          </p:nvPr>
        </p:nvSpPr>
        <p:spPr>
          <a:xfrm>
            <a:off x="5519937" y="6361114"/>
            <a:ext cx="1007864" cy="365125"/>
          </a:xfrm>
          <a:prstGeom prst="rect">
            <a:avLst/>
          </a:prstGeom>
        </p:spPr>
        <p:txBody>
          <a:bodyPr anchor="ctr"/>
          <a:lstStyle>
            <a:lvl1pPr marL="0" algn="ctr" defTabSz="914400" rtl="0" eaLnBrk="1" latinLnBrk="0" hangingPunct="1">
              <a:defRPr lang="zh-TW" altLang="en-US" sz="1400" b="1" kern="1200" smtClean="0">
                <a:ln>
                  <a:solidFill>
                    <a:srgbClr val="1F497D">
                      <a:lumMod val="20000"/>
                      <a:lumOff val="80000"/>
                    </a:srgbClr>
                  </a:solidFill>
                </a:ln>
                <a:solidFill>
                  <a:prstClr val="white"/>
                </a:solidFill>
                <a:effectLst>
                  <a:glow rad="101600">
                    <a:schemeClr val="tx1">
                      <a:lumMod val="75000"/>
                      <a:lumOff val="25000"/>
                      <a:alpha val="40000"/>
                    </a:schemeClr>
                  </a:glow>
                </a:effectLst>
                <a:latin typeface="+mj-lt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</a:lstStyle>
          <a:p>
            <a:fld id="{EAA96D2A-866D-4FFE-B5B2-353D64420494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直線接點 12"/>
          <p:cNvCxnSpPr/>
          <p:nvPr/>
        </p:nvCxnSpPr>
        <p:spPr>
          <a:xfrm>
            <a:off x="390889" y="809698"/>
            <a:ext cx="11391609" cy="6980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527052" y="765175"/>
            <a:ext cx="11093449" cy="635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8549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7" name="橢圓 6"/>
          <p:cNvSpPr/>
          <p:nvPr/>
        </p:nvSpPr>
        <p:spPr>
          <a:xfrm flipH="1">
            <a:off x="10551584" y="6084888"/>
            <a:ext cx="336549" cy="252412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8" name="橢圓 7"/>
          <p:cNvSpPr/>
          <p:nvPr/>
        </p:nvSpPr>
        <p:spPr>
          <a:xfrm flipH="1">
            <a:off x="10202333" y="6184900"/>
            <a:ext cx="239184" cy="17938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21" name="標題 1"/>
          <p:cNvSpPr>
            <a:spLocks noGrp="1"/>
          </p:cNvSpPr>
          <p:nvPr>
            <p:ph type="title" hasCustomPrompt="1"/>
          </p:nvPr>
        </p:nvSpPr>
        <p:spPr>
          <a:xfrm>
            <a:off x="-15433" y="44624"/>
            <a:ext cx="12207433" cy="956609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spcBef>
                <a:spcPct val="0"/>
              </a:spcBef>
              <a:buNone/>
              <a:defRPr lang="zh-TW" altLang="en-US" sz="3000" b="1" kern="1200" baseline="0" dirty="0">
                <a:solidFill>
                  <a:srgbClr val="00007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 dirty="0"/>
              <a:t>按一下</a:t>
            </a:r>
            <a:br>
              <a:rPr lang="en-US" altLang="zh-TW" dirty="0"/>
            </a:br>
            <a:r>
              <a:rPr lang="zh-TW" altLang="en-US" dirty="0"/>
              <a:t>以編輯母片標題樣式</a:t>
            </a:r>
          </a:p>
        </p:txBody>
      </p:sp>
      <p:sp>
        <p:nvSpPr>
          <p:cNvPr id="19" name="文字版面配置區 6"/>
          <p:cNvSpPr>
            <a:spLocks noGrp="1"/>
          </p:cNvSpPr>
          <p:nvPr>
            <p:ph type="body" sz="quarter" idx="14"/>
          </p:nvPr>
        </p:nvSpPr>
        <p:spPr>
          <a:xfrm>
            <a:off x="268288" y="6525344"/>
            <a:ext cx="3523456" cy="216024"/>
          </a:xfrm>
        </p:spPr>
        <p:txBody>
          <a:bodyPr lIns="72000" rIns="72000" anchor="ctr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內容版面配置區 6"/>
          <p:cNvSpPr>
            <a:spLocks noGrp="1"/>
          </p:cNvSpPr>
          <p:nvPr>
            <p:ph sz="quarter" idx="13"/>
          </p:nvPr>
        </p:nvSpPr>
        <p:spPr>
          <a:xfrm>
            <a:off x="388953" y="1219140"/>
            <a:ext cx="5579456" cy="5018148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baseline="0"/>
            </a:lvl1pPr>
            <a:lvl2pPr marL="742950" indent="-28575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l"/>
              <a:defRPr sz="2000" baseline="0"/>
            </a:lvl2pPr>
            <a:lvl3pPr>
              <a:lnSpc>
                <a:spcPct val="100000"/>
              </a:lnSpc>
              <a:spcBef>
                <a:spcPts val="600"/>
              </a:spcBef>
              <a:defRPr baseline="0"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20" name="內容版面配置區 6"/>
          <p:cNvSpPr>
            <a:spLocks noGrp="1"/>
          </p:cNvSpPr>
          <p:nvPr>
            <p:ph sz="quarter" idx="15"/>
          </p:nvPr>
        </p:nvSpPr>
        <p:spPr>
          <a:xfrm>
            <a:off x="6149536" y="1219200"/>
            <a:ext cx="5588808" cy="5002186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baseline="0"/>
            </a:lvl1pPr>
            <a:lvl2pPr marL="742950" indent="-28575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l"/>
              <a:defRPr sz="2000" baseline="0"/>
            </a:lvl2pPr>
            <a:lvl3pPr>
              <a:lnSpc>
                <a:spcPct val="100000"/>
              </a:lnSpc>
              <a:spcBef>
                <a:spcPts val="600"/>
              </a:spcBef>
              <a:defRPr baseline="0"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4" name="投影片編號版面配置區 5"/>
          <p:cNvSpPr>
            <a:spLocks noGrp="1"/>
          </p:cNvSpPr>
          <p:nvPr>
            <p:ph type="sldNum" sz="quarter" idx="16"/>
          </p:nvPr>
        </p:nvSpPr>
        <p:spPr>
          <a:xfrm>
            <a:off x="5519937" y="6361114"/>
            <a:ext cx="1007864" cy="365125"/>
          </a:xfrm>
          <a:prstGeom prst="rect">
            <a:avLst/>
          </a:prstGeom>
        </p:spPr>
        <p:txBody>
          <a:bodyPr anchor="ctr"/>
          <a:lstStyle>
            <a:lvl1pPr marL="0" algn="ctr" defTabSz="914400" rtl="0" eaLnBrk="1" latinLnBrk="0" hangingPunct="1">
              <a:defRPr lang="zh-TW" altLang="en-US" sz="1400" b="1" kern="1200" smtClean="0">
                <a:ln>
                  <a:solidFill>
                    <a:srgbClr val="1F497D">
                      <a:lumMod val="20000"/>
                      <a:lumOff val="80000"/>
                    </a:srgbClr>
                  </a:solidFill>
                </a:ln>
                <a:solidFill>
                  <a:prstClr val="white"/>
                </a:solidFill>
                <a:effectLst>
                  <a:glow rad="101600">
                    <a:schemeClr val="tx1">
                      <a:lumMod val="75000"/>
                      <a:lumOff val="25000"/>
                      <a:alpha val="40000"/>
                    </a:schemeClr>
                  </a:glow>
                </a:effectLst>
                <a:latin typeface="+mj-lt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</a:lstStyle>
          <a:p>
            <a:fld id="{EAA96D2A-866D-4FFE-B5B2-353D6442049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直線接點 14"/>
          <p:cNvCxnSpPr/>
          <p:nvPr/>
        </p:nvCxnSpPr>
        <p:spPr>
          <a:xfrm>
            <a:off x="390889" y="1045756"/>
            <a:ext cx="11391609" cy="6980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527052" y="1001233"/>
            <a:ext cx="11093449" cy="635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304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橢圓 4"/>
          <p:cNvSpPr/>
          <p:nvPr/>
        </p:nvSpPr>
        <p:spPr>
          <a:xfrm flipH="1">
            <a:off x="10551584" y="6084888"/>
            <a:ext cx="336549" cy="252412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6" name="橢圓 5"/>
          <p:cNvSpPr/>
          <p:nvPr/>
        </p:nvSpPr>
        <p:spPr>
          <a:xfrm flipH="1">
            <a:off x="10202333" y="6184900"/>
            <a:ext cx="239184" cy="17938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15" name="標題 1"/>
          <p:cNvSpPr>
            <a:spLocks noGrp="1"/>
          </p:cNvSpPr>
          <p:nvPr>
            <p:ph type="title" hasCustomPrompt="1"/>
          </p:nvPr>
        </p:nvSpPr>
        <p:spPr>
          <a:xfrm>
            <a:off x="-15433" y="44624"/>
            <a:ext cx="12207433" cy="956609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spcBef>
                <a:spcPct val="0"/>
              </a:spcBef>
              <a:buNone/>
              <a:defRPr lang="zh-TW" altLang="en-US" sz="3000" b="1" kern="1200" baseline="0" dirty="0">
                <a:solidFill>
                  <a:srgbClr val="00007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 dirty="0"/>
              <a:t>按一下</a:t>
            </a:r>
            <a:br>
              <a:rPr lang="en-US" altLang="zh-TW" dirty="0"/>
            </a:br>
            <a:r>
              <a:rPr lang="zh-TW" altLang="en-US" dirty="0"/>
              <a:t>以編輯母片標題樣式</a:t>
            </a:r>
          </a:p>
        </p:txBody>
      </p:sp>
      <p:sp>
        <p:nvSpPr>
          <p:cNvPr id="24" name="文字版面配置區 6"/>
          <p:cNvSpPr>
            <a:spLocks noGrp="1"/>
          </p:cNvSpPr>
          <p:nvPr>
            <p:ph type="body" sz="quarter" idx="14"/>
          </p:nvPr>
        </p:nvSpPr>
        <p:spPr>
          <a:xfrm>
            <a:off x="268288" y="6525344"/>
            <a:ext cx="3523456" cy="216024"/>
          </a:xfrm>
        </p:spPr>
        <p:txBody>
          <a:bodyPr lIns="72000" rIns="72000" anchor="ctr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內容版面配置區 6"/>
          <p:cNvSpPr>
            <a:spLocks noGrp="1"/>
          </p:cNvSpPr>
          <p:nvPr>
            <p:ph sz="quarter" idx="13"/>
          </p:nvPr>
        </p:nvSpPr>
        <p:spPr>
          <a:xfrm>
            <a:off x="388953" y="1219200"/>
            <a:ext cx="11371676" cy="5018088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baseline="0"/>
            </a:lvl1pPr>
            <a:lvl2pPr marL="742950" indent="-28575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l"/>
              <a:defRPr sz="2000" baseline="0"/>
            </a:lvl2pPr>
            <a:lvl3pPr>
              <a:lnSpc>
                <a:spcPct val="100000"/>
              </a:lnSpc>
              <a:spcBef>
                <a:spcPts val="600"/>
              </a:spcBef>
              <a:defRPr baseline="0"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3" name="投影片編號版面配置區 5"/>
          <p:cNvSpPr>
            <a:spLocks noGrp="1"/>
          </p:cNvSpPr>
          <p:nvPr>
            <p:ph type="sldNum" sz="quarter" idx="16"/>
          </p:nvPr>
        </p:nvSpPr>
        <p:spPr>
          <a:xfrm>
            <a:off x="5519937" y="6361114"/>
            <a:ext cx="1007864" cy="365125"/>
          </a:xfrm>
          <a:prstGeom prst="rect">
            <a:avLst/>
          </a:prstGeom>
        </p:spPr>
        <p:txBody>
          <a:bodyPr anchor="ctr"/>
          <a:lstStyle>
            <a:lvl1pPr marL="0" algn="ctr" defTabSz="914400" rtl="0" eaLnBrk="1" latinLnBrk="0" hangingPunct="1">
              <a:defRPr lang="zh-TW" altLang="en-US" sz="1400" b="1" kern="1200" smtClean="0">
                <a:ln>
                  <a:solidFill>
                    <a:srgbClr val="1F497D">
                      <a:lumMod val="20000"/>
                      <a:lumOff val="80000"/>
                    </a:srgbClr>
                  </a:solidFill>
                </a:ln>
                <a:solidFill>
                  <a:prstClr val="white"/>
                </a:solidFill>
                <a:effectLst>
                  <a:glow rad="101600">
                    <a:schemeClr val="tx1">
                      <a:lumMod val="75000"/>
                      <a:lumOff val="25000"/>
                      <a:alpha val="40000"/>
                    </a:schemeClr>
                  </a:glow>
                </a:effectLst>
                <a:latin typeface="+mj-lt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</a:lstStyle>
          <a:p>
            <a:fld id="{EAA96D2A-866D-4FFE-B5B2-353D6442049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直線接點 13"/>
          <p:cNvCxnSpPr/>
          <p:nvPr/>
        </p:nvCxnSpPr>
        <p:spPr>
          <a:xfrm>
            <a:off x="390889" y="1045756"/>
            <a:ext cx="11391609" cy="6980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527052" y="1001233"/>
            <a:ext cx="11093449" cy="635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4554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5" name="橢圓 4"/>
          <p:cNvSpPr/>
          <p:nvPr/>
        </p:nvSpPr>
        <p:spPr>
          <a:xfrm flipH="1">
            <a:off x="10551584" y="6084888"/>
            <a:ext cx="336549" cy="252412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6" name="橢圓 5"/>
          <p:cNvSpPr/>
          <p:nvPr/>
        </p:nvSpPr>
        <p:spPr>
          <a:xfrm flipH="1">
            <a:off x="10202333" y="6184900"/>
            <a:ext cx="239184" cy="17938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-30865" y="46039"/>
            <a:ext cx="12222865" cy="718666"/>
          </a:xfrm>
        </p:spPr>
        <p:txBody>
          <a:bodyPr/>
          <a:lstStyle>
            <a:lvl1pPr marL="0" algn="ctr" defTabSz="914400" rtl="0" eaLnBrk="1" latinLnBrk="0" hangingPunct="1">
              <a:spcBef>
                <a:spcPct val="0"/>
              </a:spcBef>
              <a:buNone/>
              <a:defRPr lang="zh-TW" altLang="en-US" sz="3000" b="1" kern="1200" baseline="0" dirty="0">
                <a:solidFill>
                  <a:srgbClr val="00007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1" name="文字版面配置區 6"/>
          <p:cNvSpPr>
            <a:spLocks noGrp="1"/>
          </p:cNvSpPr>
          <p:nvPr>
            <p:ph type="body" sz="quarter" idx="14"/>
          </p:nvPr>
        </p:nvSpPr>
        <p:spPr>
          <a:xfrm>
            <a:off x="268288" y="6525344"/>
            <a:ext cx="3523456" cy="216024"/>
          </a:xfrm>
        </p:spPr>
        <p:txBody>
          <a:bodyPr lIns="72000" rIns="72000" anchor="ctr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投影片編號版面配置區 5"/>
          <p:cNvSpPr>
            <a:spLocks noGrp="1"/>
          </p:cNvSpPr>
          <p:nvPr>
            <p:ph type="sldNum" sz="quarter" idx="16"/>
          </p:nvPr>
        </p:nvSpPr>
        <p:spPr>
          <a:xfrm>
            <a:off x="5519937" y="6361114"/>
            <a:ext cx="1007864" cy="365125"/>
          </a:xfrm>
          <a:prstGeom prst="rect">
            <a:avLst/>
          </a:prstGeom>
        </p:spPr>
        <p:txBody>
          <a:bodyPr anchor="ctr"/>
          <a:lstStyle>
            <a:lvl1pPr marL="0" algn="ctr" defTabSz="914400" rtl="0" eaLnBrk="1" latinLnBrk="0" hangingPunct="1">
              <a:defRPr lang="zh-TW" altLang="en-US" sz="1400" b="1" kern="1200" smtClean="0">
                <a:ln>
                  <a:solidFill>
                    <a:srgbClr val="1F497D">
                      <a:lumMod val="20000"/>
                      <a:lumOff val="80000"/>
                    </a:srgbClr>
                  </a:solidFill>
                </a:ln>
                <a:solidFill>
                  <a:prstClr val="white"/>
                </a:solidFill>
                <a:effectLst>
                  <a:glow rad="101600">
                    <a:schemeClr val="tx1">
                      <a:lumMod val="75000"/>
                      <a:lumOff val="25000"/>
                      <a:alpha val="40000"/>
                    </a:schemeClr>
                  </a:glow>
                </a:effectLst>
                <a:latin typeface="+mj-lt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</a:lstStyle>
          <a:p>
            <a:fld id="{EAA96D2A-866D-4FFE-B5B2-353D64420494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直線接點 12"/>
          <p:cNvCxnSpPr/>
          <p:nvPr/>
        </p:nvCxnSpPr>
        <p:spPr>
          <a:xfrm>
            <a:off x="390889" y="809698"/>
            <a:ext cx="11391609" cy="6980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527052" y="765175"/>
            <a:ext cx="11093449" cy="635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64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351618" y="490539"/>
            <a:ext cx="7488767" cy="56657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7" name="橢圓 6"/>
          <p:cNvSpPr/>
          <p:nvPr/>
        </p:nvSpPr>
        <p:spPr>
          <a:xfrm flipH="1">
            <a:off x="10551584" y="6084888"/>
            <a:ext cx="336549" cy="252412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8" name="橢圓 7"/>
          <p:cNvSpPr/>
          <p:nvPr/>
        </p:nvSpPr>
        <p:spPr>
          <a:xfrm flipH="1">
            <a:off x="10202333" y="6184900"/>
            <a:ext cx="239184" cy="17938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419357" y="4800600"/>
            <a:ext cx="7315200" cy="566738"/>
          </a:xfrm>
        </p:spPr>
        <p:txBody>
          <a:bodyPr anchor="b">
            <a:noAutofit/>
          </a:bodyPr>
          <a:lstStyle>
            <a:lvl1pPr algn="l">
              <a:defRPr lang="zh-TW" altLang="en-US" sz="2400" b="1" kern="1200" baseline="0" dirty="0">
                <a:solidFill>
                  <a:srgbClr val="00007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微軟正黑體" pitchFamily="34" charset="-120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41935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 baseline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  <a:endParaRPr lang="zh-TW" altLang="en-US" noProof="0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419357" y="5367338"/>
            <a:ext cx="7315200" cy="804862"/>
          </a:xfrm>
        </p:spPr>
        <p:txBody>
          <a:bodyPr>
            <a:normAutofit/>
          </a:bodyPr>
          <a:lstStyle>
            <a:lvl1pPr marL="0" indent="0">
              <a:buNone/>
              <a:defRPr lang="zh-TW" altLang="en-US" sz="1800" b="1" kern="1200" baseline="0" dirty="0" smtClean="0">
                <a:ln w="50800"/>
                <a:solidFill>
                  <a:schemeClr val="tx1"/>
                </a:solidFill>
                <a:latin typeface="Calibri" pitchFamily="34" charset="0"/>
                <a:ea typeface="微軟正黑體" pitchFamily="34" charset="-120"/>
                <a:cs typeface="Verdana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文字版面配置區 6"/>
          <p:cNvSpPr>
            <a:spLocks noGrp="1"/>
          </p:cNvSpPr>
          <p:nvPr>
            <p:ph type="body" sz="quarter" idx="14"/>
          </p:nvPr>
        </p:nvSpPr>
        <p:spPr>
          <a:xfrm>
            <a:off x="268288" y="6525344"/>
            <a:ext cx="3523456" cy="216024"/>
          </a:xfrm>
        </p:spPr>
        <p:txBody>
          <a:bodyPr lIns="72000" rIns="72000" anchor="ctr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投影片編號版面配置區 5"/>
          <p:cNvSpPr>
            <a:spLocks noGrp="1"/>
          </p:cNvSpPr>
          <p:nvPr>
            <p:ph type="sldNum" sz="quarter" idx="16"/>
          </p:nvPr>
        </p:nvSpPr>
        <p:spPr>
          <a:xfrm>
            <a:off x="5519937" y="6361114"/>
            <a:ext cx="1007864" cy="365125"/>
          </a:xfrm>
          <a:prstGeom prst="rect">
            <a:avLst/>
          </a:prstGeom>
        </p:spPr>
        <p:txBody>
          <a:bodyPr anchor="ctr"/>
          <a:lstStyle>
            <a:lvl1pPr marL="0" algn="ctr" defTabSz="914400" rtl="0" eaLnBrk="1" latinLnBrk="0" hangingPunct="1">
              <a:defRPr lang="zh-TW" altLang="en-US" sz="1400" b="1" kern="1200" smtClean="0">
                <a:ln>
                  <a:solidFill>
                    <a:srgbClr val="1F497D">
                      <a:lumMod val="20000"/>
                      <a:lumOff val="80000"/>
                    </a:srgbClr>
                  </a:solidFill>
                </a:ln>
                <a:solidFill>
                  <a:prstClr val="white"/>
                </a:solidFill>
                <a:effectLst>
                  <a:glow rad="101600">
                    <a:schemeClr val="tx1">
                      <a:lumMod val="75000"/>
                      <a:lumOff val="25000"/>
                      <a:alpha val="40000"/>
                    </a:schemeClr>
                  </a:glow>
                </a:effectLst>
                <a:latin typeface="+mj-lt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</a:lstStyle>
          <a:p>
            <a:fld id="{EAA96D2A-866D-4FFE-B5B2-353D64420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279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584" y="-19050"/>
            <a:ext cx="12213168" cy="689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版面配置區 29"/>
          <p:cNvSpPr txBox="1">
            <a:spLocks/>
          </p:cNvSpPr>
          <p:nvPr/>
        </p:nvSpPr>
        <p:spPr>
          <a:xfrm>
            <a:off x="334433" y="3611564"/>
            <a:ext cx="7425268" cy="56832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Aft>
                <a:spcPts val="0"/>
              </a:spcAft>
              <a:defRPr/>
            </a:pPr>
            <a:r>
              <a:rPr kumimoji="0" lang="en-US" altLang="zh-TW" sz="2800" dirty="0">
                <a:solidFill>
                  <a:prstClr val="black"/>
                </a:solidFill>
              </a:rPr>
              <a:t>Thank you</a:t>
            </a:r>
            <a:endParaRPr kumimoji="0"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14" name="標題 1"/>
          <p:cNvSpPr txBox="1">
            <a:spLocks/>
          </p:cNvSpPr>
          <p:nvPr/>
        </p:nvSpPr>
        <p:spPr>
          <a:xfrm>
            <a:off x="335361" y="2852937"/>
            <a:ext cx="7396823" cy="60064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zh-TW" altLang="en-US" sz="3600" b="1" kern="1200" baseline="0" dirty="0">
                <a:solidFill>
                  <a:srgbClr val="00007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微軟正黑體" pitchFamily="34" charset="-120"/>
                <a:cs typeface="+mn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76"/>
                </a:solidFill>
                <a:latin typeface="Calibri" pitchFamily="34" charset="0"/>
                <a:ea typeface="微軟正黑體" pitchFamily="34" charset="-12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76"/>
                </a:solidFill>
                <a:latin typeface="Calibri" pitchFamily="34" charset="0"/>
                <a:ea typeface="微軟正黑體" pitchFamily="34" charset="-12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76"/>
                </a:solidFill>
                <a:latin typeface="Calibri" pitchFamily="34" charset="0"/>
                <a:ea typeface="微軟正黑體" pitchFamily="34" charset="-12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76"/>
                </a:solidFill>
                <a:latin typeface="Calibri" pitchFamily="34" charset="0"/>
                <a:ea typeface="微軟正黑體" pitchFamily="34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76"/>
                </a:solidFill>
                <a:latin typeface="Calibri" pitchFamily="34" charset="0"/>
                <a:ea typeface="微軟正黑體" pitchFamily="34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76"/>
                </a:solidFill>
                <a:latin typeface="Calibri" pitchFamily="34" charset="0"/>
                <a:ea typeface="微軟正黑體" pitchFamily="34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76"/>
                </a:solidFill>
                <a:latin typeface="Calibri" pitchFamily="34" charset="0"/>
                <a:ea typeface="微軟正黑體" pitchFamily="34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76"/>
                </a:solidFill>
                <a:latin typeface="Calibri" pitchFamily="34" charset="0"/>
                <a:ea typeface="微軟正黑體" pitchFamily="34" charset="-120"/>
              </a:defRPr>
            </a:lvl9pPr>
          </a:lstStyle>
          <a:p>
            <a:r>
              <a:rPr lang="zh-TW" altLang="en-US" sz="3600" dirty="0"/>
              <a:t>謝謝您的聆聽</a:t>
            </a:r>
          </a:p>
        </p:txBody>
      </p:sp>
      <p:cxnSp>
        <p:nvCxnSpPr>
          <p:cNvPr id="12" name="直線接點 11"/>
          <p:cNvCxnSpPr/>
          <p:nvPr/>
        </p:nvCxnSpPr>
        <p:spPr>
          <a:xfrm flipV="1">
            <a:off x="313267" y="3551593"/>
            <a:ext cx="7418917" cy="6350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V="1">
            <a:off x="402167" y="3501008"/>
            <a:ext cx="7236884" cy="9525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5901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97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  <a:endParaRPr lang="en-US" altLang="zh-TW"/>
          </a:p>
          <a:p>
            <a:pPr lvl="4"/>
            <a:r>
              <a:rPr lang="zh-TW" altLang="en-US"/>
              <a:t>第一層</a:t>
            </a:r>
          </a:p>
          <a:p>
            <a:pPr lvl="2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1818125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lang="zh-TW" altLang="en-US" sz="3000" b="1" kern="1200" dirty="0">
          <a:solidFill>
            <a:srgbClr val="000076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Calibri" pitchFamily="34" charset="0"/>
          <a:ea typeface="微軟正黑體" pitchFamily="34" charset="-120"/>
          <a:cs typeface="+mn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76"/>
          </a:solidFill>
          <a:latin typeface="Calibri" pitchFamily="34" charset="0"/>
          <a:ea typeface="微軟正黑體" pitchFamily="34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76"/>
          </a:solidFill>
          <a:latin typeface="Calibri" pitchFamily="34" charset="0"/>
          <a:ea typeface="微軟正黑體" pitchFamily="34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76"/>
          </a:solidFill>
          <a:latin typeface="Calibri" pitchFamily="34" charset="0"/>
          <a:ea typeface="微軟正黑體" pitchFamily="34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76"/>
          </a:solidFill>
          <a:latin typeface="Calibri" pitchFamily="34" charset="0"/>
          <a:ea typeface="微軟正黑體" pitchFamily="34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76"/>
          </a:solidFill>
          <a:latin typeface="Calibri" pitchFamily="34" charset="0"/>
          <a:ea typeface="微軟正黑體" pitchFamily="34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76"/>
          </a:solidFill>
          <a:latin typeface="Calibri" pitchFamily="34" charset="0"/>
          <a:ea typeface="微軟正黑體" pitchFamily="34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76"/>
          </a:solidFill>
          <a:latin typeface="Calibri" pitchFamily="34" charset="0"/>
          <a:ea typeface="微軟正黑體" pitchFamily="34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76"/>
          </a:solidFill>
          <a:latin typeface="Calibri" pitchFamily="34" charset="0"/>
          <a:ea typeface="微軟正黑體" pitchFamily="34" charset="-120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Wingdings" pitchFamily="2" charset="2"/>
        <a:buChar char="Ø"/>
        <a:defRPr lang="zh-TW" altLang="en-US" sz="2400" b="1" kern="1200" dirty="0">
          <a:ln w="50800"/>
          <a:solidFill>
            <a:schemeClr val="tx1"/>
          </a:solidFill>
          <a:latin typeface="Calibri" pitchFamily="34" charset="0"/>
          <a:ea typeface="微軟正黑體" pitchFamily="34" charset="-120"/>
          <a:cs typeface="Verdana" pitchFamily="34" charset="0"/>
        </a:defRPr>
      </a:lvl1pPr>
      <a:lvl2pPr marL="742950" indent="-28575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pitchFamily="34" charset="0"/>
        <a:buChar char="–"/>
        <a:defRPr lang="zh-TW" altLang="en-US" sz="2000" b="1" kern="1200" dirty="0">
          <a:ln w="50800"/>
          <a:solidFill>
            <a:schemeClr val="tx1"/>
          </a:solidFill>
          <a:latin typeface="Calibri" pitchFamily="34" charset="0"/>
          <a:ea typeface="微軟正黑體" pitchFamily="34" charset="-120"/>
          <a:cs typeface="Verdana" pitchFamily="34" charset="0"/>
        </a:defRPr>
      </a:lvl2pPr>
      <a:lvl3pPr marL="1260475" indent="-1857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Verdana" pitchFamily="34" charset="0"/>
        <a:buChar char="•"/>
        <a:defRPr lang="zh-TW" altLang="en-US" sz="1600" b="1" kern="1200" dirty="0">
          <a:ln w="50800"/>
          <a:solidFill>
            <a:schemeClr val="tx1"/>
          </a:solidFill>
          <a:latin typeface="Calibri" pitchFamily="34" charset="0"/>
          <a:ea typeface="微軟正黑體" pitchFamily="34" charset="-120"/>
          <a:cs typeface="Verdana" pitchFamily="34" charset="0"/>
        </a:defRPr>
      </a:lvl3pPr>
      <a:lvl4pPr marL="16002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pitchFamily="34" charset="0"/>
        <a:buChar char="–"/>
        <a:defRPr lang="zh-TW" altLang="en-US" sz="2400" b="1" kern="1200" dirty="0">
          <a:ln w="50800"/>
          <a:solidFill>
            <a:schemeClr val="tx1"/>
          </a:solidFill>
          <a:latin typeface="Calibri" pitchFamily="34" charset="0"/>
          <a:ea typeface="微軟正黑體" pitchFamily="34" charset="-120"/>
          <a:cs typeface="Verdana" pitchFamily="34" charset="0"/>
        </a:defRPr>
      </a:lvl4pPr>
      <a:lvl5pPr marL="803275" indent="-26035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Wingdings" pitchFamily="2" charset="2"/>
        <a:buChar char="l"/>
        <a:defRPr lang="zh-TW" altLang="en-US" sz="2000" b="1" kern="1200" dirty="0">
          <a:ln w="50800"/>
          <a:solidFill>
            <a:schemeClr val="tx1"/>
          </a:solidFill>
          <a:latin typeface="Calibri" pitchFamily="34" charset="0"/>
          <a:ea typeface="微軟正黑體" pitchFamily="34" charset="-12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4CD6E914-20DB-EC2D-D09C-7B11244972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報告人：</a:t>
            </a:r>
            <a:endParaRPr lang="en-US" altLang="zh-TW" dirty="0"/>
          </a:p>
          <a:p>
            <a:r>
              <a:rPr lang="zh-TW" altLang="en-US" dirty="0"/>
              <a:t>事業部</a:t>
            </a:r>
            <a:r>
              <a:rPr lang="en-US" altLang="zh-TW" dirty="0"/>
              <a:t>/</a:t>
            </a:r>
            <a:r>
              <a:rPr lang="zh-TW" altLang="en-US" dirty="0"/>
              <a:t>廠別：</a:t>
            </a:r>
            <a:r>
              <a:rPr lang="en-US" altLang="zh-TW" dirty="0"/>
              <a:t>Carrier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r>
              <a:rPr lang="zh-TW" altLang="en-US" dirty="0"/>
              <a:t> </a:t>
            </a:r>
            <a:r>
              <a:rPr lang="en-US" altLang="zh-TW" dirty="0"/>
              <a:t>/</a:t>
            </a:r>
            <a:r>
              <a:rPr lang="zh-TW" altLang="en-US" dirty="0"/>
              <a:t> </a:t>
            </a:r>
            <a:r>
              <a:rPr lang="en-US" altLang="zh-TW" dirty="0"/>
              <a:t>YM</a:t>
            </a:r>
          </a:p>
          <a:p>
            <a:r>
              <a:rPr lang="zh-TW" altLang="en-US" dirty="0"/>
              <a:t>報告日期：</a:t>
            </a:r>
            <a:r>
              <a:rPr lang="en-US" altLang="zh-TW" dirty="0"/>
              <a:t>2026-04-29</a:t>
            </a:r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E97BBB1-F526-981D-5FA6-8DFF831F76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WPG &amp; OST</a:t>
            </a:r>
            <a:r>
              <a:rPr lang="zh-TW" altLang="en-US" dirty="0"/>
              <a:t>良率分析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750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CB32DC-2427-ACCF-87EF-DC0A3E8E2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專案同意書 </a:t>
            </a:r>
            <a:r>
              <a:rPr lang="en-US" altLang="zh-TW" dirty="0"/>
              <a:t>(Team Charter)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E34D892-599B-E3F6-DE05-69992D1EAB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835BB03-ED0C-793B-37D0-7853876D49C2}"/>
              </a:ext>
            </a:extLst>
          </p:cNvPr>
          <p:cNvSpPr txBox="1"/>
          <p:nvPr/>
        </p:nvSpPr>
        <p:spPr>
          <a:xfrm>
            <a:off x="2826026" y="844826"/>
            <a:ext cx="6539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>
                <a:latin typeface="+mj-lt"/>
                <a:ea typeface="微軟正黑體" panose="020B0604030504040204" pitchFamily="34" charset="-120"/>
              </a:rPr>
              <a:t>專案主題：</a:t>
            </a:r>
            <a:r>
              <a:rPr lang="en-US" altLang="zh-TW" b="1" dirty="0">
                <a:latin typeface="+mj-lt"/>
                <a:ea typeface="微軟正黑體" panose="020B0604030504040204" pitchFamily="34" charset="-120"/>
              </a:rPr>
              <a:t>WPG &amp; OST</a:t>
            </a:r>
            <a:r>
              <a:rPr lang="zh-TW" altLang="en-US" b="1" dirty="0">
                <a:latin typeface="+mj-lt"/>
                <a:ea typeface="微軟正黑體" panose="020B0604030504040204" pitchFamily="34" charset="-120"/>
              </a:rPr>
              <a:t>良率分析</a:t>
            </a:r>
            <a:endParaRPr lang="en-US" b="1" dirty="0"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24" name="Text Box 53">
            <a:extLst>
              <a:ext uri="{FF2B5EF4-FFF2-40B4-BE49-F238E27FC236}">
                <a16:creationId xmlns:a16="http://schemas.microsoft.com/office/drawing/2014/main" id="{8EEFC913-C255-9AF8-2647-DE97870EB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88" y="1214158"/>
            <a:ext cx="570892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1600" b="1" dirty="0">
                <a:solidFill>
                  <a:srgbClr val="0000CC"/>
                </a:solidFill>
                <a:latin typeface="+mj-lt"/>
                <a:ea typeface="微軟正黑體" panose="020B0604030504040204" pitchFamily="34" charset="-120"/>
              </a:rPr>
              <a:t>專案描述</a:t>
            </a:r>
            <a:r>
              <a:rPr lang="en-US" altLang="zh-TW" sz="1600" b="1" dirty="0">
                <a:solidFill>
                  <a:srgbClr val="0000CC"/>
                </a:solidFill>
                <a:latin typeface="+mj-lt"/>
                <a:ea typeface="微軟正黑體" panose="020B0604030504040204" pitchFamily="34" charset="-120"/>
              </a:rPr>
              <a:t>:</a:t>
            </a:r>
            <a:r>
              <a:rPr lang="zh-TW" altLang="en-US" sz="1600" b="1" dirty="0">
                <a:solidFill>
                  <a:srgbClr val="0000CC"/>
                </a:solidFill>
                <a:latin typeface="+mj-lt"/>
                <a:ea typeface="微軟正黑體" panose="020B0604030504040204" pitchFamily="34" charset="-120"/>
              </a:rPr>
              <a:t> </a:t>
            </a:r>
            <a:r>
              <a:rPr lang="zh-TW" altLang="en-US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rPr>
              <a:t>在</a:t>
            </a:r>
            <a:r>
              <a:rPr lang="en-US" altLang="zh-TW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rPr>
              <a:t>YM</a:t>
            </a:r>
            <a:r>
              <a:rPr lang="zh-TW" altLang="en-US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rPr>
              <a:t>廠產能提升下，製程條件頻繁調整，良率波動風險隨之增加，且每次條件變動後皆需同步執行追蹤分析，造成分析作業負擔提升。</a:t>
            </a:r>
            <a:endParaRPr lang="en-US" altLang="zh-TW" sz="1600" dirty="0">
              <a:solidFill>
                <a:schemeClr val="tx1"/>
              </a:solidFill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CD842582-3540-0445-755A-1AB0B80783B8}"/>
              </a:ext>
            </a:extLst>
          </p:cNvPr>
          <p:cNvSpPr txBox="1"/>
          <p:nvPr/>
        </p:nvSpPr>
        <p:spPr>
          <a:xfrm>
            <a:off x="304236" y="1983200"/>
            <a:ext cx="5672974" cy="1600438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TW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微軟正黑體" panose="020B0604030504040204" pitchFamily="34" charset="-120"/>
              </a:rPr>
              <a:t>3W 1H 1I (1E) </a:t>
            </a:r>
            <a:r>
              <a:rPr lang="zh-TW" alt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微軟正黑體" panose="020B0604030504040204" pitchFamily="34" charset="-120"/>
              </a:rPr>
              <a:t>論述</a:t>
            </a:r>
            <a:r>
              <a:rPr lang="en-US" altLang="zh-TW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微軟正黑體" panose="020B0604030504040204" pitchFamily="34" charset="-120"/>
              </a:rPr>
              <a:t>:</a:t>
            </a:r>
          </a:p>
          <a:p>
            <a:pPr eaLnBrk="1" hangingPunct="1">
              <a:defRPr/>
            </a:pPr>
            <a:r>
              <a:rPr lang="en-US" altLang="zh-TW" sz="1400" b="1" dirty="0">
                <a:latin typeface="+mj-lt"/>
                <a:ea typeface="微軟正黑體" panose="020B0604030504040204" pitchFamily="34" charset="-120"/>
              </a:rPr>
              <a:t>Where: </a:t>
            </a:r>
            <a:r>
              <a:rPr lang="en-US" altLang="zh-TW" sz="1400" dirty="0">
                <a:latin typeface="+mj-lt"/>
                <a:ea typeface="微軟正黑體" panose="020B0604030504040204" pitchFamily="34" charset="-120"/>
              </a:rPr>
              <a:t>YM</a:t>
            </a:r>
            <a:r>
              <a:rPr lang="zh-TW" altLang="en-US" sz="1400" dirty="0">
                <a:latin typeface="+mj-lt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+mj-lt"/>
                <a:ea typeface="微軟正黑體" panose="020B0604030504040204" pitchFamily="34" charset="-120"/>
              </a:rPr>
              <a:t>YIP</a:t>
            </a:r>
          </a:p>
          <a:p>
            <a:pPr eaLnBrk="1" hangingPunct="1">
              <a:defRPr/>
            </a:pPr>
            <a:r>
              <a:rPr lang="en-US" altLang="zh-TW" sz="1400" b="1" dirty="0">
                <a:latin typeface="+mj-lt"/>
                <a:ea typeface="微軟正黑體" panose="020B0604030504040204" pitchFamily="34" charset="-120"/>
              </a:rPr>
              <a:t>When:</a:t>
            </a:r>
            <a:r>
              <a:rPr lang="zh-TW" altLang="en-US" sz="1400" b="1" dirty="0">
                <a:latin typeface="+mj-lt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ea typeface="微軟正黑體" panose="020B0604030504040204" pitchFamily="34" charset="-120"/>
              </a:rPr>
              <a:t>2025/12~2026/2</a:t>
            </a:r>
          </a:p>
          <a:p>
            <a:pPr eaLnBrk="1" hangingPunct="1">
              <a:defRPr/>
            </a:pPr>
            <a:r>
              <a:rPr lang="en-US" altLang="zh-TW" sz="1400" b="1" dirty="0">
                <a:latin typeface="+mj-lt"/>
                <a:ea typeface="微軟正黑體" panose="020B0604030504040204" pitchFamily="34" charset="-120"/>
              </a:rPr>
              <a:t>What:</a:t>
            </a:r>
            <a:r>
              <a:rPr lang="zh-TW" altLang="en-US" sz="1400" b="1" dirty="0">
                <a:latin typeface="+mj-lt"/>
                <a:ea typeface="微軟正黑體" panose="020B0604030504040204" pitchFamily="34" charset="-120"/>
              </a:rPr>
              <a:t> </a:t>
            </a:r>
            <a:r>
              <a:rPr lang="zh-TW" altLang="en-US" sz="1400" dirty="0">
                <a:latin typeface="+mj-lt"/>
                <a:ea typeface="微軟正黑體" panose="020B0604030504040204" pitchFamily="34" charset="-120"/>
              </a:rPr>
              <a:t>縮短分析時間、找尋潛在關鍵因子</a:t>
            </a:r>
            <a:endParaRPr lang="en-US" altLang="zh-TW" sz="1400" dirty="0">
              <a:latin typeface="+mj-lt"/>
              <a:ea typeface="微軟正黑體" panose="020B0604030504040204" pitchFamily="34" charset="-120"/>
            </a:endParaRPr>
          </a:p>
          <a:p>
            <a:pPr eaLnBrk="1" hangingPunct="1">
              <a:defRPr/>
            </a:pPr>
            <a:r>
              <a:rPr lang="en-US" altLang="zh-TW" sz="1400" b="1" dirty="0">
                <a:latin typeface="+mj-lt"/>
                <a:ea typeface="微軟正黑體" panose="020B0604030504040204" pitchFamily="34" charset="-120"/>
              </a:rPr>
              <a:t>How Many(much):</a:t>
            </a:r>
            <a:r>
              <a:rPr lang="zh-TW" altLang="en-US" sz="1400" dirty="0">
                <a:latin typeface="+mj-lt"/>
                <a:ea typeface="微軟正黑體" panose="020B0604030504040204" pitchFamily="34" charset="-120"/>
              </a:rPr>
              <a:t>現況分析時間尚未縮短（</a:t>
            </a:r>
            <a:r>
              <a:rPr lang="en-US" altLang="zh-TW" sz="1400" dirty="0">
                <a:latin typeface="+mj-lt"/>
                <a:ea typeface="微軟正黑體" panose="020B0604030504040204" pitchFamily="34" charset="-120"/>
              </a:rPr>
              <a:t>0%</a:t>
            </a:r>
            <a:r>
              <a:rPr lang="zh-TW" altLang="en-US" sz="1400" dirty="0">
                <a:latin typeface="+mj-lt"/>
                <a:ea typeface="微軟正黑體" panose="020B0604030504040204" pitchFamily="34" charset="-120"/>
              </a:rPr>
              <a:t>），關鍵因子暫未發現新增項目</a:t>
            </a:r>
            <a:endParaRPr lang="en-US" altLang="zh-TW" sz="1400" dirty="0">
              <a:latin typeface="+mj-lt"/>
              <a:ea typeface="微軟正黑體" panose="020B0604030504040204" pitchFamily="34" charset="-120"/>
            </a:endParaRPr>
          </a:p>
          <a:p>
            <a:pPr eaLnBrk="1" hangingPunct="1">
              <a:defRPr/>
            </a:pPr>
            <a:r>
              <a:rPr lang="en-US" altLang="zh-TW" sz="1400" b="1" dirty="0">
                <a:latin typeface="+mj-lt"/>
                <a:ea typeface="微軟正黑體" panose="020B0604030504040204" pitchFamily="34" charset="-120"/>
              </a:rPr>
              <a:t>Impact:</a:t>
            </a:r>
            <a:r>
              <a:rPr lang="zh-TW" altLang="en-US" sz="1400" dirty="0">
                <a:latin typeface="+mj-lt"/>
                <a:ea typeface="微軟正黑體" panose="020B0604030504040204" pitchFamily="34" charset="-120"/>
              </a:rPr>
              <a:t>有效縮短問題解析時間，並提升良率改善效率與製程優化成效</a:t>
            </a:r>
            <a:endParaRPr lang="en-US" altLang="zh-TW" sz="1400" dirty="0">
              <a:latin typeface="+mj-lt"/>
              <a:ea typeface="微軟正黑體" panose="020B0604030504040204" pitchFamily="34" charset="-120"/>
            </a:endParaRPr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6E085F26-9BC1-123C-D0A4-A699E82D52AB}"/>
              </a:ext>
            </a:extLst>
          </p:cNvPr>
          <p:cNvCxnSpPr/>
          <p:nvPr/>
        </p:nvCxnSpPr>
        <p:spPr>
          <a:xfrm>
            <a:off x="291513" y="3727175"/>
            <a:ext cx="116089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990B18EA-F287-53EF-87A9-AF73CF3BE96E}"/>
              </a:ext>
            </a:extLst>
          </p:cNvPr>
          <p:cNvCxnSpPr/>
          <p:nvPr/>
        </p:nvCxnSpPr>
        <p:spPr>
          <a:xfrm>
            <a:off x="291513" y="5042456"/>
            <a:ext cx="116089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Box 53">
            <a:extLst>
              <a:ext uri="{FF2B5EF4-FFF2-40B4-BE49-F238E27FC236}">
                <a16:creationId xmlns:a16="http://schemas.microsoft.com/office/drawing/2014/main" id="{B467E219-621D-6329-211E-98F85CD44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88" y="3751075"/>
            <a:ext cx="416083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預期目標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</p:txBody>
      </p:sp>
      <p:sp>
        <p:nvSpPr>
          <p:cNvPr id="32" name="Text Box 57">
            <a:extLst>
              <a:ext uri="{FF2B5EF4-FFF2-40B4-BE49-F238E27FC236}">
                <a16:creationId xmlns:a16="http://schemas.microsoft.com/office/drawing/2014/main" id="{11175A51-B125-63ED-BC27-72693DB25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88" y="5076231"/>
            <a:ext cx="38862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專案計畫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endParaRPr lang="zh-TW" altLang="en-US" sz="16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Text Box 54">
            <a:extLst>
              <a:ext uri="{FF2B5EF4-FFF2-40B4-BE49-F238E27FC236}">
                <a16:creationId xmlns:a16="http://schemas.microsoft.com/office/drawing/2014/main" id="{8C09AB91-7A06-EC96-DA8F-E9746616A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4787" y="1215742"/>
            <a:ext cx="5977212" cy="2530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6000" tIns="10800" rIns="0" bIns="10800">
            <a:spAutoFit/>
          </a:bodyPr>
          <a:lstStyle>
            <a:lvl1pPr marL="457200" indent="-45720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預期效益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pPr eaLnBrk="1" hangingPunct="1">
              <a:lnSpc>
                <a:spcPct val="50000"/>
              </a:lnSpc>
              <a:spcBef>
                <a:spcPct val="0"/>
              </a:spcBef>
              <a:buClrTx/>
              <a:buFontTx/>
              <a:buNone/>
            </a:pPr>
            <a:endParaRPr lang="en-US" altLang="zh-TW" sz="1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有形效益 </a:t>
            </a:r>
            <a:endParaRPr lang="en-US" altLang="zh-TW" sz="1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工時的節省：</a:t>
            </a:r>
            <a:endParaRPr lang="en-US" altLang="zh-TW" sz="1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時薪</a:t>
            </a: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×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分析次數</a:t>
            </a: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次</a:t>
            </a: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</a:t>
            </a: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×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每月上班天數</a:t>
            </a: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×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項目</a:t>
            </a: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2(WPG/OST)×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分析時間縮短</a:t>
            </a: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1hr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196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/hr×1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次</a:t>
            </a: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</a:t>
            </a: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×2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項</a:t>
            </a: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×1hr×22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</a:t>
            </a: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×12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=103,488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endParaRPr lang="en-US" altLang="zh-TW" sz="1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當年度效益</a:t>
            </a: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(5~12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103,488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÷12×8=43,120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  <a:endParaRPr lang="en-US" altLang="zh-TW" sz="1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無形效益</a:t>
            </a:r>
          </a:p>
          <a:p>
            <a:pPr marL="182563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建立可複製的分析知識與判讀邏輯，提升決策一致性、知識累積與團隊數據應用能力。</a:t>
            </a:r>
            <a:endParaRPr lang="zh-TW" altLang="en-US" sz="16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4250D9C2-E6B1-D34A-49D1-7F7ED166E43A}"/>
              </a:ext>
            </a:extLst>
          </p:cNvPr>
          <p:cNvCxnSpPr/>
          <p:nvPr/>
        </p:nvCxnSpPr>
        <p:spPr>
          <a:xfrm>
            <a:off x="6095999" y="1240319"/>
            <a:ext cx="1" cy="51704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Box 56">
            <a:extLst>
              <a:ext uri="{FF2B5EF4-FFF2-40B4-BE49-F238E27FC236}">
                <a16:creationId xmlns:a16="http://schemas.microsoft.com/office/drawing/2014/main" id="{3E35AF70-160F-216C-AACD-29D4EFD3F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4786" y="3808263"/>
            <a:ext cx="4086225" cy="676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10800" rIns="0" bIns="10800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1600" b="1" dirty="0">
                <a:solidFill>
                  <a:srgbClr val="0000CC"/>
                </a:solidFill>
                <a:latin typeface="+mj-lt"/>
                <a:ea typeface="微軟正黑體" panose="020B0604030504040204" pitchFamily="34" charset="-120"/>
              </a:rPr>
              <a:t>專案範圍</a:t>
            </a:r>
            <a:r>
              <a:rPr lang="en-US" altLang="zh-TW" sz="1600" b="1" dirty="0">
                <a:solidFill>
                  <a:srgbClr val="0000CC"/>
                </a:solidFill>
                <a:latin typeface="+mj-lt"/>
                <a:ea typeface="微軟正黑體" panose="020B0604030504040204" pitchFamily="34" charset="-120"/>
              </a:rPr>
              <a:t>:</a:t>
            </a:r>
          </a:p>
          <a:p>
            <a:pPr lvl="1" eaLnBrk="1" hangingPunct="1">
              <a:lnSpc>
                <a:spcPct val="40000"/>
              </a:lnSpc>
              <a:spcBef>
                <a:spcPct val="0"/>
              </a:spcBef>
              <a:buClrTx/>
              <a:buFontTx/>
              <a:buChar char="•"/>
            </a:pPr>
            <a:endParaRPr lang="en-US" altLang="zh-TW" sz="1600" dirty="0">
              <a:solidFill>
                <a:schemeClr val="bg2"/>
              </a:solidFill>
              <a:latin typeface="+mj-lt"/>
              <a:ea typeface="微軟正黑體" panose="020B0604030504040204" pitchFamily="34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Char char="•"/>
            </a:pPr>
            <a:r>
              <a:rPr lang="en-US" altLang="zh-TW" sz="18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rPr>
              <a:t> YM</a:t>
            </a:r>
            <a:r>
              <a:rPr lang="zh-TW" altLang="en-US" sz="18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rPr>
              <a:t> </a:t>
            </a:r>
            <a:r>
              <a:rPr lang="en-US" altLang="zh-TW" sz="18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rPr>
              <a:t>YIP</a:t>
            </a:r>
          </a:p>
        </p:txBody>
      </p:sp>
      <p:sp>
        <p:nvSpPr>
          <p:cNvPr id="40" name="Text Box 58">
            <a:extLst>
              <a:ext uri="{FF2B5EF4-FFF2-40B4-BE49-F238E27FC236}">
                <a16:creationId xmlns:a16="http://schemas.microsoft.com/office/drawing/2014/main" id="{817D561B-2A2E-03E1-4D67-98C0E5604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0189" y="5099197"/>
            <a:ext cx="5636107" cy="108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6000" tIns="10800" rIns="0" bIns="10800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TW" altLang="en-US" sz="1600" b="1" dirty="0">
                <a:solidFill>
                  <a:srgbClr val="0000CC"/>
                </a:solidFill>
                <a:latin typeface="+mj-lt"/>
                <a:ea typeface="微軟正黑體" panose="020B0604030504040204" pitchFamily="34" charset="-120"/>
              </a:rPr>
              <a:t>專案成員</a:t>
            </a:r>
            <a:r>
              <a:rPr lang="en-US" altLang="zh-TW" sz="1600" b="1" dirty="0">
                <a:solidFill>
                  <a:srgbClr val="0000CC"/>
                </a:solidFill>
                <a:latin typeface="+mj-lt"/>
                <a:ea typeface="微軟正黑體" panose="020B0604030504040204" pitchFamily="34" charset="-120"/>
              </a:rPr>
              <a:t>:</a:t>
            </a:r>
            <a:br>
              <a:rPr lang="en-US" altLang="zh-TW" sz="1600" b="1" dirty="0">
                <a:solidFill>
                  <a:srgbClr val="0000CC"/>
                </a:solidFill>
                <a:latin typeface="+mj-lt"/>
                <a:ea typeface="微軟正黑體" panose="020B0604030504040204" pitchFamily="34" charset="-120"/>
              </a:rPr>
            </a:br>
            <a:r>
              <a:rPr lang="en-US" altLang="zh-TW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rPr>
              <a:t>Team Leader</a:t>
            </a:r>
            <a:r>
              <a:rPr lang="zh-TW" altLang="en-US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rPr>
              <a:t>：</a:t>
            </a:r>
            <a:r>
              <a:rPr lang="en-US" altLang="zh-TW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rPr>
              <a:t>A3817</a:t>
            </a:r>
            <a:r>
              <a:rPr lang="zh-TW" altLang="en-US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rPr>
              <a:t> 高琦幃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TW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rPr>
              <a:t>Team Members </a:t>
            </a:r>
            <a:r>
              <a:rPr lang="zh-TW" altLang="en-US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rPr>
              <a:t>：</a:t>
            </a:r>
            <a:r>
              <a:rPr lang="en-US" altLang="zh-TW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rPr>
              <a:t>U01551</a:t>
            </a:r>
            <a:r>
              <a:rPr lang="zh-TW" altLang="en-US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rPr>
              <a:t> 楊筑荃、</a:t>
            </a:r>
            <a:r>
              <a:rPr lang="en-US" altLang="zh-TW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rPr>
              <a:t>U01504</a:t>
            </a:r>
            <a:r>
              <a:rPr lang="zh-TW" altLang="en-US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rPr>
              <a:t> 邱智仁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TW" altLang="en-US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rPr>
              <a:t>輔導員：吳濟維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C64390C-1AE7-65D6-AF80-B789AC042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88966"/>
              </p:ext>
            </p:extLst>
          </p:nvPr>
        </p:nvGraphicFramePr>
        <p:xfrm>
          <a:off x="1604529" y="3808263"/>
          <a:ext cx="4021686" cy="113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3443">
                  <a:extLst>
                    <a:ext uri="{9D8B030D-6E8A-4147-A177-3AD203B41FA5}">
                      <a16:colId xmlns:a16="http://schemas.microsoft.com/office/drawing/2014/main" val="124161248"/>
                    </a:ext>
                  </a:extLst>
                </a:gridCol>
                <a:gridCol w="937550">
                  <a:extLst>
                    <a:ext uri="{9D8B030D-6E8A-4147-A177-3AD203B41FA5}">
                      <a16:colId xmlns:a16="http://schemas.microsoft.com/office/drawing/2014/main" val="1843255695"/>
                    </a:ext>
                  </a:extLst>
                </a:gridCol>
                <a:gridCol w="1000693">
                  <a:extLst>
                    <a:ext uri="{9D8B030D-6E8A-4147-A177-3AD203B41FA5}">
                      <a16:colId xmlns:a16="http://schemas.microsoft.com/office/drawing/2014/main" val="3132792580"/>
                    </a:ext>
                  </a:extLst>
                </a:gridCol>
              </a:tblGrid>
              <a:tr h="296757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latin typeface="+mn-lt"/>
                          <a:ea typeface="微軟正黑體" panose="020B0604030504040204" pitchFamily="34" charset="-120"/>
                        </a:rPr>
                        <a:t>項目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latin typeface="+mn-lt"/>
                          <a:ea typeface="微軟正黑體" panose="020B0604030504040204" pitchFamily="34" charset="-120"/>
                        </a:rPr>
                        <a:t>現況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latin typeface="+mn-lt"/>
                          <a:ea typeface="微軟正黑體" panose="020B0604030504040204" pitchFamily="34" charset="-120"/>
                        </a:rPr>
                        <a:t>目標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181029"/>
                  </a:ext>
                </a:extLst>
              </a:tr>
              <a:tr h="400312"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zh-TW" altLang="en-US" b="1" i="0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分析時間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+mn-lt"/>
                          <a:ea typeface="微軟正黑體" panose="020B0604030504040204" pitchFamily="34" charset="-120"/>
                        </a:rPr>
                        <a:t>2</a:t>
                      </a:r>
                      <a:r>
                        <a:rPr lang="zh-TW" altLang="en-US" b="1" dirty="0">
                          <a:latin typeface="+mn-lt"/>
                          <a:ea typeface="微軟正黑體" panose="020B0604030504040204" pitchFamily="34" charset="-120"/>
                        </a:rPr>
                        <a:t>小時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+mn-lt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lang="zh-TW" altLang="en-US" b="1" dirty="0">
                          <a:latin typeface="+mn-lt"/>
                          <a:ea typeface="微軟正黑體" panose="020B0604030504040204" pitchFamily="34" charset="-120"/>
                        </a:rPr>
                        <a:t>小時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9472414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latin typeface="+mn-lt"/>
                          <a:ea typeface="微軟正黑體" panose="020B0604030504040204" pitchFamily="34" charset="-120"/>
                        </a:rPr>
                        <a:t>潛在關鍵因子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+mn-lt"/>
                          <a:ea typeface="微軟正黑體" panose="020B0604030504040204" pitchFamily="34" charset="-120"/>
                        </a:rPr>
                        <a:t>0</a:t>
                      </a:r>
                      <a:r>
                        <a:rPr lang="zh-TW" altLang="en-US" b="1" dirty="0">
                          <a:latin typeface="+mn-lt"/>
                          <a:ea typeface="微軟正黑體" panose="020B0604030504040204" pitchFamily="34" charset="-120"/>
                        </a:rPr>
                        <a:t>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+mn-lt"/>
                          <a:ea typeface="微軟正黑體" panose="020B0604030504040204" pitchFamily="34" charset="-120"/>
                        </a:rPr>
                        <a:t>2</a:t>
                      </a:r>
                      <a:r>
                        <a:rPr lang="zh-TW" altLang="en-US" b="1" dirty="0">
                          <a:latin typeface="+mn-lt"/>
                          <a:ea typeface="微軟正黑體" panose="020B0604030504040204" pitchFamily="34" charset="-120"/>
                        </a:rPr>
                        <a:t>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3545098"/>
                  </a:ext>
                </a:extLst>
              </a:tr>
            </a:tbl>
          </a:graphicData>
        </a:graphic>
      </p:graphicFrame>
      <p:pic>
        <p:nvPicPr>
          <p:cNvPr id="9" name="圖片 8">
            <a:extLst>
              <a:ext uri="{FF2B5EF4-FFF2-40B4-BE49-F238E27FC236}">
                <a16:creationId xmlns:a16="http://schemas.microsoft.com/office/drawing/2014/main" id="{BF28BE51-FFD5-3841-07D2-39B3276C0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804" y="5144818"/>
            <a:ext cx="3695062" cy="1237623"/>
          </a:xfrm>
          <a:prstGeom prst="rect">
            <a:avLst/>
          </a:prstGeom>
        </p:spPr>
      </p:pic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48CD6753-4A5B-F4E6-A564-A414BA44F44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AA96D2A-866D-4FFE-B5B2-353D6442049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734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27B8B1-3312-E404-0AD0-B7BBF8CDE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選題理由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600D761-38C2-E975-9004-F6A875CE99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Box 77">
            <a:extLst>
              <a:ext uri="{FF2B5EF4-FFF2-40B4-BE49-F238E27FC236}">
                <a16:creationId xmlns:a16="http://schemas.microsoft.com/office/drawing/2014/main" id="{9012CE69-2EB5-C7E9-2C48-01FA6A9CE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0865" y="46039"/>
            <a:ext cx="4781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Step 1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：問題釐清，現況與目標</a:t>
            </a: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(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現地、現物</a:t>
            </a: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)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DB7C0D6-531E-F5FC-561E-A83DC15C24F5}"/>
              </a:ext>
            </a:extLst>
          </p:cNvPr>
          <p:cNvSpPr txBox="1"/>
          <p:nvPr/>
        </p:nvSpPr>
        <p:spPr>
          <a:xfrm>
            <a:off x="293826" y="855367"/>
            <a:ext cx="11493983" cy="70788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TW"/>
            </a:defPPr>
            <a:lvl1pPr algn="l">
              <a:defRPr sz="1800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eaLnBrk="1" hangingPunct="1">
              <a:spcBef>
                <a:spcPts val="300"/>
              </a:spcBef>
              <a:spcAft>
                <a:spcPts val="600"/>
              </a:spcAft>
              <a:defRPr/>
            </a:pPr>
            <a:r>
              <a:rPr lang="zh-TW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因應產能持續提升，製程優化與條件調整日益頻繁，進而增加 </a:t>
            </a:r>
            <a:r>
              <a:rPr lang="en-US" altLang="zh-TW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WPG </a:t>
            </a:r>
            <a:r>
              <a:rPr lang="zh-TW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良率波動風險；每次條件變動後，皆需同步執行對應之 </a:t>
            </a:r>
            <a:r>
              <a:rPr lang="en-US" altLang="zh-TW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WPG</a:t>
            </a:r>
            <a:r>
              <a:rPr lang="zh-TW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／</a:t>
            </a:r>
            <a:r>
              <a:rPr lang="en-US" altLang="zh-TW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OST </a:t>
            </a:r>
            <a:r>
              <a:rPr lang="zh-TW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追蹤分析。</a:t>
            </a:r>
            <a:endParaRPr lang="en-US" altLang="zh-TW" sz="20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E2888FA-AEA0-E69D-975A-299533ED3192}"/>
              </a:ext>
            </a:extLst>
          </p:cNvPr>
          <p:cNvSpPr txBox="1"/>
          <p:nvPr/>
        </p:nvSpPr>
        <p:spPr>
          <a:xfrm>
            <a:off x="268288" y="1579595"/>
            <a:ext cx="11493983" cy="1577355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TW"/>
            </a:defPPr>
            <a:lvl1pPr algn="l">
              <a:defRPr sz="1800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eaLnBrk="1" hangingPunct="1">
              <a:spcBef>
                <a:spcPts val="300"/>
              </a:spcBef>
              <a:spcAft>
                <a:spcPts val="600"/>
              </a:spcAft>
              <a:defRPr/>
            </a:pPr>
            <a:r>
              <a:rPr lang="zh-TW" altLang="en-US" sz="2000" dirty="0">
                <a:solidFill>
                  <a:srgbClr val="31859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目的：</a:t>
            </a:r>
            <a:endParaRPr lang="en-US" altLang="zh-TW" sz="2000" dirty="0">
              <a:solidFill>
                <a:srgbClr val="31859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zh-TW" altLang="en-US" dirty="0">
                <a:solidFill>
                  <a:srgbClr val="31859C"/>
                </a:solidFill>
              </a:rPr>
              <a:t>目前分析高度仰賴人工比對與個人經驗、流程繁瑣且判斷效率不佳</a:t>
            </a:r>
          </a:p>
          <a:p>
            <a:pPr marL="342900" indent="-342900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zh-TW" altLang="en-US" dirty="0">
                <a:solidFill>
                  <a:srgbClr val="31859C"/>
                </a:solidFill>
              </a:rPr>
              <a:t>透過製程站點與材料參數等既有資料，建置具備預測能力的 </a:t>
            </a:r>
            <a:r>
              <a:rPr lang="en-US" altLang="zh-TW" dirty="0">
                <a:solidFill>
                  <a:srgbClr val="31859C"/>
                </a:solidFill>
              </a:rPr>
              <a:t>AI </a:t>
            </a:r>
            <a:r>
              <a:rPr lang="zh-TW" altLang="en-US" dirty="0">
                <a:solidFill>
                  <a:srgbClr val="31859C"/>
                </a:solidFill>
              </a:rPr>
              <a:t>模型，並以特徵重要度分析方式</a:t>
            </a:r>
          </a:p>
          <a:p>
            <a:pPr marL="342900" indent="-342900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zh-TW" altLang="en-US" dirty="0">
                <a:solidFill>
                  <a:srgbClr val="31859C"/>
                </a:solidFill>
              </a:rPr>
              <a:t>針對關鍵因子進行系統化排序，協助工程師快速定位異常來源</a:t>
            </a: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7BF92739-4B47-343D-032E-14DD6F4417BF}"/>
              </a:ext>
            </a:extLst>
          </p:cNvPr>
          <p:cNvGrpSpPr/>
          <p:nvPr/>
        </p:nvGrpSpPr>
        <p:grpSpPr>
          <a:xfrm>
            <a:off x="6808113" y="3620566"/>
            <a:ext cx="4954158" cy="2678675"/>
            <a:chOff x="293826" y="3600246"/>
            <a:chExt cx="4954158" cy="2678675"/>
          </a:xfrm>
        </p:grpSpPr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79DB752E-489E-7565-B323-E031303825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3826" y="3600246"/>
              <a:ext cx="4954158" cy="267867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FA723B1-A848-E3F5-935B-7E65D29F9D42}"/>
                </a:ext>
              </a:extLst>
            </p:cNvPr>
            <p:cNvSpPr/>
            <p:nvPr/>
          </p:nvSpPr>
          <p:spPr>
            <a:xfrm>
              <a:off x="1764158" y="3952201"/>
              <a:ext cx="2027586" cy="160532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13" name="圖片 12">
            <a:extLst>
              <a:ext uri="{FF2B5EF4-FFF2-40B4-BE49-F238E27FC236}">
                <a16:creationId xmlns:a16="http://schemas.microsoft.com/office/drawing/2014/main" id="{B20A54C2-EA3D-6FD5-CB11-8271F6CDF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826" y="3399789"/>
            <a:ext cx="5893200" cy="2961653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2C93EA17-317A-006D-FA1C-0F1292DEE8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3080" y="3429000"/>
            <a:ext cx="1727200" cy="1727200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F73F0E9A-FEDD-4B00-5CBF-B6FD9E8BD32B}"/>
              </a:ext>
            </a:extLst>
          </p:cNvPr>
          <p:cNvSpPr txBox="1"/>
          <p:nvPr/>
        </p:nvSpPr>
        <p:spPr>
          <a:xfrm>
            <a:off x="1066800" y="3823328"/>
            <a:ext cx="3217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FF"/>
                </a:solidFill>
                <a:latin typeface="+mn-lt"/>
                <a:ea typeface="微軟正黑體" panose="020B0604030504040204" pitchFamily="34" charset="-120"/>
              </a:rPr>
              <a:t>2026</a:t>
            </a:r>
            <a:r>
              <a:rPr lang="zh-TW" altLang="en-US" sz="1200" b="1" dirty="0">
                <a:solidFill>
                  <a:srgbClr val="0000FF"/>
                </a:solidFill>
                <a:latin typeface="+mn-lt"/>
                <a:ea typeface="微軟正黑體" panose="020B0604030504040204" pitchFamily="34" charset="-120"/>
              </a:rPr>
              <a:t>稼動率大幅成長，在更加忙碌的環境下</a:t>
            </a:r>
            <a:endParaRPr lang="en-US" altLang="zh-TW" sz="1200" b="1" dirty="0">
              <a:solidFill>
                <a:srgbClr val="0000FF"/>
              </a:solidFill>
              <a:latin typeface="+mn-lt"/>
              <a:ea typeface="微軟正黑體" panose="020B0604030504040204" pitchFamily="34" charset="-120"/>
            </a:endParaRPr>
          </a:p>
          <a:p>
            <a:r>
              <a:rPr lang="zh-TW" altLang="en-US" sz="1200" b="1" dirty="0">
                <a:solidFill>
                  <a:srgbClr val="0000FF"/>
                </a:solidFill>
                <a:latin typeface="+mn-lt"/>
                <a:ea typeface="微軟正黑體" panose="020B0604030504040204" pitchFamily="34" charset="-120"/>
              </a:rPr>
              <a:t>教育訓練的即時性與品質將面臨挑戰</a:t>
            </a:r>
            <a:endParaRPr lang="en-US" altLang="zh-TW" sz="1200" b="1" dirty="0">
              <a:solidFill>
                <a:srgbClr val="0000FF"/>
              </a:solidFill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3387B44-A7E8-8982-2699-CAC7E5006D68}"/>
              </a:ext>
            </a:extLst>
          </p:cNvPr>
          <p:cNvSpPr txBox="1"/>
          <p:nvPr/>
        </p:nvSpPr>
        <p:spPr>
          <a:xfrm>
            <a:off x="5366657" y="4778829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14E7286-016E-C26C-C216-7F9A75A6082B}"/>
              </a:ext>
            </a:extLst>
          </p:cNvPr>
          <p:cNvSpPr txBox="1"/>
          <p:nvPr/>
        </p:nvSpPr>
        <p:spPr>
          <a:xfrm>
            <a:off x="4591381" y="5508924"/>
            <a:ext cx="14494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50" b="1" dirty="0">
                <a:solidFill>
                  <a:schemeClr val="bg1">
                    <a:lumMod val="50000"/>
                  </a:schemeClr>
                </a:solidFill>
                <a:latin typeface="+mj-lt"/>
                <a:ea typeface="微軟正黑體" panose="020B0604030504040204" pitchFamily="34" charset="-120"/>
              </a:rPr>
              <a:t>資料來源：</a:t>
            </a:r>
            <a:r>
              <a:rPr lang="en-US" altLang="zh-TW" sz="1050" b="1" dirty="0">
                <a:solidFill>
                  <a:schemeClr val="bg1">
                    <a:lumMod val="50000"/>
                  </a:schemeClr>
                </a:solidFill>
                <a:latin typeface="+mj-lt"/>
                <a:ea typeface="微軟正黑體" panose="020B0604030504040204" pitchFamily="34" charset="-120"/>
              </a:rPr>
              <a:t>YM</a:t>
            </a:r>
            <a:r>
              <a:rPr lang="zh-TW" altLang="en-US" sz="1050" b="1" dirty="0">
                <a:solidFill>
                  <a:schemeClr val="bg1">
                    <a:lumMod val="50000"/>
                  </a:schemeClr>
                </a:solidFill>
                <a:latin typeface="+mj-lt"/>
                <a:ea typeface="微軟正黑體" panose="020B0604030504040204" pitchFamily="34" charset="-120"/>
              </a:rPr>
              <a:t>生管部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C0AFF2B-2385-5B2B-D2D2-544F32222213}"/>
              </a:ext>
            </a:extLst>
          </p:cNvPr>
          <p:cNvSpPr txBox="1"/>
          <p:nvPr/>
        </p:nvSpPr>
        <p:spPr>
          <a:xfrm>
            <a:off x="7192434" y="3275692"/>
            <a:ext cx="4431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+mn-lt"/>
                <a:ea typeface="微軟正黑體" panose="020B0604030504040204" pitchFamily="34" charset="-120"/>
              </a:rPr>
              <a:t>202601~202604</a:t>
            </a:r>
            <a:r>
              <a:rPr lang="zh-TW" altLang="en-US" b="1" dirty="0">
                <a:latin typeface="+mn-lt"/>
                <a:ea typeface="微軟正黑體" panose="020B0604030504040204" pitchFamily="34" charset="-120"/>
              </a:rPr>
              <a:t> </a:t>
            </a:r>
            <a:r>
              <a:rPr lang="en-US" altLang="zh-TW" b="1" dirty="0">
                <a:latin typeface="+mn-lt"/>
                <a:ea typeface="微軟正黑體" panose="020B0604030504040204" pitchFamily="34" charset="-120"/>
              </a:rPr>
              <a:t>Hammer</a:t>
            </a:r>
            <a:r>
              <a:rPr lang="zh-TW" altLang="en-US" b="1" dirty="0">
                <a:latin typeface="+mn-lt"/>
                <a:ea typeface="微軟正黑體" panose="020B0604030504040204" pitchFamily="34" charset="-120"/>
              </a:rPr>
              <a:t>各批</a:t>
            </a:r>
            <a:r>
              <a:rPr lang="en-US" altLang="zh-TW" b="1" dirty="0">
                <a:latin typeface="+mn-lt"/>
                <a:ea typeface="微軟正黑體" panose="020B0604030504040204" pitchFamily="34" charset="-120"/>
              </a:rPr>
              <a:t>WPG</a:t>
            </a:r>
            <a:r>
              <a:rPr lang="zh-TW" altLang="en-US" b="1" dirty="0">
                <a:latin typeface="+mn-lt"/>
                <a:ea typeface="微軟正黑體" panose="020B0604030504040204" pitchFamily="34" charset="-120"/>
              </a:rPr>
              <a:t>良率變化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A069719-5D50-F8E6-EBEF-35F9EC1EE1E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AA96D2A-866D-4FFE-B5B2-353D64420494}" type="slidenum">
              <a:rPr lang="en-US" smtClean="0"/>
              <a:t>3</a:t>
            </a:fld>
            <a:endParaRPr 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B3F6D5C-9D9D-16DC-7089-10C101128DE1}"/>
              </a:ext>
            </a:extLst>
          </p:cNvPr>
          <p:cNvSpPr/>
          <p:nvPr/>
        </p:nvSpPr>
        <p:spPr>
          <a:xfrm>
            <a:off x="4368799" y="3968868"/>
            <a:ext cx="1043578" cy="2392246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0E1C74A0-D9C8-1C01-AE5B-CE9009E359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422"/>
          <a:stretch>
            <a:fillRect/>
          </a:stretch>
        </p:blipFill>
        <p:spPr>
          <a:xfrm>
            <a:off x="5682465" y="4109892"/>
            <a:ext cx="1161867" cy="160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402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EFDDCD-494C-75E6-4467-0A0D0200C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VOC</a:t>
            </a:r>
            <a:r>
              <a:rPr lang="zh-TW" altLang="en-US" dirty="0"/>
              <a:t> </a:t>
            </a:r>
            <a:r>
              <a:rPr lang="en-US" altLang="zh-TW" dirty="0"/>
              <a:t>to CTQ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84F27A2-65FB-CDBF-42A3-6EF48646A6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Box 77">
            <a:extLst>
              <a:ext uri="{FF2B5EF4-FFF2-40B4-BE49-F238E27FC236}">
                <a16:creationId xmlns:a16="http://schemas.microsoft.com/office/drawing/2014/main" id="{589CE659-1664-6325-8C23-742733ADC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0865" y="46039"/>
            <a:ext cx="4781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Step 1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：問題釐清，現況與目標</a:t>
            </a: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(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現地、現物</a:t>
            </a: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)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8EAA98E-5877-AB06-E78C-3CEB77C389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AA96D2A-866D-4FFE-B5B2-353D64420494}" type="slidenum">
              <a:rPr lang="en-US" smtClean="0"/>
              <a:t>4</a:t>
            </a:fld>
            <a:endParaRPr lang="en-US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19045A29-E68B-D826-A157-DB29B9DABE39}"/>
              </a:ext>
            </a:extLst>
          </p:cNvPr>
          <p:cNvGrpSpPr/>
          <p:nvPr/>
        </p:nvGrpSpPr>
        <p:grpSpPr>
          <a:xfrm>
            <a:off x="231724" y="1121709"/>
            <a:ext cx="11728552" cy="4835657"/>
            <a:chOff x="231724" y="1121709"/>
            <a:chExt cx="11728552" cy="4835657"/>
          </a:xfrm>
        </p:grpSpPr>
        <p:pic>
          <p:nvPicPr>
            <p:cNvPr id="4098" name="Picture 2">
              <a:extLst>
                <a:ext uri="{FF2B5EF4-FFF2-40B4-BE49-F238E27FC236}">
                  <a16:creationId xmlns:a16="http://schemas.microsoft.com/office/drawing/2014/main" id="{AD8618B3-80E8-E503-6F7E-70223679C16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01" b="7730"/>
            <a:stretch>
              <a:fillRect/>
            </a:stretch>
          </p:blipFill>
          <p:spPr bwMode="auto">
            <a:xfrm>
              <a:off x="231724" y="1121709"/>
              <a:ext cx="11728552" cy="48356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49A58D3-2D5B-5E83-6F07-41C43F70DB53}"/>
                </a:ext>
              </a:extLst>
            </p:cNvPr>
            <p:cNvSpPr/>
            <p:nvPr/>
          </p:nvSpPr>
          <p:spPr>
            <a:xfrm>
              <a:off x="4750685" y="3509531"/>
              <a:ext cx="2574582" cy="384464"/>
            </a:xfrm>
            <a:prstGeom prst="rect">
              <a:avLst/>
            </a:prstGeom>
            <a:solidFill>
              <a:srgbClr val="DBE5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sz="2000" b="1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(</a:t>
              </a:r>
              <a:r>
                <a:rPr lang="zh-TW" altLang="en-US" sz="2000" b="1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現況</a:t>
              </a:r>
              <a:r>
                <a:rPr lang="en-US" altLang="zh-TW" sz="2000" b="1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2</a:t>
              </a:r>
              <a:r>
                <a:rPr lang="zh-TW" altLang="en-US" sz="2000" b="1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小時</a:t>
              </a:r>
              <a:r>
                <a:rPr lang="en-US" altLang="zh-TW" sz="2000" b="1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)</a:t>
              </a:r>
              <a:endParaRPr lang="zh-TW" altLang="en-US" sz="2000" b="1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5E75AFE-3A5D-DDF5-E8B0-82F4ED59A76F}"/>
                </a:ext>
              </a:extLst>
            </p:cNvPr>
            <p:cNvSpPr/>
            <p:nvPr/>
          </p:nvSpPr>
          <p:spPr>
            <a:xfrm>
              <a:off x="8431680" y="3509531"/>
              <a:ext cx="2858586" cy="1016576"/>
            </a:xfrm>
            <a:prstGeom prst="rect">
              <a:avLst/>
            </a:prstGeom>
            <a:solidFill>
              <a:srgbClr val="DBE5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b="1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分析時間</a:t>
              </a:r>
              <a:r>
                <a:rPr lang="en-US" altLang="zh-TW" sz="2400" b="1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1</a:t>
              </a:r>
              <a:r>
                <a:rPr lang="zh-TW" altLang="en-US" sz="2400" b="1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小時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3460A6C-0FF6-35FC-2156-BC1E7CB23BAF}"/>
                </a:ext>
              </a:extLst>
            </p:cNvPr>
            <p:cNvSpPr/>
            <p:nvPr/>
          </p:nvSpPr>
          <p:spPr>
            <a:xfrm>
              <a:off x="8431679" y="4634376"/>
              <a:ext cx="2858586" cy="1016576"/>
            </a:xfrm>
            <a:prstGeom prst="rect">
              <a:avLst/>
            </a:prstGeom>
            <a:solidFill>
              <a:srgbClr val="DBE5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b="1">
                  <a:solidFill>
                    <a:schemeClr val="tx1"/>
                  </a:solidFill>
                  <a:ea typeface="微軟正黑體" panose="020B0604030504040204" pitchFamily="34" charset="-120"/>
                </a:rPr>
                <a:t>潛在因子</a:t>
              </a:r>
              <a:r>
                <a:rPr lang="en-US" altLang="zh-TW" sz="2400" b="1">
                  <a:solidFill>
                    <a:schemeClr val="tx1"/>
                  </a:solidFill>
                  <a:ea typeface="微軟正黑體" panose="020B0604030504040204" pitchFamily="34" charset="-120"/>
                </a:rPr>
                <a:t>2</a:t>
              </a:r>
              <a:r>
                <a:rPr lang="zh-TW" altLang="en-US" sz="2400" b="1">
                  <a:solidFill>
                    <a:schemeClr val="tx1"/>
                  </a:solidFill>
                  <a:ea typeface="微軟正黑體" panose="020B0604030504040204" pitchFamily="34" charset="-120"/>
                </a:rPr>
                <a:t>項</a:t>
              </a:r>
              <a:endParaRPr lang="zh-TW" altLang="en-US" sz="2400" b="1" dirty="0">
                <a:solidFill>
                  <a:schemeClr val="tx1"/>
                </a:solidFill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5621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E514C6-A030-9CEA-1683-D8BF7A55F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SIPOC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1E6F62A-12D9-0B74-0F98-A2C8B743C1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Box 77">
            <a:extLst>
              <a:ext uri="{FF2B5EF4-FFF2-40B4-BE49-F238E27FC236}">
                <a16:creationId xmlns:a16="http://schemas.microsoft.com/office/drawing/2014/main" id="{76385569-2FA5-45D0-B642-872498CCC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0865" y="46039"/>
            <a:ext cx="4781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Step 1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：問題釐清，現況與目標</a:t>
            </a: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(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現地、現物</a:t>
            </a: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)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536595D-9CDD-A8F3-9121-85F1877F40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AA96D2A-866D-4FFE-B5B2-353D64420494}" type="slidenum">
              <a:rPr lang="en-US" smtClean="0"/>
              <a:t>5</a:t>
            </a:fld>
            <a:endParaRPr lang="en-US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C2394904-C60A-CEEB-A996-B8FB5A178551}"/>
              </a:ext>
            </a:extLst>
          </p:cNvPr>
          <p:cNvGrpSpPr/>
          <p:nvPr/>
        </p:nvGrpSpPr>
        <p:grpSpPr>
          <a:xfrm>
            <a:off x="1503424" y="1445733"/>
            <a:ext cx="9185153" cy="4788376"/>
            <a:chOff x="1503424" y="1173480"/>
            <a:chExt cx="9185153" cy="4788376"/>
          </a:xfrm>
        </p:grpSpPr>
        <p:grpSp>
          <p:nvGrpSpPr>
            <p:cNvPr id="40" name="群組 39">
              <a:extLst>
                <a:ext uri="{FF2B5EF4-FFF2-40B4-BE49-F238E27FC236}">
                  <a16:creationId xmlns:a16="http://schemas.microsoft.com/office/drawing/2014/main" id="{3E4B2E2D-8C49-2E74-8ABC-B2C4C9D4AA5D}"/>
                </a:ext>
              </a:extLst>
            </p:cNvPr>
            <p:cNvGrpSpPr/>
            <p:nvPr/>
          </p:nvGrpSpPr>
          <p:grpSpPr>
            <a:xfrm>
              <a:off x="1503424" y="1173480"/>
              <a:ext cx="9185153" cy="4788376"/>
              <a:chOff x="1503424" y="1173480"/>
              <a:chExt cx="9185153" cy="4788376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FF0EDC1D-E084-6A17-5AE7-F5E2C4D009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855" b="5472"/>
              <a:stretch>
                <a:fillRect/>
              </a:stretch>
            </p:blipFill>
            <p:spPr bwMode="auto">
              <a:xfrm>
                <a:off x="1503424" y="1173480"/>
                <a:ext cx="9185153" cy="47874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8D9795AB-EF81-4DC4-2B96-8FF4640E2B9D}"/>
                  </a:ext>
                </a:extLst>
              </p:cNvPr>
              <p:cNvSpPr/>
              <p:nvPr/>
            </p:nvSpPr>
            <p:spPr>
              <a:xfrm>
                <a:off x="9953307" y="5317620"/>
                <a:ext cx="613063" cy="644236"/>
              </a:xfrm>
              <a:prstGeom prst="rect">
                <a:avLst/>
              </a:prstGeom>
              <a:solidFill>
                <a:srgbClr val="E6E9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DD9D91E4-4305-673D-4F70-C79D6F86E891}"/>
                  </a:ext>
                </a:extLst>
              </p:cNvPr>
              <p:cNvSpPr/>
              <p:nvPr/>
            </p:nvSpPr>
            <p:spPr>
              <a:xfrm>
                <a:off x="3847060" y="4975860"/>
                <a:ext cx="1085056" cy="708660"/>
              </a:xfrm>
              <a:prstGeom prst="rect">
                <a:avLst/>
              </a:prstGeom>
              <a:solidFill>
                <a:srgbClr val="EFE8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171450" indent="-171450" eaLnBrk="1" hangingPunct="1">
                  <a:buFont typeface="Arial" panose="020B0604020202020204" pitchFamily="34" charset="0"/>
                  <a:buChar char="•"/>
                  <a:defRPr/>
                </a:pPr>
                <a:r>
                  <a:rPr lang="en-US" altLang="zh-TW" sz="1000" b="1" dirty="0">
                    <a:solidFill>
                      <a:schemeClr val="tx1"/>
                    </a:solidFill>
                    <a:ea typeface="微軟正黑體" panose="020B0604030504040204" pitchFamily="34" charset="-120"/>
                  </a:rPr>
                  <a:t>hidden assumption</a:t>
                </a:r>
              </a:p>
              <a:p>
                <a:pPr marL="171450" indent="-171450" eaLnBrk="1" hangingPunct="1">
                  <a:buFont typeface="Arial" panose="020B0604020202020204" pitchFamily="34" charset="0"/>
                  <a:buChar char="•"/>
                  <a:defRPr/>
                </a:pPr>
                <a:r>
                  <a:rPr lang="zh-TW" altLang="en-US" sz="1000" b="1" dirty="0">
                    <a:solidFill>
                      <a:schemeClr val="tx1"/>
                    </a:solidFill>
                    <a:ea typeface="微軟正黑體" panose="020B0604030504040204" pitchFamily="34" charset="-120"/>
                  </a:rPr>
                  <a:t>缺值</a:t>
                </a:r>
                <a:endParaRPr lang="en-US" altLang="zh-TW" sz="1000" b="1" dirty="0">
                  <a:solidFill>
                    <a:schemeClr val="tx1"/>
                  </a:solidFill>
                  <a:ea typeface="微軟正黑體" panose="020B0604030504040204" pitchFamily="34" charset="-120"/>
                </a:endParaRPr>
              </a:p>
              <a:p>
                <a:pPr marL="171450" indent="-171450" eaLnBrk="1" hangingPunct="1">
                  <a:buFont typeface="Arial" panose="020B0604020202020204" pitchFamily="34" charset="0"/>
                  <a:buChar char="•"/>
                  <a:defRPr/>
                </a:pPr>
                <a:r>
                  <a:rPr lang="zh-TW" altLang="en-US" sz="1000" b="1" dirty="0">
                    <a:solidFill>
                      <a:schemeClr val="tx1"/>
                    </a:solidFill>
                    <a:ea typeface="微軟正黑體" panose="020B0604030504040204" pitchFamily="34" charset="-120"/>
                  </a:rPr>
                  <a:t>不一致欄位</a:t>
                </a:r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CC22DE90-46D1-C94B-58C3-8D4FB82FC3BC}"/>
                  </a:ext>
                </a:extLst>
              </p:cNvPr>
              <p:cNvSpPr/>
              <p:nvPr/>
            </p:nvSpPr>
            <p:spPr>
              <a:xfrm>
                <a:off x="5010944" y="4975860"/>
                <a:ext cx="1377664" cy="708660"/>
              </a:xfrm>
              <a:prstGeom prst="rect">
                <a:avLst/>
              </a:prstGeom>
              <a:solidFill>
                <a:srgbClr val="EFE8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171450" indent="-171450" eaLnBrk="1" hangingPunct="1">
                  <a:buFont typeface="Arial" panose="020B0604020202020204" pitchFamily="34" charset="0"/>
                  <a:buChar char="•"/>
                  <a:defRPr/>
                </a:pPr>
                <a:r>
                  <a:rPr lang="en-US" altLang="zh-TW" sz="1000" b="1" dirty="0">
                    <a:solidFill>
                      <a:schemeClr val="tx1"/>
                    </a:solidFill>
                    <a:ea typeface="微軟正黑體" panose="020B0604030504040204" pitchFamily="34" charset="-120"/>
                  </a:rPr>
                  <a:t>POR/ NOW </a:t>
                </a:r>
                <a:r>
                  <a:rPr lang="zh-TW" altLang="en-US" sz="1000" b="1" dirty="0">
                    <a:solidFill>
                      <a:schemeClr val="tx1"/>
                    </a:solidFill>
                    <a:ea typeface="微軟正黑體" panose="020B0604030504040204" pitchFamily="34" charset="-120"/>
                  </a:rPr>
                  <a:t>批對比</a:t>
                </a:r>
              </a:p>
              <a:p>
                <a:pPr marL="171450" indent="-171450" eaLnBrk="1" hangingPunct="1">
                  <a:buFont typeface="Arial" panose="020B0604020202020204" pitchFamily="34" charset="0"/>
                  <a:buChar char="•"/>
                  <a:defRPr/>
                </a:pPr>
                <a:r>
                  <a:rPr lang="zh-TW" altLang="en-US" sz="1000" b="1" dirty="0">
                    <a:solidFill>
                      <a:schemeClr val="tx1"/>
                    </a:solidFill>
                    <a:ea typeface="微軟正黑體" panose="020B0604030504040204" pitchFamily="34" charset="-120"/>
                  </a:rPr>
                  <a:t>項目：機台、銅厚點位、來料</a:t>
                </a: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C3739348-21EC-2060-718A-0EB12C5374AE}"/>
                  </a:ext>
                </a:extLst>
              </p:cNvPr>
              <p:cNvSpPr/>
              <p:nvPr/>
            </p:nvSpPr>
            <p:spPr>
              <a:xfrm>
                <a:off x="6327680" y="4975860"/>
                <a:ext cx="1168512" cy="708660"/>
              </a:xfrm>
              <a:prstGeom prst="rect">
                <a:avLst/>
              </a:prstGeom>
              <a:solidFill>
                <a:srgbClr val="EFE8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171450" indent="-171450" eaLnBrk="1" hangingPunct="1">
                  <a:buFont typeface="Arial" panose="020B0604020202020204" pitchFamily="34" charset="0"/>
                  <a:buChar char="•"/>
                  <a:defRPr/>
                </a:pPr>
                <a:r>
                  <a:rPr lang="zh-TW" altLang="en-US" sz="1000" b="1" dirty="0">
                    <a:solidFill>
                      <a:schemeClr val="tx1"/>
                    </a:solidFill>
                    <a:ea typeface="微軟正黑體" panose="020B0604030504040204" pitchFamily="34" charset="-120"/>
                  </a:rPr>
                  <a:t>統計圖表</a:t>
                </a:r>
                <a:r>
                  <a:rPr lang="en-US" altLang="zh-TW" sz="1000" b="1" dirty="0">
                    <a:solidFill>
                      <a:schemeClr val="tx1"/>
                    </a:solidFill>
                    <a:ea typeface="微軟正黑體" panose="020B0604030504040204" pitchFamily="34" charset="-120"/>
                  </a:rPr>
                  <a:t>(JMP)</a:t>
                </a:r>
              </a:p>
              <a:p>
                <a:pPr marL="171450" indent="-171450" eaLnBrk="1" hangingPunct="1">
                  <a:buFont typeface="Arial" panose="020B0604020202020204" pitchFamily="34" charset="0"/>
                  <a:buChar char="•"/>
                  <a:defRPr/>
                </a:pPr>
                <a:r>
                  <a:rPr lang="zh-TW" altLang="en-US" sz="1000" b="1" dirty="0">
                    <a:solidFill>
                      <a:schemeClr val="tx1"/>
                    </a:solidFill>
                    <a:ea typeface="微軟正黑體" panose="020B0604030504040204" pitchFamily="34" charset="-120"/>
                  </a:rPr>
                  <a:t>找尋影響因子並排序</a:t>
                </a: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57135297-A26D-7D7E-1153-55CA0E3A7E20}"/>
                  </a:ext>
                </a:extLst>
              </p:cNvPr>
              <p:cNvSpPr/>
              <p:nvPr/>
            </p:nvSpPr>
            <p:spPr>
              <a:xfrm>
                <a:off x="7496192" y="4975860"/>
                <a:ext cx="1221088" cy="708660"/>
              </a:xfrm>
              <a:prstGeom prst="rect">
                <a:avLst/>
              </a:prstGeom>
              <a:solidFill>
                <a:srgbClr val="EFE8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171450" indent="-171450" eaLnBrk="1" hangingPunct="1">
                  <a:buFont typeface="Arial" panose="020B0604020202020204" pitchFamily="34" charset="0"/>
                  <a:buChar char="•"/>
                  <a:defRPr/>
                </a:pPr>
                <a:r>
                  <a:rPr lang="zh-TW" altLang="en-US" sz="1000" b="1" dirty="0">
                    <a:solidFill>
                      <a:schemeClr val="tx1"/>
                    </a:solidFill>
                    <a:ea typeface="微軟正黑體" panose="020B0604030504040204" pitchFamily="34" charset="-120"/>
                  </a:rPr>
                  <a:t>如：特定機台 </a:t>
                </a:r>
                <a:r>
                  <a:rPr lang="en-US" altLang="zh-TW" sz="1000" b="1" dirty="0">
                    <a:solidFill>
                      <a:schemeClr val="tx1"/>
                    </a:solidFill>
                    <a:ea typeface="微軟正黑體" panose="020B0604030504040204" pitchFamily="34" charset="-120"/>
                  </a:rPr>
                  <a:t>× </a:t>
                </a:r>
                <a:r>
                  <a:rPr lang="zh-TW" altLang="en-US" sz="1000" b="1" dirty="0">
                    <a:solidFill>
                      <a:schemeClr val="tx1"/>
                    </a:solidFill>
                    <a:ea typeface="微軟正黑體" panose="020B0604030504040204" pitchFamily="34" charset="-120"/>
                  </a:rPr>
                  <a:t>特定層銅厚</a:t>
                </a:r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3F80E5EF-FED7-9CF3-4F07-B3B1CC0B5698}"/>
                  </a:ext>
                </a:extLst>
              </p:cNvPr>
              <p:cNvSpPr/>
              <p:nvPr/>
            </p:nvSpPr>
            <p:spPr>
              <a:xfrm>
                <a:off x="6375908" y="4658360"/>
                <a:ext cx="1026160" cy="238760"/>
              </a:xfrm>
              <a:prstGeom prst="rect">
                <a:avLst/>
              </a:prstGeom>
              <a:solidFill>
                <a:srgbClr val="628CB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1100" b="1" dirty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尋找關因子</a:t>
                </a:r>
              </a:p>
            </p:txBody>
          </p:sp>
          <p:sp>
            <p:nvSpPr>
              <p:cNvPr id="32" name="矩形: 圓角 31">
                <a:extLst>
                  <a:ext uri="{FF2B5EF4-FFF2-40B4-BE49-F238E27FC236}">
                    <a16:creationId xmlns:a16="http://schemas.microsoft.com/office/drawing/2014/main" id="{0FC080BF-8897-A1AE-4F06-225F89F9490A}"/>
                  </a:ext>
                </a:extLst>
              </p:cNvPr>
              <p:cNvSpPr/>
              <p:nvPr/>
            </p:nvSpPr>
            <p:spPr>
              <a:xfrm>
                <a:off x="3791744" y="4602480"/>
                <a:ext cx="1191736" cy="335280"/>
              </a:xfrm>
              <a:prstGeom prst="roundRect">
                <a:avLst/>
              </a:prstGeom>
              <a:solidFill>
                <a:srgbClr val="5F8BBA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1100" b="1" dirty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清洗資料</a:t>
                </a:r>
              </a:p>
            </p:txBody>
          </p:sp>
          <p:sp>
            <p:nvSpPr>
              <p:cNvPr id="36" name="矩形: 圓角 35">
                <a:extLst>
                  <a:ext uri="{FF2B5EF4-FFF2-40B4-BE49-F238E27FC236}">
                    <a16:creationId xmlns:a16="http://schemas.microsoft.com/office/drawing/2014/main" id="{D41B6614-7C08-1474-8B16-5A41D64AFB7C}"/>
                  </a:ext>
                </a:extLst>
              </p:cNvPr>
              <p:cNvSpPr/>
              <p:nvPr/>
            </p:nvSpPr>
            <p:spPr>
              <a:xfrm>
                <a:off x="5051584" y="4602480"/>
                <a:ext cx="1191736" cy="335280"/>
              </a:xfrm>
              <a:prstGeom prst="roundRect">
                <a:avLst/>
              </a:prstGeom>
              <a:solidFill>
                <a:srgbClr val="5F8BBA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1100" b="1" dirty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前後批比較</a:t>
                </a:r>
              </a:p>
            </p:txBody>
          </p:sp>
          <p:sp>
            <p:nvSpPr>
              <p:cNvPr id="37" name="矩形: 圓角 36">
                <a:extLst>
                  <a:ext uri="{FF2B5EF4-FFF2-40B4-BE49-F238E27FC236}">
                    <a16:creationId xmlns:a16="http://schemas.microsoft.com/office/drawing/2014/main" id="{A4E47CFC-4B47-B7F0-FF5C-92B8295ED038}"/>
                  </a:ext>
                </a:extLst>
              </p:cNvPr>
              <p:cNvSpPr/>
              <p:nvPr/>
            </p:nvSpPr>
            <p:spPr>
              <a:xfrm>
                <a:off x="6304456" y="4602480"/>
                <a:ext cx="1191736" cy="335280"/>
              </a:xfrm>
              <a:prstGeom prst="roundRect">
                <a:avLst/>
              </a:prstGeom>
              <a:solidFill>
                <a:srgbClr val="5F8BBA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1100" b="1" dirty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找尋關鍵因子</a:t>
                </a:r>
              </a:p>
            </p:txBody>
          </p:sp>
          <p:sp>
            <p:nvSpPr>
              <p:cNvPr id="38" name="矩形: 圓角 37">
                <a:extLst>
                  <a:ext uri="{FF2B5EF4-FFF2-40B4-BE49-F238E27FC236}">
                    <a16:creationId xmlns:a16="http://schemas.microsoft.com/office/drawing/2014/main" id="{44507353-F621-3C9E-FCF0-9C5FCAD61534}"/>
                  </a:ext>
                </a:extLst>
              </p:cNvPr>
              <p:cNvSpPr/>
              <p:nvPr/>
            </p:nvSpPr>
            <p:spPr>
              <a:xfrm>
                <a:off x="7557328" y="4602480"/>
                <a:ext cx="1124392" cy="335280"/>
              </a:xfrm>
              <a:prstGeom prst="roundRect">
                <a:avLst/>
              </a:prstGeom>
              <a:solidFill>
                <a:srgbClr val="5F8BBA"/>
              </a:solidFill>
              <a:ln w="952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1100" b="1" dirty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因子間</a:t>
                </a:r>
                <a:endParaRPr lang="en-US" altLang="zh-TW" sz="11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algn="ctr"/>
                <a:r>
                  <a:rPr lang="zh-TW" altLang="en-US" sz="1100" b="1" dirty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交互作用</a:t>
                </a:r>
              </a:p>
            </p:txBody>
          </p:sp>
        </p:grp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D8ACF87-8D7E-5B4A-EBB7-072F87D6B2DA}"/>
                </a:ext>
              </a:extLst>
            </p:cNvPr>
            <p:cNvSpPr/>
            <p:nvPr/>
          </p:nvSpPr>
          <p:spPr>
            <a:xfrm>
              <a:off x="2030016" y="2175254"/>
              <a:ext cx="1253511" cy="13919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b="1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各站製程量測數據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93F3B2B-2E73-4F7C-AE78-C0F9B9B7C310}"/>
                </a:ext>
              </a:extLst>
            </p:cNvPr>
            <p:cNvSpPr/>
            <p:nvPr/>
          </p:nvSpPr>
          <p:spPr>
            <a:xfrm>
              <a:off x="9006327" y="3025282"/>
              <a:ext cx="1253511" cy="54193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各站製程</a:t>
              </a:r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88F3EB2F-C1BE-252C-C7BD-DE6A6DE4130D}"/>
              </a:ext>
            </a:extLst>
          </p:cNvPr>
          <p:cNvSpPr txBox="1"/>
          <p:nvPr/>
        </p:nvSpPr>
        <p:spPr>
          <a:xfrm>
            <a:off x="1" y="918618"/>
            <a:ext cx="12192000" cy="40011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r>
              <a:rPr lang="zh-TW" altLang="en-US" sz="2000" b="1" dirty="0">
                <a:solidFill>
                  <a:srgbClr val="266678"/>
                </a:solidFill>
                <a:latin typeface="+mn-lt"/>
                <a:ea typeface="微軟正黑體" panose="020B0604030504040204" pitchFamily="34" charset="-120"/>
              </a:rPr>
              <a:t>此專案以</a:t>
            </a:r>
            <a:r>
              <a:rPr lang="en-US" altLang="zh-TW" sz="2000" b="1" dirty="0">
                <a:solidFill>
                  <a:srgbClr val="266678"/>
                </a:solidFill>
                <a:latin typeface="+mn-lt"/>
                <a:ea typeface="微軟正黑體" panose="020B0604030504040204" pitchFamily="34" charset="-120"/>
              </a:rPr>
              <a:t>AI</a:t>
            </a:r>
            <a:r>
              <a:rPr lang="zh-TW" altLang="en-US" sz="2000" b="1" dirty="0">
                <a:solidFill>
                  <a:srgbClr val="266678"/>
                </a:solidFill>
                <a:latin typeface="+mn-lt"/>
                <a:ea typeface="微軟正黑體" panose="020B0604030504040204" pitchFamily="34" charset="-120"/>
              </a:rPr>
              <a:t>協助查找關鍵因子為目標，以縮減分析時間</a:t>
            </a:r>
            <a:endParaRPr lang="en-US" altLang="zh-TW" sz="2000" b="1" dirty="0">
              <a:solidFill>
                <a:srgbClr val="266678"/>
              </a:solidFill>
              <a:latin typeface="+mn-lt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3267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798EFD-501A-41C8-8F5E-D11B62A2F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現況把握與目標訂定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F0C0CD9-480A-FCCF-B11E-EA87DF9EC3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4929731-2BDD-7D27-8DD0-F172CB0FB029}"/>
              </a:ext>
            </a:extLst>
          </p:cNvPr>
          <p:cNvSpPr txBox="1"/>
          <p:nvPr/>
        </p:nvSpPr>
        <p:spPr>
          <a:xfrm>
            <a:off x="0" y="46039"/>
            <a:ext cx="2807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Step 1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：現況與專案目標</a:t>
            </a:r>
          </a:p>
        </p:txBody>
      </p:sp>
      <p:sp>
        <p:nvSpPr>
          <p:cNvPr id="21" name="Line 25">
            <a:extLst>
              <a:ext uri="{FF2B5EF4-FFF2-40B4-BE49-F238E27FC236}">
                <a16:creationId xmlns:a16="http://schemas.microsoft.com/office/drawing/2014/main" id="{1DD5BF3F-500D-A929-1C90-3B0462D68C1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56550" y="4114378"/>
            <a:ext cx="2762542" cy="146727"/>
          </a:xfrm>
          <a:prstGeom prst="line">
            <a:avLst/>
          </a:prstGeom>
          <a:noFill/>
          <a:ln w="12700">
            <a:solidFill>
              <a:schemeClr val="bg2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2082E9-47C3-3A90-0983-61AB43A4879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AA96D2A-866D-4FFE-B5B2-353D64420494}" type="slidenum">
              <a:rPr lang="en-US" smtClean="0"/>
              <a:t>6</a:t>
            </a:fld>
            <a:endParaRPr 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B289AF5D-CF34-B0FA-DA75-64F51530A74D}"/>
              </a:ext>
            </a:extLst>
          </p:cNvPr>
          <p:cNvSpPr txBox="1"/>
          <p:nvPr/>
        </p:nvSpPr>
        <p:spPr>
          <a:xfrm>
            <a:off x="143294" y="854657"/>
            <a:ext cx="11761150" cy="4006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endParaRPr lang="en-US" altLang="zh-TW" sz="2000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endParaRPr lang="en-US" altLang="zh-TW" sz="2000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endParaRPr lang="en-US" altLang="zh-TW" sz="2000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endParaRPr lang="en-US" altLang="zh-TW" sz="2000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endParaRPr lang="en-US" altLang="zh-TW" sz="2000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TW" altLang="en-US" sz="20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目標</a:t>
            </a:r>
            <a:r>
              <a:rPr lang="en-US" altLang="zh-TW" sz="20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(KPI)</a:t>
            </a:r>
            <a:r>
              <a:rPr lang="zh-TW" altLang="en-US" sz="20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：縮短分析時間、找尋潛在關鍵因子</a:t>
            </a:r>
            <a:endParaRPr lang="en-US" altLang="zh-TW" sz="2000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縮短分析時間：（導入前平均分析時間－導入後平均分析時間）／導入前平均分析時間。目標：縮短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小時</a:t>
            </a:r>
            <a:endParaRPr lang="en-US" altLang="zh-TW" sz="1600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ct val="0"/>
              </a:spcBef>
              <a:buClrTx/>
              <a:buFont typeface="+mj-lt"/>
              <a:buAutoNum type="arabicPeriod"/>
            </a:pP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潛在關鍵因子發現數：透過 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 </a:t>
            </a: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建模額外辨識，且經工程端確認具分析價值之潛在新因子數。目標： 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項</a:t>
            </a:r>
            <a:endParaRPr lang="en-US" altLang="zh-TW" sz="2000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TW" altLang="en-US" sz="20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預期效益：包含</a:t>
            </a:r>
            <a:r>
              <a:rPr lang="en-US" altLang="zh-TW" sz="20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WPG/OST</a:t>
            </a:r>
            <a:r>
              <a:rPr lang="zh-TW" altLang="en-US" sz="20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分析</a:t>
            </a:r>
            <a:endParaRPr lang="en-US" altLang="zh-TW" sz="2000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709CBB0E-2524-8002-4015-5E040692A92F}"/>
              </a:ext>
            </a:extLst>
          </p:cNvPr>
          <p:cNvSpPr txBox="1"/>
          <p:nvPr/>
        </p:nvSpPr>
        <p:spPr>
          <a:xfrm>
            <a:off x="268288" y="5224284"/>
            <a:ext cx="818989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時薪</a:t>
            </a: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×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分析次數</a:t>
            </a: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次</a:t>
            </a: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</a:t>
            </a: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×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每月上班天數</a:t>
            </a: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×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項目</a:t>
            </a: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2(WPG/OST)×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分析時間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縮短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hr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TW" sz="16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196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/hr×1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次</a:t>
            </a: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</a:t>
            </a: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×2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項</a:t>
            </a: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×1hr×22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</a:t>
            </a: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×12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103</a:t>
            </a: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,488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endParaRPr lang="en-US" altLang="zh-TW" sz="16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22EE5F0-EFE7-2CAF-4465-B4E51C914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20" y="889112"/>
            <a:ext cx="5364559" cy="2262087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BB624831-1906-4F8D-CB4F-7A5B78EBB0F5}"/>
              </a:ext>
            </a:extLst>
          </p:cNvPr>
          <p:cNvSpPr txBox="1"/>
          <p:nvPr/>
        </p:nvSpPr>
        <p:spPr>
          <a:xfrm>
            <a:off x="6527801" y="1470944"/>
            <a:ext cx="49564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latin typeface="+mn-lt"/>
                <a:ea typeface="微軟正黑體" panose="020B0604030504040204" pitchFamily="34" charset="-120"/>
              </a:rPr>
              <a:t>現況分析流程</a:t>
            </a:r>
            <a:r>
              <a:rPr lang="en-US" altLang="zh-TW" sz="2400" b="1" dirty="0">
                <a:latin typeface="+mn-lt"/>
                <a:ea typeface="微軟正黑體" panose="020B0604030504040204" pitchFamily="34" charset="-120"/>
              </a:rPr>
              <a:t>2</a:t>
            </a:r>
            <a:r>
              <a:rPr lang="zh-TW" altLang="en-US" sz="2400" b="1" dirty="0">
                <a:latin typeface="+mn-lt"/>
                <a:ea typeface="微軟正黑體" panose="020B0604030504040204" pitchFamily="34" charset="-120"/>
              </a:rPr>
              <a:t>小時，目標設定透過</a:t>
            </a:r>
            <a:r>
              <a:rPr lang="en-US" altLang="zh-TW" sz="2400" b="1" dirty="0">
                <a:latin typeface="+mn-lt"/>
                <a:ea typeface="微軟正黑體" panose="020B0604030504040204" pitchFamily="34" charset="-120"/>
              </a:rPr>
              <a:t>AI</a:t>
            </a:r>
            <a:r>
              <a:rPr lang="zh-TW" altLang="en-US" sz="2400" b="1" dirty="0">
                <a:latin typeface="+mn-lt"/>
                <a:ea typeface="微軟正黑體" panose="020B0604030504040204" pitchFamily="34" charset="-120"/>
              </a:rPr>
              <a:t>建模縮短至</a:t>
            </a:r>
            <a:r>
              <a:rPr lang="en-US" altLang="zh-TW" sz="2400" b="1" dirty="0">
                <a:latin typeface="+mn-lt"/>
                <a:ea typeface="微軟正黑體" panose="020B0604030504040204" pitchFamily="34" charset="-120"/>
              </a:rPr>
              <a:t>1</a:t>
            </a:r>
            <a:r>
              <a:rPr lang="zh-TW" altLang="en-US" sz="2400" b="1" dirty="0">
                <a:latin typeface="+mn-lt"/>
                <a:ea typeface="微軟正黑體" panose="020B0604030504040204" pitchFamily="34" charset="-120"/>
              </a:rPr>
              <a:t>小時</a:t>
            </a:r>
          </a:p>
        </p:txBody>
      </p:sp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E1C81AF8-6A54-A16F-633D-CF2A79674400}"/>
              </a:ext>
            </a:extLst>
          </p:cNvPr>
          <p:cNvSpPr/>
          <p:nvPr/>
        </p:nvSpPr>
        <p:spPr>
          <a:xfrm>
            <a:off x="5855987" y="1714500"/>
            <a:ext cx="542505" cy="3844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0D96BE9-10F3-1263-CAD0-D796C8184F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4" b="7174"/>
          <a:stretch>
            <a:fillRect/>
          </a:stretch>
        </p:blipFill>
        <p:spPr bwMode="auto">
          <a:xfrm>
            <a:off x="7890428" y="4415783"/>
            <a:ext cx="4139805" cy="2396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6329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E5AF5-FA51-21D6-2713-7FDC05509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>
            <a:extLst>
              <a:ext uri="{FF2B5EF4-FFF2-40B4-BE49-F238E27FC236}">
                <a16:creationId xmlns:a16="http://schemas.microsoft.com/office/drawing/2014/main" id="{14DA7E5E-5BF1-A6D8-F09F-F0EAD8919B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10" b="19308"/>
          <a:stretch>
            <a:fillRect/>
          </a:stretch>
        </p:blipFill>
        <p:spPr bwMode="auto">
          <a:xfrm>
            <a:off x="904495" y="1041426"/>
            <a:ext cx="9760565" cy="498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6A8422A-2218-E384-B4E3-A5B2AEF27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數據來源探索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94EA607-06EA-ED1C-98C9-31B51FEF1C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451C58E-D86D-651C-8830-EA78BE1CE9CE}"/>
              </a:ext>
            </a:extLst>
          </p:cNvPr>
          <p:cNvSpPr txBox="1"/>
          <p:nvPr/>
        </p:nvSpPr>
        <p:spPr>
          <a:xfrm>
            <a:off x="0" y="46039"/>
            <a:ext cx="2807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Step 2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：</a:t>
            </a:r>
            <a:r>
              <a:rPr lang="zh-TW" altLang="en-US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資料定義、準備</a:t>
            </a:r>
            <a:endParaRPr lang="zh-TW" altLang="en-US" sz="1800" b="1" dirty="0">
              <a:solidFill>
                <a:srgbClr val="0000CC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DA4C3713-764D-0EA3-73F8-27AFD780FF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0000" y="949986"/>
            <a:ext cx="2570120" cy="743729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F8F7A84A-AA47-328C-AF2D-F9730E8C66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447" t="23587" r="12904"/>
          <a:stretch>
            <a:fillRect/>
          </a:stretch>
        </p:blipFill>
        <p:spPr>
          <a:xfrm>
            <a:off x="9055972" y="4474858"/>
            <a:ext cx="2894148" cy="1826501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6C6716-6620-2E23-1736-05C62E07872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AA96D2A-866D-4FFE-B5B2-353D6442049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910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28ACA-796C-3B3F-334D-BB6EB6687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BCC9E9-1335-F120-EC24-09020FD67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資料治理狀況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3078A5-B310-6B7C-268B-5258EBF534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C25D267-0EBF-7218-A955-3BF85E6EA1C0}"/>
              </a:ext>
            </a:extLst>
          </p:cNvPr>
          <p:cNvSpPr txBox="1"/>
          <p:nvPr/>
        </p:nvSpPr>
        <p:spPr>
          <a:xfrm>
            <a:off x="0" y="46039"/>
            <a:ext cx="2807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Step 2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：</a:t>
            </a:r>
            <a:r>
              <a:rPr lang="zh-TW" altLang="en-US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資料定義、準備</a:t>
            </a:r>
            <a:endParaRPr lang="zh-TW" altLang="en-US" sz="1800" b="1" dirty="0">
              <a:solidFill>
                <a:srgbClr val="0000CC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8A1619-0394-6BC7-13B7-5E31FFCC0D8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AA96D2A-866D-4FFE-B5B2-353D64420494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9471C437-B056-5919-3A19-FDFDC84312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580489"/>
              </p:ext>
            </p:extLst>
          </p:nvPr>
        </p:nvGraphicFramePr>
        <p:xfrm>
          <a:off x="686870" y="4230400"/>
          <a:ext cx="10972800" cy="198333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61061">
                  <a:extLst>
                    <a:ext uri="{9D8B030D-6E8A-4147-A177-3AD203B41FA5}">
                      <a16:colId xmlns:a16="http://schemas.microsoft.com/office/drawing/2014/main" val="667951396"/>
                    </a:ext>
                  </a:extLst>
                </a:gridCol>
                <a:gridCol w="578150">
                  <a:extLst>
                    <a:ext uri="{9D8B030D-6E8A-4147-A177-3AD203B41FA5}">
                      <a16:colId xmlns:a16="http://schemas.microsoft.com/office/drawing/2014/main" val="2335042699"/>
                    </a:ext>
                  </a:extLst>
                </a:gridCol>
                <a:gridCol w="578150">
                  <a:extLst>
                    <a:ext uri="{9D8B030D-6E8A-4147-A177-3AD203B41FA5}">
                      <a16:colId xmlns:a16="http://schemas.microsoft.com/office/drawing/2014/main" val="3550053952"/>
                    </a:ext>
                  </a:extLst>
                </a:gridCol>
                <a:gridCol w="1071986">
                  <a:extLst>
                    <a:ext uri="{9D8B030D-6E8A-4147-A177-3AD203B41FA5}">
                      <a16:colId xmlns:a16="http://schemas.microsoft.com/office/drawing/2014/main" val="3248962645"/>
                    </a:ext>
                  </a:extLst>
                </a:gridCol>
                <a:gridCol w="1108120">
                  <a:extLst>
                    <a:ext uri="{9D8B030D-6E8A-4147-A177-3AD203B41FA5}">
                      <a16:colId xmlns:a16="http://schemas.microsoft.com/office/drawing/2014/main" val="3226482503"/>
                    </a:ext>
                  </a:extLst>
                </a:gridCol>
                <a:gridCol w="1866942">
                  <a:extLst>
                    <a:ext uri="{9D8B030D-6E8A-4147-A177-3AD203B41FA5}">
                      <a16:colId xmlns:a16="http://schemas.microsoft.com/office/drawing/2014/main" val="2255659934"/>
                    </a:ext>
                  </a:extLst>
                </a:gridCol>
                <a:gridCol w="1891031">
                  <a:extLst>
                    <a:ext uri="{9D8B030D-6E8A-4147-A177-3AD203B41FA5}">
                      <a16:colId xmlns:a16="http://schemas.microsoft.com/office/drawing/2014/main" val="716634939"/>
                    </a:ext>
                  </a:extLst>
                </a:gridCol>
                <a:gridCol w="1324926">
                  <a:extLst>
                    <a:ext uri="{9D8B030D-6E8A-4147-A177-3AD203B41FA5}">
                      <a16:colId xmlns:a16="http://schemas.microsoft.com/office/drawing/2014/main" val="2720671622"/>
                    </a:ext>
                  </a:extLst>
                </a:gridCol>
                <a:gridCol w="1192434">
                  <a:extLst>
                    <a:ext uri="{9D8B030D-6E8A-4147-A177-3AD203B41FA5}">
                      <a16:colId xmlns:a16="http://schemas.microsoft.com/office/drawing/2014/main" val="3845625499"/>
                    </a:ext>
                  </a:extLst>
                </a:gridCol>
              </a:tblGrid>
              <a:tr h="2203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批號</a:t>
                      </a:r>
                      <a:endParaRPr lang="zh-TW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rgbClr val="3185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Layer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rgbClr val="3185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Pass(%)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rgbClr val="3185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Mean(Row 3, S)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rgbClr val="3185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Range(Row 3, S)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rgbClr val="3185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機台名稱 </a:t>
                      </a:r>
                      <a:r>
                        <a:rPr lang="en-US" altLang="zh-TW" sz="11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L2L15 ABF1ANL1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rgbClr val="3185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機台名稱 </a:t>
                      </a:r>
                      <a:r>
                        <a:rPr lang="en-US" altLang="zh-TW" sz="11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L2L15 ABF1OTP1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rgbClr val="3185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Core batch1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rgbClr val="3185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Core batch2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rgbClr val="3185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795986"/>
                  </a:ext>
                </a:extLst>
              </a:tr>
              <a:tr h="2203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25BNL005-05-00</a:t>
                      </a:r>
                      <a:endParaRPr lang="en-US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7FB</a:t>
                      </a:r>
                      <a:endParaRPr lang="en-US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66.71%</a:t>
                      </a:r>
                      <a:endParaRPr lang="en-US" altLang="zh-TW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rgbClr val="DDE7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17.6055</a:t>
                      </a:r>
                      <a:endParaRPr lang="en-US" altLang="zh-TW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0.345</a:t>
                      </a:r>
                      <a:endParaRPr lang="en-US" altLang="zh-TW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Y1 ABF </a:t>
                      </a:r>
                      <a:r>
                        <a:rPr lang="zh-TW" alt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壓合</a:t>
                      </a: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Pre-Cure_014</a:t>
                      </a:r>
                      <a:endParaRPr lang="en-US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Y1 ABF</a:t>
                      </a:r>
                      <a:r>
                        <a:rPr lang="zh-TW" alt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後烘烤轉換機</a:t>
                      </a:r>
                      <a:r>
                        <a:rPr lang="en-US" altLang="zh-TW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_002</a:t>
                      </a:r>
                      <a:endParaRPr lang="en-US" altLang="zh-TW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ET19689M=261031</a:t>
                      </a:r>
                      <a:endParaRPr lang="en-US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ET19689M=261031</a:t>
                      </a:r>
                      <a:endParaRPr lang="en-US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038232"/>
                  </a:ext>
                </a:extLst>
              </a:tr>
              <a:tr h="2203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25BNL005-05-00</a:t>
                      </a:r>
                      <a:endParaRPr lang="en-US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6FB</a:t>
                      </a:r>
                      <a:endParaRPr lang="en-US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66.71%</a:t>
                      </a:r>
                      <a:endParaRPr lang="en-US" altLang="zh-TW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rgbClr val="DDE7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17.5905</a:t>
                      </a:r>
                      <a:endParaRPr lang="en-US" altLang="zh-TW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0.495</a:t>
                      </a:r>
                      <a:endParaRPr lang="en-US" altLang="zh-TW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Y1 ABF </a:t>
                      </a:r>
                      <a:r>
                        <a:rPr lang="zh-TW" alt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壓合</a:t>
                      </a: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Pre-Cure_014</a:t>
                      </a:r>
                      <a:endParaRPr lang="en-US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Y1 ABF</a:t>
                      </a:r>
                      <a:r>
                        <a:rPr lang="zh-TW" altLang="en-US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後烘烤轉換機</a:t>
                      </a:r>
                      <a:r>
                        <a:rPr lang="en-US" altLang="zh-TW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_002</a:t>
                      </a:r>
                      <a:endParaRPr lang="en-US" altLang="zh-TW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ET19689M=261031</a:t>
                      </a:r>
                      <a:endParaRPr lang="en-US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ET19689M=261031</a:t>
                      </a:r>
                      <a:endParaRPr lang="en-US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373550"/>
                  </a:ext>
                </a:extLst>
              </a:tr>
              <a:tr h="2203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25BNL005-05-00</a:t>
                      </a:r>
                      <a:endParaRPr lang="en-US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5FB</a:t>
                      </a:r>
                      <a:endParaRPr lang="en-US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66.71%</a:t>
                      </a:r>
                      <a:endParaRPr lang="en-US" altLang="zh-TW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rgbClr val="DDE7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17.412</a:t>
                      </a:r>
                      <a:endParaRPr lang="en-US" altLang="zh-TW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0.028</a:t>
                      </a:r>
                      <a:endParaRPr lang="en-US" altLang="zh-TW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Y1 ABF </a:t>
                      </a:r>
                      <a:r>
                        <a:rPr lang="zh-TW" alt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壓合</a:t>
                      </a: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Pre-Cure_014</a:t>
                      </a:r>
                      <a:endParaRPr lang="en-US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Y1 ABF</a:t>
                      </a:r>
                      <a:r>
                        <a:rPr lang="zh-TW" altLang="en-US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後烘烤轉換機</a:t>
                      </a:r>
                      <a:r>
                        <a:rPr lang="en-US" altLang="zh-TW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_002</a:t>
                      </a:r>
                      <a:endParaRPr lang="en-US" altLang="zh-TW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ET19689M=261031</a:t>
                      </a:r>
                      <a:endParaRPr lang="en-US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ET19689M=261031</a:t>
                      </a:r>
                      <a:endParaRPr lang="en-US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614571"/>
                  </a:ext>
                </a:extLst>
              </a:tr>
              <a:tr h="2203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25BNL005-05-00</a:t>
                      </a:r>
                      <a:endParaRPr lang="en-US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4FB</a:t>
                      </a:r>
                      <a:endParaRPr lang="en-US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66.71%</a:t>
                      </a:r>
                      <a:endParaRPr lang="en-US" altLang="zh-TW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rgbClr val="DDE7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16.887</a:t>
                      </a:r>
                      <a:endParaRPr lang="en-US" altLang="zh-TW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0.35</a:t>
                      </a:r>
                      <a:endParaRPr lang="en-US" altLang="zh-TW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Y1 ABF </a:t>
                      </a:r>
                      <a:r>
                        <a:rPr lang="zh-TW" alt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壓合</a:t>
                      </a: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Pre-Cure_014</a:t>
                      </a:r>
                      <a:endParaRPr lang="en-US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Y1 ABF</a:t>
                      </a:r>
                      <a:r>
                        <a:rPr lang="zh-TW" altLang="en-US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後烘烤轉換機</a:t>
                      </a:r>
                      <a:r>
                        <a:rPr lang="en-US" altLang="zh-TW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_002</a:t>
                      </a:r>
                      <a:endParaRPr lang="en-US" altLang="zh-TW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ET19689M=261031</a:t>
                      </a:r>
                      <a:endParaRPr lang="en-US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ET19689M=261031</a:t>
                      </a:r>
                      <a:endParaRPr lang="en-US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38952"/>
                  </a:ext>
                </a:extLst>
              </a:tr>
              <a:tr h="2203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25BNL005-05-00</a:t>
                      </a:r>
                      <a:endParaRPr lang="en-US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3FB</a:t>
                      </a:r>
                      <a:endParaRPr lang="en-US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66.71%</a:t>
                      </a:r>
                      <a:endParaRPr lang="en-US" altLang="zh-TW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rgbClr val="DDE7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18.09</a:t>
                      </a:r>
                      <a:endParaRPr lang="en-US" altLang="zh-TW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1.046</a:t>
                      </a:r>
                      <a:endParaRPr lang="en-US" altLang="zh-TW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Y1 ABF </a:t>
                      </a:r>
                      <a:r>
                        <a:rPr lang="zh-TW" alt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壓合</a:t>
                      </a: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Pre-Cure_014</a:t>
                      </a:r>
                      <a:endParaRPr lang="en-US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Y1 ABF</a:t>
                      </a:r>
                      <a:r>
                        <a:rPr lang="zh-TW" altLang="en-US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後烘烤轉換機</a:t>
                      </a:r>
                      <a:r>
                        <a:rPr lang="en-US" altLang="zh-TW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_002</a:t>
                      </a:r>
                      <a:endParaRPr lang="en-US" altLang="zh-TW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ET19689M=261031</a:t>
                      </a:r>
                      <a:endParaRPr lang="en-US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ET19689M=261031</a:t>
                      </a:r>
                      <a:endParaRPr lang="en-US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181342"/>
                  </a:ext>
                </a:extLst>
              </a:tr>
              <a:tr h="2203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25BNL005-05-00</a:t>
                      </a:r>
                      <a:endParaRPr lang="en-US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2FB</a:t>
                      </a:r>
                      <a:endParaRPr lang="en-US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66.71%</a:t>
                      </a:r>
                      <a:endParaRPr lang="en-US" altLang="zh-TW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rgbClr val="DDE7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17.655</a:t>
                      </a:r>
                      <a:endParaRPr lang="en-US" altLang="zh-TW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0.33</a:t>
                      </a:r>
                      <a:endParaRPr lang="en-US" altLang="zh-TW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Y1 ABF </a:t>
                      </a:r>
                      <a:r>
                        <a:rPr lang="zh-TW" alt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壓合</a:t>
                      </a: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Pre-Cure_014</a:t>
                      </a:r>
                      <a:endParaRPr lang="en-US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Y1 ABF</a:t>
                      </a:r>
                      <a:r>
                        <a:rPr lang="zh-TW" alt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後烘烤轉換機</a:t>
                      </a:r>
                      <a:r>
                        <a:rPr lang="en-US" altLang="zh-TW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_002</a:t>
                      </a:r>
                      <a:endParaRPr lang="en-US" altLang="zh-TW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ET19689M=261031</a:t>
                      </a:r>
                      <a:endParaRPr lang="en-US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ET19689M=261031</a:t>
                      </a:r>
                      <a:endParaRPr lang="en-US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933214"/>
                  </a:ext>
                </a:extLst>
              </a:tr>
              <a:tr h="2203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25BNL005-05-00</a:t>
                      </a:r>
                      <a:endParaRPr lang="en-US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1FB</a:t>
                      </a:r>
                      <a:endParaRPr lang="en-US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66.71%</a:t>
                      </a:r>
                      <a:endParaRPr lang="en-US" altLang="zh-TW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rgbClr val="DDE7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23.29</a:t>
                      </a:r>
                      <a:endParaRPr lang="en-US" altLang="zh-TW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2.21</a:t>
                      </a:r>
                      <a:endParaRPr lang="en-US" altLang="zh-TW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Y1 ABF </a:t>
                      </a:r>
                      <a:r>
                        <a:rPr lang="zh-TW" altLang="en-US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壓合</a:t>
                      </a:r>
                      <a:r>
                        <a:rPr lang="en-US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Pre-Cure_014</a:t>
                      </a:r>
                      <a:endParaRPr lang="en-US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Y1 ABF</a:t>
                      </a:r>
                      <a:r>
                        <a:rPr lang="zh-TW" alt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後烘烤轉換機</a:t>
                      </a:r>
                      <a:r>
                        <a:rPr lang="en-US" altLang="zh-TW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_002</a:t>
                      </a:r>
                      <a:endParaRPr lang="en-US" altLang="zh-TW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ET19689M=261031</a:t>
                      </a:r>
                      <a:endParaRPr lang="en-US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ET19689M=261031</a:t>
                      </a:r>
                      <a:endParaRPr lang="en-US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391847"/>
                  </a:ext>
                </a:extLst>
              </a:tr>
              <a:tr h="2203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25BNL005-05-00</a:t>
                      </a:r>
                      <a:endParaRPr lang="en-US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8FB</a:t>
                      </a:r>
                      <a:endParaRPr lang="en-US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66.71%</a:t>
                      </a:r>
                      <a:endParaRPr lang="en-US" altLang="zh-TW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rgbClr val="DDE7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19.362</a:t>
                      </a:r>
                      <a:endParaRPr lang="en-US" altLang="zh-TW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TW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1.632</a:t>
                      </a:r>
                      <a:endParaRPr lang="en-US" altLang="zh-TW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Y1 ABF </a:t>
                      </a:r>
                      <a:r>
                        <a:rPr lang="zh-TW" altLang="en-US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壓合</a:t>
                      </a:r>
                      <a:r>
                        <a:rPr lang="en-US" sz="1100" u="none" strike="noStrike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Pre-Cure_014</a:t>
                      </a:r>
                      <a:endParaRPr lang="en-US" sz="1100" b="0" i="0" u="none" strike="noStrike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Y1 ABF</a:t>
                      </a:r>
                      <a:r>
                        <a:rPr lang="zh-TW" alt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後烘烤轉換機</a:t>
                      </a:r>
                      <a:r>
                        <a:rPr lang="en-US" altLang="zh-TW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_002</a:t>
                      </a:r>
                      <a:endParaRPr lang="en-US" altLang="zh-TW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ET19689M=261031</a:t>
                      </a:r>
                      <a:endParaRPr lang="en-US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ET19689M=261031</a:t>
                      </a:r>
                      <a:endParaRPr lang="en-US" sz="1100" b="0" i="0" u="none" strike="noStrike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7227" marR="7227" marT="7227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759327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E5578616-713C-F51D-3428-E0A3D2A126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800094"/>
              </p:ext>
            </p:extLst>
          </p:nvPr>
        </p:nvGraphicFramePr>
        <p:xfrm>
          <a:off x="2661142" y="1802349"/>
          <a:ext cx="5915316" cy="12573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2378757">
                  <a:extLst>
                    <a:ext uri="{9D8B030D-6E8A-4147-A177-3AD203B41FA5}">
                      <a16:colId xmlns:a16="http://schemas.microsoft.com/office/drawing/2014/main" val="2117646107"/>
                    </a:ext>
                  </a:extLst>
                </a:gridCol>
                <a:gridCol w="1178853">
                  <a:extLst>
                    <a:ext uri="{9D8B030D-6E8A-4147-A177-3AD203B41FA5}">
                      <a16:colId xmlns:a16="http://schemas.microsoft.com/office/drawing/2014/main" val="3844266785"/>
                    </a:ext>
                  </a:extLst>
                </a:gridCol>
                <a:gridCol w="1178853">
                  <a:extLst>
                    <a:ext uri="{9D8B030D-6E8A-4147-A177-3AD203B41FA5}">
                      <a16:colId xmlns:a16="http://schemas.microsoft.com/office/drawing/2014/main" val="1261322630"/>
                    </a:ext>
                  </a:extLst>
                </a:gridCol>
                <a:gridCol w="1178853">
                  <a:extLst>
                    <a:ext uri="{9D8B030D-6E8A-4147-A177-3AD203B41FA5}">
                      <a16:colId xmlns:a16="http://schemas.microsoft.com/office/drawing/2014/main" val="1637314929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項目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85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資料來源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85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收集頻率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85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權限管控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85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24121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Core</a:t>
                      </a: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材資訊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ACME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每批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YIP</a:t>
                      </a: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人員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2047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過帳紀錄</a:t>
                      </a:r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機台資訊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ACME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每天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YIP</a:t>
                      </a: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人員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07322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銅厚</a:t>
                      </a:r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ABF</a:t>
                      </a: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厚度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CD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SPC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CD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每天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CD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YIP</a:t>
                      </a: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人員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C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716552"/>
                  </a:ext>
                </a:extLst>
              </a:tr>
              <a:tr h="1048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WPG</a:t>
                      </a: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量測結果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7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DMZ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7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每天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7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YIP</a:t>
                      </a: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人員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7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6429641"/>
                  </a:ext>
                </a:extLst>
              </a:tr>
            </a:tbl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78603027-C2F8-C916-03D0-7B8BCF0A4265}"/>
              </a:ext>
            </a:extLst>
          </p:cNvPr>
          <p:cNvSpPr txBox="1"/>
          <p:nvPr/>
        </p:nvSpPr>
        <p:spPr>
          <a:xfrm>
            <a:off x="686870" y="1819761"/>
            <a:ext cx="1707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+mj-lt"/>
                <a:ea typeface="微軟正黑體" panose="020B0604030504040204" pitchFamily="34" charset="-120"/>
              </a:rPr>
              <a:t>表</a:t>
            </a:r>
            <a:r>
              <a:rPr lang="en-US" altLang="zh-TW" b="1" dirty="0">
                <a:latin typeface="+mj-lt"/>
                <a:ea typeface="微軟正黑體" panose="020B0604030504040204" pitchFamily="34" charset="-120"/>
              </a:rPr>
              <a:t>1</a:t>
            </a:r>
            <a:r>
              <a:rPr lang="zh-TW" altLang="en-US" b="1" dirty="0">
                <a:latin typeface="+mj-lt"/>
                <a:ea typeface="微軟正黑體" panose="020B0604030504040204" pitchFamily="34" charset="-120"/>
              </a:rPr>
              <a:t>：資料來源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05545CC-F103-48B4-78EE-5969B38D7EE2}"/>
              </a:ext>
            </a:extLst>
          </p:cNvPr>
          <p:cNvSpPr txBox="1"/>
          <p:nvPr/>
        </p:nvSpPr>
        <p:spPr>
          <a:xfrm>
            <a:off x="686870" y="3702241"/>
            <a:ext cx="6595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+mj-lt"/>
                <a:ea typeface="微軟正黑體" panose="020B0604030504040204" pitchFamily="34" charset="-120"/>
              </a:rPr>
              <a:t>表</a:t>
            </a:r>
            <a:r>
              <a:rPr lang="en-US" altLang="zh-TW" b="1" dirty="0">
                <a:latin typeface="+mj-lt"/>
                <a:ea typeface="微軟正黑體" panose="020B0604030504040204" pitchFamily="34" charset="-120"/>
              </a:rPr>
              <a:t>2</a:t>
            </a:r>
            <a:r>
              <a:rPr lang="zh-TW" altLang="en-US" b="1" dirty="0">
                <a:latin typeface="+mj-lt"/>
                <a:ea typeface="微軟正黑體" panose="020B0604030504040204" pitchFamily="34" charset="-120"/>
              </a:rPr>
              <a:t>：對應的資料格式</a:t>
            </a:r>
            <a:r>
              <a:rPr lang="en-US" altLang="zh-TW" b="1" dirty="0">
                <a:latin typeface="+mj-lt"/>
                <a:ea typeface="微軟正黑體" panose="020B0604030504040204" pitchFamily="34" charset="-120"/>
              </a:rPr>
              <a:t>(</a:t>
            </a:r>
            <a:r>
              <a:rPr lang="zh-TW" altLang="en-US" b="1" dirty="0">
                <a:latin typeface="+mj-lt"/>
                <a:ea typeface="微軟正黑體" panose="020B0604030504040204" pitchFamily="34" charset="-120"/>
              </a:rPr>
              <a:t>儲存在</a:t>
            </a:r>
            <a:r>
              <a:rPr lang="en-US" altLang="zh-TW" b="1" dirty="0">
                <a:latin typeface="+mj-lt"/>
                <a:ea typeface="微軟正黑體" panose="020B0604030504040204" pitchFamily="34" charset="-120"/>
              </a:rPr>
              <a:t>YIP</a:t>
            </a:r>
            <a:r>
              <a:rPr lang="zh-TW" altLang="en-US" b="1" dirty="0">
                <a:latin typeface="+mj-lt"/>
                <a:ea typeface="微軟正黑體" panose="020B0604030504040204" pitchFamily="34" charset="-120"/>
              </a:rPr>
              <a:t>共用資料夾，權限由</a:t>
            </a:r>
            <a:r>
              <a:rPr lang="en-US" altLang="zh-TW" b="1" dirty="0">
                <a:latin typeface="+mj-lt"/>
                <a:ea typeface="微軟正黑體" panose="020B0604030504040204" pitchFamily="34" charset="-120"/>
              </a:rPr>
              <a:t>YIP</a:t>
            </a:r>
            <a:r>
              <a:rPr lang="zh-TW" altLang="en-US" b="1" dirty="0">
                <a:latin typeface="+mj-lt"/>
                <a:ea typeface="微軟正黑體" panose="020B0604030504040204" pitchFamily="34" charset="-120"/>
              </a:rPr>
              <a:t>管理</a:t>
            </a:r>
            <a:r>
              <a:rPr lang="en-US" altLang="zh-TW" b="1" dirty="0">
                <a:latin typeface="+mj-lt"/>
                <a:ea typeface="微軟正黑體" panose="020B0604030504040204" pitchFamily="34" charset="-120"/>
              </a:rPr>
              <a:t>)</a:t>
            </a:r>
            <a:endParaRPr lang="zh-TW" altLang="en-US" b="1" dirty="0"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9CF7CDCB-F056-7F7B-1337-3B1AA516C171}"/>
              </a:ext>
            </a:extLst>
          </p:cNvPr>
          <p:cNvSpPr txBox="1"/>
          <p:nvPr/>
        </p:nvSpPr>
        <p:spPr>
          <a:xfrm>
            <a:off x="1" y="953048"/>
            <a:ext cx="12192000" cy="707886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r>
              <a:rPr lang="zh-TW" altLang="en-US" sz="2000" b="1" dirty="0">
                <a:solidFill>
                  <a:srgbClr val="266678"/>
                </a:solidFill>
                <a:latin typeface="+mn-lt"/>
                <a:ea typeface="微軟正黑體" panose="020B0604030504040204" pitchFamily="34" charset="-120"/>
              </a:rPr>
              <a:t>目前</a:t>
            </a:r>
            <a:r>
              <a:rPr lang="en-US" altLang="zh-TW" sz="2000" b="1" dirty="0">
                <a:solidFill>
                  <a:srgbClr val="266678"/>
                </a:solidFill>
                <a:latin typeface="+mn-lt"/>
                <a:ea typeface="微軟正黑體" panose="020B0604030504040204" pitchFamily="34" charset="-120"/>
              </a:rPr>
              <a:t>WPG</a:t>
            </a:r>
            <a:r>
              <a:rPr lang="zh-TW" altLang="en-US" sz="2000" b="1" dirty="0">
                <a:solidFill>
                  <a:srgbClr val="266678"/>
                </a:solidFill>
                <a:latin typeface="+mn-lt"/>
                <a:ea typeface="微軟正黑體" panose="020B0604030504040204" pitchFamily="34" charset="-120"/>
              </a:rPr>
              <a:t>良率分析資料來源由下表</a:t>
            </a:r>
            <a:r>
              <a:rPr lang="en-US" altLang="zh-TW" sz="2000" b="1" dirty="0">
                <a:solidFill>
                  <a:srgbClr val="266678"/>
                </a:solidFill>
                <a:latin typeface="+mn-lt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solidFill>
                  <a:srgbClr val="266678"/>
                </a:solidFill>
                <a:latin typeface="+mn-lt"/>
                <a:ea typeface="微軟正黑體" panose="020B0604030504040204" pitchFamily="34" charset="-120"/>
              </a:rPr>
              <a:t>表</a:t>
            </a:r>
            <a:r>
              <a:rPr lang="en-US" altLang="zh-TW" sz="2000" b="1" dirty="0">
                <a:solidFill>
                  <a:srgbClr val="266678"/>
                </a:solidFill>
                <a:latin typeface="+mn-lt"/>
                <a:ea typeface="微軟正黑體" panose="020B0604030504040204" pitchFamily="34" charset="-120"/>
              </a:rPr>
              <a:t>1)</a:t>
            </a:r>
            <a:r>
              <a:rPr lang="zh-TW" altLang="en-US" sz="2000" b="1" dirty="0">
                <a:solidFill>
                  <a:srgbClr val="266678"/>
                </a:solidFill>
                <a:latin typeface="+mn-lt"/>
                <a:ea typeface="微軟正黑體" panose="020B0604030504040204" pitchFamily="34" charset="-120"/>
              </a:rPr>
              <a:t>所示，藉由人員初步彙整後產出相對應資料格式</a:t>
            </a:r>
            <a:r>
              <a:rPr lang="en-US" altLang="zh-TW" sz="2000" b="1" dirty="0">
                <a:solidFill>
                  <a:srgbClr val="266678"/>
                </a:solidFill>
                <a:latin typeface="+mn-lt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solidFill>
                  <a:srgbClr val="266678"/>
                </a:solidFill>
                <a:latin typeface="+mn-lt"/>
                <a:ea typeface="微軟正黑體" panose="020B0604030504040204" pitchFamily="34" charset="-120"/>
              </a:rPr>
              <a:t>表</a:t>
            </a:r>
            <a:r>
              <a:rPr lang="en-US" altLang="zh-TW" sz="2000" b="1" dirty="0">
                <a:solidFill>
                  <a:srgbClr val="266678"/>
                </a:solidFill>
                <a:latin typeface="+mn-lt"/>
                <a:ea typeface="微軟正黑體" panose="020B0604030504040204" pitchFamily="34" charset="-120"/>
              </a:rPr>
              <a:t>2)</a:t>
            </a:r>
            <a:r>
              <a:rPr lang="zh-TW" altLang="en-US" sz="2000" b="1" dirty="0">
                <a:solidFill>
                  <a:srgbClr val="266678"/>
                </a:solidFill>
                <a:latin typeface="+mn-lt"/>
                <a:ea typeface="微軟正黑體" panose="020B0604030504040204" pitchFamily="34" charset="-120"/>
              </a:rPr>
              <a:t>，將表</a:t>
            </a:r>
            <a:r>
              <a:rPr lang="en-US" altLang="zh-TW" sz="2000" b="1" dirty="0">
                <a:solidFill>
                  <a:srgbClr val="266678"/>
                </a:solidFill>
                <a:latin typeface="+mn-lt"/>
                <a:ea typeface="微軟正黑體" panose="020B0604030504040204" pitchFamily="34" charset="-120"/>
              </a:rPr>
              <a:t>2</a:t>
            </a:r>
            <a:r>
              <a:rPr lang="zh-TW" altLang="en-US" sz="2000" b="1" dirty="0">
                <a:solidFill>
                  <a:srgbClr val="266678"/>
                </a:solidFill>
                <a:latin typeface="+mn-lt"/>
                <a:ea typeface="微軟正黑體" panose="020B0604030504040204" pitchFamily="34" charset="-120"/>
              </a:rPr>
              <a:t>提供給</a:t>
            </a:r>
            <a:r>
              <a:rPr lang="en-US" altLang="zh-TW" sz="2000" b="1" dirty="0">
                <a:solidFill>
                  <a:srgbClr val="266678"/>
                </a:solidFill>
                <a:latin typeface="+mn-lt"/>
                <a:ea typeface="微軟正黑體" panose="020B0604030504040204" pitchFamily="34" charset="-120"/>
              </a:rPr>
              <a:t>AI</a:t>
            </a:r>
            <a:r>
              <a:rPr lang="zh-TW" altLang="en-US" sz="2000" b="1" dirty="0">
                <a:solidFill>
                  <a:srgbClr val="266678"/>
                </a:solidFill>
                <a:latin typeface="+mn-lt"/>
                <a:ea typeface="微軟正黑體" panose="020B0604030504040204" pitchFamily="34" charset="-120"/>
              </a:rPr>
              <a:t>建模</a:t>
            </a:r>
            <a:r>
              <a:rPr lang="en-US" altLang="zh-TW" sz="2000" b="1" dirty="0">
                <a:solidFill>
                  <a:srgbClr val="266678"/>
                </a:solidFill>
                <a:latin typeface="+mn-lt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solidFill>
                  <a:srgbClr val="266678"/>
                </a:solidFill>
                <a:latin typeface="+mn-lt"/>
                <a:ea typeface="微軟正黑體" panose="020B0604030504040204" pitchFamily="34" charset="-120"/>
              </a:rPr>
              <a:t>資料無缺漏狀況</a:t>
            </a:r>
            <a:r>
              <a:rPr lang="en-US" altLang="zh-TW" sz="2000" b="1" dirty="0">
                <a:solidFill>
                  <a:srgbClr val="266678"/>
                </a:solidFill>
                <a:latin typeface="+mn-lt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5409F18C-756F-042C-F1F6-DA6B0C8663BF}"/>
              </a:ext>
            </a:extLst>
          </p:cNvPr>
          <p:cNvSpPr txBox="1"/>
          <p:nvPr/>
        </p:nvSpPr>
        <p:spPr>
          <a:xfrm>
            <a:off x="8677099" y="1987918"/>
            <a:ext cx="3189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>
                <a:latin typeface="+mj-lt"/>
                <a:ea typeface="微軟正黑體" panose="020B0604030504040204" pitchFamily="34" charset="-120"/>
              </a:rPr>
              <a:t>ACME</a:t>
            </a:r>
            <a:r>
              <a:rPr lang="zh-TW" altLang="en-US" b="1" dirty="0">
                <a:latin typeface="+mj-lt"/>
                <a:ea typeface="微軟正黑體" panose="020B0604030504040204" pitchFamily="34" charset="-120"/>
              </a:rPr>
              <a:t>、</a:t>
            </a:r>
            <a:r>
              <a:rPr lang="en-US" altLang="zh-TW" b="1" dirty="0">
                <a:latin typeface="+mj-lt"/>
                <a:ea typeface="微軟正黑體" panose="020B0604030504040204" pitchFamily="34" charset="-120"/>
              </a:rPr>
              <a:t>SPC</a:t>
            </a:r>
            <a:r>
              <a:rPr lang="zh-TW" altLang="en-US" b="1" dirty="0">
                <a:latin typeface="+mj-lt"/>
                <a:ea typeface="微軟正黑體" panose="020B0604030504040204" pitchFamily="34" charset="-120"/>
              </a:rPr>
              <a:t>皆為集團系統呈現方式一致</a:t>
            </a:r>
            <a:endParaRPr lang="en-US" altLang="zh-TW" b="1" dirty="0">
              <a:latin typeface="+mj-lt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>
                <a:latin typeface="+mj-lt"/>
                <a:ea typeface="微軟正黑體" panose="020B0604030504040204" pitchFamily="34" charset="-120"/>
              </a:rPr>
              <a:t>DMZ</a:t>
            </a:r>
            <a:r>
              <a:rPr lang="zh-TW" altLang="en-US" b="1" dirty="0">
                <a:latin typeface="+mj-lt"/>
                <a:ea typeface="微軟正黑體" panose="020B0604030504040204" pitchFamily="34" charset="-120"/>
              </a:rPr>
              <a:t>為製程資料儲存區</a:t>
            </a:r>
          </a:p>
        </p:txBody>
      </p:sp>
    </p:spTree>
    <p:extLst>
      <p:ext uri="{BB962C8B-B14F-4D97-AF65-F5344CB8AC3E}">
        <p14:creationId xmlns:p14="http://schemas.microsoft.com/office/powerpoint/2010/main" val="2323940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6649F-3548-C5F9-1C5B-8A6E5B474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76EBC5-EBDF-D4B3-499E-098437E15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模型建立與評估</a:t>
            </a:r>
            <a:r>
              <a:rPr lang="en-US" altLang="zh-TW" dirty="0"/>
              <a:t>-</a:t>
            </a:r>
            <a:r>
              <a:rPr lang="zh-TW" altLang="en-US" dirty="0"/>
              <a:t>特徵篩選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4B08744-4AD4-6D0C-9190-26A8F9528F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8288" y="6833854"/>
            <a:ext cx="3523456" cy="21602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82159E3-55A3-7A77-F990-9C493DAC71C0}"/>
              </a:ext>
            </a:extLst>
          </p:cNvPr>
          <p:cNvSpPr txBox="1"/>
          <p:nvPr/>
        </p:nvSpPr>
        <p:spPr>
          <a:xfrm>
            <a:off x="0" y="46039"/>
            <a:ext cx="2807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Step 3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：模型建立</a:t>
            </a:r>
            <a:r>
              <a:rPr lang="zh-TW" altLang="en-US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與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評估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6A5CDA39-0443-88EC-115B-ECC0A92E5BF8}"/>
              </a:ext>
            </a:extLst>
          </p:cNvPr>
          <p:cNvSpPr txBox="1"/>
          <p:nvPr/>
        </p:nvSpPr>
        <p:spPr>
          <a:xfrm>
            <a:off x="1" y="955117"/>
            <a:ext cx="12192000" cy="646331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rgbClr val="266678"/>
                </a:solidFill>
                <a:latin typeface="+mn-lt"/>
                <a:ea typeface="微軟正黑體" panose="020B0604030504040204" pitchFamily="34" charset="-120"/>
              </a:rPr>
              <a:t>Machine </a:t>
            </a:r>
            <a:r>
              <a:rPr lang="zh-TW" altLang="en-US" b="1" dirty="0">
                <a:solidFill>
                  <a:srgbClr val="266678"/>
                </a:solidFill>
                <a:latin typeface="+mn-lt"/>
                <a:ea typeface="微軟正黑體" panose="020B0604030504040204" pitchFamily="34" charset="-120"/>
              </a:rPr>
              <a:t>因子可能帶入答案資訊，造成模型過度擬合；移除後可提升模型判讀合理性與可解釋性</a:t>
            </a:r>
            <a:endParaRPr lang="en-US" altLang="zh-TW" b="1" dirty="0">
              <a:solidFill>
                <a:srgbClr val="266678"/>
              </a:solidFill>
              <a:latin typeface="+mn-lt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solidFill>
                  <a:srgbClr val="266678"/>
                </a:solidFill>
                <a:latin typeface="+mn-lt"/>
                <a:ea typeface="微軟正黑體" panose="020B0604030504040204" pitchFamily="34" charset="-120"/>
              </a:rPr>
              <a:t>目前以</a:t>
            </a:r>
            <a:r>
              <a:rPr lang="en-US" altLang="zh-TW" b="1" dirty="0">
                <a:solidFill>
                  <a:srgbClr val="266678"/>
                </a:solidFill>
                <a:latin typeface="+mn-lt"/>
                <a:ea typeface="微軟正黑體" panose="020B0604030504040204" pitchFamily="34" charset="-120"/>
              </a:rPr>
              <a:t>Model</a:t>
            </a:r>
            <a:r>
              <a:rPr lang="zh-TW" altLang="en-US" b="1" dirty="0">
                <a:solidFill>
                  <a:srgbClr val="266678"/>
                </a:solidFill>
                <a:latin typeface="+mn-lt"/>
                <a:ea typeface="微軟正黑體" panose="020B0604030504040204" pitchFamily="34" charset="-120"/>
              </a:rPr>
              <a:t> </a:t>
            </a:r>
            <a:r>
              <a:rPr lang="en-US" altLang="zh-TW" b="1" dirty="0">
                <a:solidFill>
                  <a:srgbClr val="266678"/>
                </a:solidFill>
                <a:latin typeface="+mn-lt"/>
                <a:ea typeface="微軟正黑體" panose="020B0604030504040204" pitchFamily="34" charset="-120"/>
              </a:rPr>
              <a:t>3</a:t>
            </a:r>
            <a:r>
              <a:rPr lang="zh-TW" altLang="en-US" b="1" dirty="0">
                <a:solidFill>
                  <a:srgbClr val="266678"/>
                </a:solidFill>
                <a:latin typeface="+mn-lt"/>
                <a:ea typeface="微軟正黑體" panose="020B0604030504040204" pitchFamily="34" charset="-120"/>
              </a:rPr>
              <a:t>效果最佳</a:t>
            </a:r>
            <a:endParaRPr lang="en-US" altLang="zh-TW" b="1" dirty="0">
              <a:solidFill>
                <a:srgbClr val="266678"/>
              </a:solidFill>
              <a:latin typeface="+mn-lt"/>
              <a:ea typeface="微軟正黑體" panose="020B0604030504040204" pitchFamily="34" charset="-12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3777CDB-D07C-3947-3EC3-8B3FA128C9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41" b="13926"/>
          <a:stretch>
            <a:fillRect/>
          </a:stretch>
        </p:blipFill>
        <p:spPr bwMode="auto">
          <a:xfrm>
            <a:off x="577508" y="1791860"/>
            <a:ext cx="10761052" cy="455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7304B38-C981-8EF9-3878-2B664B3620C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AA96D2A-866D-4FFE-B5B2-353D6442049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251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449A56-55F2-7577-E31D-C626E1D3A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Model Performance</a:t>
            </a:r>
            <a:r>
              <a:rPr lang="zh-TW" altLang="en-US" dirty="0"/>
              <a:t> </a:t>
            </a:r>
            <a:r>
              <a:rPr lang="en-US" altLang="zh-TW" dirty="0"/>
              <a:t>–</a:t>
            </a:r>
            <a:r>
              <a:rPr lang="zh-TW" altLang="en-US" dirty="0"/>
              <a:t> 模型結果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4320866-6341-390B-6B75-55DD37686F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3914" y="6595937"/>
            <a:ext cx="3523456" cy="216024"/>
          </a:xfrm>
        </p:spPr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3659E2B-C11D-7697-13DB-EFBE538A5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61" y="2709793"/>
            <a:ext cx="2709705" cy="1295821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5B85AD7F-1543-5B77-E119-62B0F2D48E42}"/>
              </a:ext>
            </a:extLst>
          </p:cNvPr>
          <p:cNvSpPr txBox="1"/>
          <p:nvPr/>
        </p:nvSpPr>
        <p:spPr>
          <a:xfrm>
            <a:off x="0" y="46039"/>
            <a:ext cx="2807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Step 3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：模型建立</a:t>
            </a:r>
            <a:r>
              <a:rPr lang="zh-TW" altLang="en-US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與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評估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80052B0-EF02-D11D-0202-A732D777C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26" y="3429000"/>
            <a:ext cx="3803380" cy="1818832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300D74EF-9FE1-DD24-8922-37AB6073CA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325" y="1610167"/>
            <a:ext cx="3803381" cy="1818833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45866FEB-850A-84CD-738A-ECEF914D33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3848" y="1393062"/>
            <a:ext cx="3088932" cy="1475605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4829B564-3A18-5C26-4A44-4FDDC40936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5417" y="4638538"/>
            <a:ext cx="3145794" cy="1504365"/>
          </a:xfrm>
          <a:prstGeom prst="rect">
            <a:avLst/>
          </a:prstGeom>
        </p:spPr>
      </p:pic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507CE3E4-CBA1-4571-ACB6-3A7714ED0D17}"/>
              </a:ext>
            </a:extLst>
          </p:cNvPr>
          <p:cNvSpPr/>
          <p:nvPr/>
        </p:nvSpPr>
        <p:spPr>
          <a:xfrm>
            <a:off x="741729" y="1133318"/>
            <a:ext cx="2316448" cy="464559"/>
          </a:xfrm>
          <a:prstGeom prst="roundRect">
            <a:avLst/>
          </a:prstGeom>
          <a:solidFill>
            <a:srgbClr val="31859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bg1"/>
                </a:solidFill>
                <a:latin typeface="+mj-lt"/>
                <a:ea typeface="微軟正黑體" panose="020B0604030504040204" pitchFamily="34" charset="-120"/>
              </a:rPr>
              <a:t>Model 1</a:t>
            </a:r>
            <a:endParaRPr lang="zh-TW" altLang="en-US" sz="2000" b="1" dirty="0">
              <a:solidFill>
                <a:schemeClr val="bg1"/>
              </a:solidFill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E0287E22-8377-ED3B-3DDA-6DFFBEBBE4F1}"/>
              </a:ext>
            </a:extLst>
          </p:cNvPr>
          <p:cNvSpPr/>
          <p:nvPr/>
        </p:nvSpPr>
        <p:spPr>
          <a:xfrm>
            <a:off x="9045399" y="907436"/>
            <a:ext cx="2316448" cy="46455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bg1"/>
                </a:solidFill>
                <a:latin typeface="+mj-lt"/>
                <a:ea typeface="微軟正黑體" panose="020B0604030504040204" pitchFamily="34" charset="-120"/>
              </a:rPr>
              <a:t>Model 3</a:t>
            </a:r>
            <a:endParaRPr lang="zh-TW" altLang="en-US" sz="2000" b="1" dirty="0">
              <a:solidFill>
                <a:schemeClr val="bg1"/>
              </a:solidFill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39CB2CBB-9710-FA84-DE65-094C0A8807BB}"/>
              </a:ext>
            </a:extLst>
          </p:cNvPr>
          <p:cNvSpPr/>
          <p:nvPr/>
        </p:nvSpPr>
        <p:spPr>
          <a:xfrm>
            <a:off x="9045399" y="4210090"/>
            <a:ext cx="2316448" cy="46455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bg1"/>
                </a:solidFill>
                <a:latin typeface="+mj-lt"/>
                <a:ea typeface="微軟正黑體" panose="020B0604030504040204" pitchFamily="34" charset="-120"/>
              </a:rPr>
              <a:t>Model 4</a:t>
            </a:r>
            <a:endParaRPr lang="zh-TW" altLang="en-US" sz="2000" b="1" dirty="0">
              <a:solidFill>
                <a:schemeClr val="bg1"/>
              </a:solidFill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AA4231F-C0DE-BA12-F011-D8F567293BFD}"/>
              </a:ext>
            </a:extLst>
          </p:cNvPr>
          <p:cNvSpPr txBox="1"/>
          <p:nvPr/>
        </p:nvSpPr>
        <p:spPr>
          <a:xfrm>
            <a:off x="809665" y="5249578"/>
            <a:ext cx="24407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b="1" dirty="0">
                <a:latin typeface="+mj-lt"/>
              </a:rPr>
              <a:t>(All</a:t>
            </a:r>
            <a:r>
              <a:rPr lang="zh-TW" altLang="en-US" b="1" dirty="0">
                <a:latin typeface="+mj-lt"/>
              </a:rPr>
              <a:t> </a:t>
            </a:r>
            <a:r>
              <a:rPr lang="en-US" altLang="zh-TW" b="1" dirty="0">
                <a:latin typeface="+mj-lt"/>
              </a:rPr>
              <a:t>factor - overfitting)</a:t>
            </a:r>
          </a:p>
          <a:p>
            <a:pPr marL="285750" indent="-285750">
              <a:buFontTx/>
              <a:buChar char="-"/>
            </a:pPr>
            <a:r>
              <a:rPr lang="zh-TW" altLang="en-US" b="1" dirty="0">
                <a:latin typeface="+mj-lt"/>
                <a:ea typeface="微軟正黑體" panose="020B0604030504040204" pitchFamily="34" charset="-120"/>
              </a:rPr>
              <a:t>捕捉雜訊</a:t>
            </a:r>
            <a:endParaRPr lang="en-US" altLang="zh-TW" b="1" dirty="0">
              <a:latin typeface="+mj-lt"/>
              <a:ea typeface="微軟正黑體" panose="020B0604030504040204" pitchFamily="34" charset="-120"/>
            </a:endParaRPr>
          </a:p>
          <a:p>
            <a:pPr marL="285750" indent="-285750">
              <a:buFontTx/>
              <a:buChar char="-"/>
            </a:pPr>
            <a:r>
              <a:rPr lang="en-US" altLang="zh-TW" b="1" dirty="0">
                <a:latin typeface="+mj-lt"/>
                <a:ea typeface="微軟正黑體" panose="020B0604030504040204" pitchFamily="34" charset="-120"/>
              </a:rPr>
              <a:t>model</a:t>
            </a:r>
            <a:r>
              <a:rPr lang="zh-TW" altLang="en-US" b="1" dirty="0">
                <a:latin typeface="+mj-lt"/>
                <a:ea typeface="微軟正黑體" panose="020B0604030504040204" pitchFamily="34" charset="-120"/>
              </a:rPr>
              <a:t> 複雜性過高</a:t>
            </a:r>
            <a:endParaRPr lang="en-US" altLang="zh-TW" b="1" dirty="0"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EC582D2-88F7-7895-CD98-92CF88FAE791}"/>
              </a:ext>
            </a:extLst>
          </p:cNvPr>
          <p:cNvSpPr txBox="1"/>
          <p:nvPr/>
        </p:nvSpPr>
        <p:spPr>
          <a:xfrm>
            <a:off x="10109858" y="2480327"/>
            <a:ext cx="2311363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b="1" dirty="0"/>
              <a:t>(No machine - Best)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2C227904-2F09-552B-245D-253EE9283AF3}"/>
              </a:ext>
            </a:extLst>
          </p:cNvPr>
          <p:cNvSpPr txBox="1"/>
          <p:nvPr/>
        </p:nvSpPr>
        <p:spPr>
          <a:xfrm>
            <a:off x="9045399" y="5950564"/>
            <a:ext cx="2311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/>
              <a:t>(Thickness only - Fail)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46E1820-2344-F7D8-2907-0FC4962805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6400" y="1755648"/>
            <a:ext cx="3803382" cy="1475536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B16FDD30-F196-E20C-B0AA-7C15A376A6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5596" y="3453325"/>
            <a:ext cx="3714186" cy="1794507"/>
          </a:xfrm>
          <a:prstGeom prst="rect">
            <a:avLst/>
          </a:prstGeom>
        </p:spPr>
      </p:pic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40B25451-9FEC-C0F4-4390-0154986EB1FF}"/>
              </a:ext>
            </a:extLst>
          </p:cNvPr>
          <p:cNvSpPr/>
          <p:nvPr/>
        </p:nvSpPr>
        <p:spPr>
          <a:xfrm>
            <a:off x="5004465" y="1133318"/>
            <a:ext cx="2316448" cy="46455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bg1"/>
                </a:solidFill>
                <a:latin typeface="+mj-lt"/>
                <a:ea typeface="微軟正黑體" panose="020B0604030504040204" pitchFamily="34" charset="-120"/>
              </a:rPr>
              <a:t>Model 2</a:t>
            </a:r>
            <a:endParaRPr lang="zh-TW" altLang="en-US" sz="2000" b="1" dirty="0">
              <a:solidFill>
                <a:schemeClr val="bg1"/>
              </a:solidFill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8E6F908-1622-7AB1-0015-F3F851C476C0}"/>
              </a:ext>
            </a:extLst>
          </p:cNvPr>
          <p:cNvSpPr txBox="1"/>
          <p:nvPr/>
        </p:nvSpPr>
        <p:spPr>
          <a:xfrm>
            <a:off x="4941130" y="5259811"/>
            <a:ext cx="2311363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b="1" dirty="0"/>
              <a:t>(No Core - overfitting)</a:t>
            </a: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9B5CD742-2E6E-2026-4CE9-E673F434F93B}"/>
              </a:ext>
            </a:extLst>
          </p:cNvPr>
          <p:cNvCxnSpPr>
            <a:cxnSpLocks/>
          </p:cNvCxnSpPr>
          <p:nvPr/>
        </p:nvCxnSpPr>
        <p:spPr>
          <a:xfrm>
            <a:off x="4080915" y="1133318"/>
            <a:ext cx="0" cy="5178089"/>
          </a:xfrm>
          <a:prstGeom prst="line">
            <a:avLst/>
          </a:prstGeom>
          <a:ln w="19050">
            <a:solidFill>
              <a:srgbClr val="31859C">
                <a:alpha val="25882"/>
              </a:srgb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8055074F-9BA6-377E-C921-D130F73B2E8E}"/>
              </a:ext>
            </a:extLst>
          </p:cNvPr>
          <p:cNvCxnSpPr>
            <a:cxnSpLocks/>
          </p:cNvCxnSpPr>
          <p:nvPr/>
        </p:nvCxnSpPr>
        <p:spPr>
          <a:xfrm>
            <a:off x="8398915" y="1133318"/>
            <a:ext cx="0" cy="5178089"/>
          </a:xfrm>
          <a:prstGeom prst="line">
            <a:avLst/>
          </a:prstGeom>
          <a:ln w="19050">
            <a:solidFill>
              <a:srgbClr val="31859C">
                <a:alpha val="25882"/>
              </a:srgb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C7742CD-7A81-FEE5-3394-00FAEBF7424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AA96D2A-866D-4FFE-B5B2-353D6442049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64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5E90F-5B09-F9D7-5CEC-5AD8A598F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C92051-61DA-3D96-FB5C-E22671BAA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Model Performance</a:t>
            </a:r>
            <a:r>
              <a:rPr lang="zh-TW" altLang="en-US" dirty="0"/>
              <a:t> </a:t>
            </a:r>
            <a:r>
              <a:rPr lang="en-US" altLang="zh-TW" dirty="0"/>
              <a:t>–</a:t>
            </a:r>
            <a:r>
              <a:rPr lang="zh-TW" altLang="en-US" dirty="0"/>
              <a:t> </a:t>
            </a:r>
            <a:r>
              <a:rPr lang="en-US" altLang="zh-TW" dirty="0"/>
              <a:t>Shapley</a:t>
            </a:r>
            <a:r>
              <a:rPr lang="zh-TW" altLang="en-US" dirty="0"/>
              <a:t> </a:t>
            </a:r>
            <a:r>
              <a:rPr lang="en-US" altLang="zh-TW" dirty="0"/>
              <a:t>analysis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BF0F767-08C6-CFBC-1BCD-45E701B6EC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3914" y="6595937"/>
            <a:ext cx="3523456" cy="216024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DCD330F-2C01-5EAD-FBEF-B8D1E2027F7F}"/>
              </a:ext>
            </a:extLst>
          </p:cNvPr>
          <p:cNvSpPr txBox="1"/>
          <p:nvPr/>
        </p:nvSpPr>
        <p:spPr>
          <a:xfrm>
            <a:off x="0" y="46039"/>
            <a:ext cx="2807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Step 3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：模型建立</a:t>
            </a:r>
            <a:r>
              <a:rPr lang="zh-TW" altLang="en-US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與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評估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BF1180B-71CA-BF06-8D08-E0BB2CECC8E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AA96D2A-866D-4FFE-B5B2-353D64420494}" type="slidenum">
              <a:rPr lang="en-US" smtClean="0"/>
              <a:t>11</a:t>
            </a:fld>
            <a:endParaRPr lang="en-US"/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0FD989D3-FD93-7BDE-B86A-CC33F7C14AA1}"/>
              </a:ext>
            </a:extLst>
          </p:cNvPr>
          <p:cNvGrpSpPr/>
          <p:nvPr/>
        </p:nvGrpSpPr>
        <p:grpSpPr>
          <a:xfrm>
            <a:off x="4303106" y="1661229"/>
            <a:ext cx="7888894" cy="4585374"/>
            <a:chOff x="1403902" y="1775740"/>
            <a:chExt cx="7888894" cy="4585374"/>
          </a:xfrm>
        </p:grpSpPr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40687EDC-E8FD-80A1-3AF8-715F2D607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3902" y="1775740"/>
              <a:ext cx="7888894" cy="4585374"/>
            </a:xfrm>
            <a:prstGeom prst="rect">
              <a:avLst/>
            </a:prstGeom>
          </p:spPr>
        </p:pic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16CAF026-BE2D-C76C-E944-70306C0C1C2F}"/>
                </a:ext>
              </a:extLst>
            </p:cNvPr>
            <p:cNvSpPr/>
            <p:nvPr/>
          </p:nvSpPr>
          <p:spPr>
            <a:xfrm>
              <a:off x="1778000" y="1971040"/>
              <a:ext cx="701040" cy="1168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Core</a:t>
              </a:r>
              <a:r>
                <a:rPr lang="zh-TW" altLang="en-US" sz="14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材</a:t>
              </a:r>
              <a:endParaRPr lang="en-US" altLang="zh-TW" sz="1400" b="1" dirty="0">
                <a:solidFill>
                  <a:schemeClr val="tx1"/>
                </a:solidFill>
                <a:ea typeface="微軟正黑體" panose="020B0604030504040204" pitchFamily="34" charset="-120"/>
              </a:endParaRPr>
            </a:p>
          </p:txBody>
        </p:sp>
      </p:grp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C821FB0F-CFFF-4673-C148-F646D60BCB96}"/>
              </a:ext>
            </a:extLst>
          </p:cNvPr>
          <p:cNvSpPr txBox="1"/>
          <p:nvPr/>
        </p:nvSpPr>
        <p:spPr>
          <a:xfrm>
            <a:off x="303914" y="1001711"/>
            <a:ext cx="3932568" cy="2125134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TW" altLang="en-US" b="1" dirty="0">
                <a:solidFill>
                  <a:srgbClr val="266678"/>
                </a:solidFill>
                <a:effectLst/>
                <a:latin typeface="+mn-lt"/>
                <a:ea typeface="微軟正黑體" panose="020B0604030504040204" pitchFamily="34" charset="-120"/>
              </a:rPr>
              <a:t>板彎翹 </a:t>
            </a:r>
            <a:r>
              <a:rPr lang="en-US" altLang="zh-TW" b="1" dirty="0">
                <a:solidFill>
                  <a:srgbClr val="266678"/>
                </a:solidFill>
                <a:effectLst/>
                <a:latin typeface="+mn-lt"/>
                <a:ea typeface="微軟正黑體" panose="020B0604030504040204" pitchFamily="34" charset="-120"/>
              </a:rPr>
              <a:t>(WPG)</a:t>
            </a:r>
            <a:r>
              <a:rPr lang="zh-TW" altLang="en-US" b="1" dirty="0">
                <a:solidFill>
                  <a:srgbClr val="266678"/>
                </a:solidFill>
                <a:effectLst/>
                <a:latin typeface="+mn-lt"/>
                <a:ea typeface="微軟正黑體" panose="020B0604030504040204" pitchFamily="34" charset="-120"/>
              </a:rPr>
              <a:t>多因子分析討論</a:t>
            </a:r>
            <a:endParaRPr lang="en-US" altLang="zh-TW" dirty="0">
              <a:solidFill>
                <a:srgbClr val="266678"/>
              </a:solidFill>
              <a:latin typeface="+mn-lt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b="1" dirty="0">
                <a:solidFill>
                  <a:srgbClr val="266678"/>
                </a:solidFill>
                <a:effectLst/>
                <a:latin typeface="+mn-lt"/>
                <a:ea typeface="微軟正黑體" panose="020B0604030504040204" pitchFamily="34" charset="-120"/>
              </a:rPr>
              <a:t>Core</a:t>
            </a:r>
            <a:r>
              <a:rPr lang="zh-TW" altLang="en-US" b="1" dirty="0">
                <a:solidFill>
                  <a:srgbClr val="266678"/>
                </a:solidFill>
                <a:effectLst/>
                <a:latin typeface="+mn-lt"/>
                <a:ea typeface="微軟正黑體" panose="020B0604030504040204" pitchFamily="34" charset="-120"/>
              </a:rPr>
              <a:t>材為</a:t>
            </a:r>
            <a:r>
              <a:rPr lang="zh-TW" altLang="en-US" b="1" dirty="0">
                <a:solidFill>
                  <a:srgbClr val="0000FF"/>
                </a:solidFill>
                <a:effectLst/>
                <a:latin typeface="+mn-lt"/>
                <a:ea typeface="微軟正黑體" panose="020B0604030504040204" pitchFamily="34" charset="-120"/>
              </a:rPr>
              <a:t>顯著影響因子</a:t>
            </a:r>
            <a:endParaRPr lang="en-US" altLang="zh-TW" b="1" dirty="0">
              <a:solidFill>
                <a:srgbClr val="0000FF"/>
              </a:solidFill>
              <a:effectLst/>
              <a:latin typeface="+mn-lt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b="1" dirty="0">
                <a:solidFill>
                  <a:srgbClr val="266678"/>
                </a:solidFill>
                <a:effectLst/>
                <a:latin typeface="+mn-lt"/>
                <a:ea typeface="微軟正黑體" panose="020B0604030504040204" pitchFamily="34" charset="-120"/>
              </a:rPr>
              <a:t>單一因子影響有限</a:t>
            </a:r>
            <a:r>
              <a:rPr lang="en-US" altLang="zh-TW" b="1" dirty="0">
                <a:solidFill>
                  <a:srgbClr val="266678"/>
                </a:solidFill>
                <a:effectLst/>
                <a:latin typeface="+mn-lt"/>
                <a:ea typeface="微軟正黑體" panose="020B0604030504040204" pitchFamily="34" charset="-120"/>
              </a:rPr>
              <a:t>(</a:t>
            </a:r>
            <a:r>
              <a:rPr lang="zh-TW" altLang="en-US" b="1" dirty="0">
                <a:solidFill>
                  <a:srgbClr val="266678"/>
                </a:solidFill>
                <a:effectLst/>
                <a:latin typeface="+mn-lt"/>
                <a:ea typeface="微軟正黑體" panose="020B0604030504040204" pitchFamily="34" charset="-120"/>
              </a:rPr>
              <a:t>大多數因子靠近中值</a:t>
            </a:r>
            <a:r>
              <a:rPr lang="en-US" altLang="zh-TW" b="1" dirty="0">
                <a:solidFill>
                  <a:srgbClr val="266678"/>
                </a:solidFill>
                <a:effectLst/>
                <a:latin typeface="+mn-lt"/>
                <a:ea typeface="微軟正黑體" panose="020B0604030504040204" pitchFamily="34" charset="-12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b="1" dirty="0">
                <a:solidFill>
                  <a:srgbClr val="266678"/>
                </a:solidFill>
                <a:latin typeface="+mn-lt"/>
                <a:ea typeface="微軟正黑體" panose="020B0604030504040204" pitchFamily="34" charset="-120"/>
              </a:rPr>
              <a:t>WPG</a:t>
            </a:r>
            <a:r>
              <a:rPr lang="zh-TW" altLang="en-US" b="1" dirty="0">
                <a:solidFill>
                  <a:srgbClr val="266678"/>
                </a:solidFill>
                <a:latin typeface="+mn-lt"/>
                <a:ea typeface="微軟正黑體" panose="020B0604030504040204" pitchFamily="34" charset="-120"/>
              </a:rPr>
              <a:t>關鍵因子屬於組合效應</a:t>
            </a:r>
            <a:endParaRPr lang="en-US" altLang="zh-TW" dirty="0">
              <a:solidFill>
                <a:srgbClr val="266678"/>
              </a:solidFill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111BD2B1-4D76-AA83-F5B9-FED03E25B977}"/>
              </a:ext>
            </a:extLst>
          </p:cNvPr>
          <p:cNvSpPr txBox="1"/>
          <p:nvPr/>
        </p:nvSpPr>
        <p:spPr>
          <a:xfrm>
            <a:off x="4677204" y="1291897"/>
            <a:ext cx="7316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solidFill>
                  <a:schemeClr val="accent6">
                    <a:lumMod val="75000"/>
                  </a:schemeClr>
                </a:solidFill>
                <a:latin typeface="+mn-lt"/>
                <a:ea typeface="微軟正黑體" panose="020B0604030504040204" pitchFamily="34" charset="-120"/>
              </a:rPr>
              <a:t>Core</a:t>
            </a:r>
            <a:r>
              <a:rPr lang="zh-TW" altLang="en-US" b="1">
                <a:solidFill>
                  <a:schemeClr val="accent6">
                    <a:lumMod val="75000"/>
                  </a:schemeClr>
                </a:solidFill>
                <a:latin typeface="+mn-lt"/>
                <a:ea typeface="微軟正黑體" panose="020B0604030504040204" pitchFamily="34" charset="-120"/>
              </a:rPr>
              <a:t>材相關</a:t>
            </a:r>
            <a:r>
              <a:rPr lang="zh-TW" altLang="en-US" b="1" dirty="0">
                <a:solidFill>
                  <a:schemeClr val="accent6">
                    <a:lumMod val="75000"/>
                  </a:schemeClr>
                </a:solidFill>
                <a:latin typeface="+mn-lt"/>
                <a:ea typeface="微軟正黑體" panose="020B0604030504040204" pitchFamily="34" charset="-120"/>
              </a:rPr>
              <a:t>的點分布最寬，左右跨度最大，明顯比其他因子更大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E5E5B0C-A223-03A2-980A-5C1BFB167258}"/>
              </a:ext>
            </a:extLst>
          </p:cNvPr>
          <p:cNvSpPr/>
          <p:nvPr/>
        </p:nvSpPr>
        <p:spPr>
          <a:xfrm>
            <a:off x="4450080" y="1775740"/>
            <a:ext cx="7670800" cy="124918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9FBA3F6B-7ED5-24CD-AD6F-14DE21271449}"/>
              </a:ext>
            </a:extLst>
          </p:cNvPr>
          <p:cNvSpPr txBox="1"/>
          <p:nvPr/>
        </p:nvSpPr>
        <p:spPr>
          <a:xfrm>
            <a:off x="169032" y="3699797"/>
            <a:ext cx="40674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rgbClr val="0000FF"/>
                </a:solidFill>
                <a:latin typeface="+mn-lt"/>
                <a:ea typeface="微軟正黑體" panose="020B0604030504040204" pitchFamily="34" charset="-120"/>
              </a:rPr>
              <a:t>針對</a:t>
            </a:r>
            <a:r>
              <a:rPr lang="en-US" altLang="zh-TW" b="1" dirty="0">
                <a:solidFill>
                  <a:srgbClr val="0000FF"/>
                </a:solidFill>
                <a:latin typeface="+mn-lt"/>
                <a:ea typeface="微軟正黑體" panose="020B0604030504040204" pitchFamily="34" charset="-120"/>
              </a:rPr>
              <a:t>Core</a:t>
            </a:r>
            <a:r>
              <a:rPr lang="zh-TW" altLang="en-US" b="1" dirty="0">
                <a:solidFill>
                  <a:srgbClr val="0000FF"/>
                </a:solidFill>
                <a:latin typeface="+mn-lt"/>
                <a:ea typeface="微軟正黑體" panose="020B0604030504040204" pitchFamily="34" charset="-120"/>
              </a:rPr>
              <a:t>材對應的製程參數的交互因子分析為接下來主要分析目標</a:t>
            </a:r>
          </a:p>
        </p:txBody>
      </p:sp>
    </p:spTree>
    <p:extLst>
      <p:ext uri="{BB962C8B-B14F-4D97-AF65-F5344CB8AC3E}">
        <p14:creationId xmlns:p14="http://schemas.microsoft.com/office/powerpoint/2010/main" val="2245242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50B85-14C4-AA3C-614A-F0FAEB83E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5F81B9-F71A-F1CA-9B18-867B5114A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專案後續精進規劃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4559A1D-B82B-8577-7364-56C8C4F759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9AC1E2E-F883-E124-0418-3EFEC0B8B2C7}"/>
              </a:ext>
            </a:extLst>
          </p:cNvPr>
          <p:cNvSpPr txBox="1"/>
          <p:nvPr/>
        </p:nvSpPr>
        <p:spPr>
          <a:xfrm>
            <a:off x="0" y="46039"/>
            <a:ext cx="3250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Step 4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：</a:t>
            </a:r>
            <a:r>
              <a:rPr lang="zh-TW" altLang="en-US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結論與後續工作規劃</a:t>
            </a:r>
            <a:endParaRPr lang="zh-TW" altLang="en-US" sz="1800" b="1" dirty="0">
              <a:solidFill>
                <a:srgbClr val="0000CC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AA36CD18-8FCF-A8D1-D77D-B56DD7B120C9}"/>
              </a:ext>
            </a:extLst>
          </p:cNvPr>
          <p:cNvGrpSpPr/>
          <p:nvPr/>
        </p:nvGrpSpPr>
        <p:grpSpPr>
          <a:xfrm>
            <a:off x="170894" y="2084043"/>
            <a:ext cx="11900454" cy="4091968"/>
            <a:chOff x="170894" y="2084043"/>
            <a:chExt cx="11900454" cy="4091968"/>
          </a:xfrm>
        </p:grpSpPr>
        <p:cxnSp>
          <p:nvCxnSpPr>
            <p:cNvPr id="7" name="直線接點 6">
              <a:extLst>
                <a:ext uri="{FF2B5EF4-FFF2-40B4-BE49-F238E27FC236}">
                  <a16:creationId xmlns:a16="http://schemas.microsoft.com/office/drawing/2014/main" id="{41DD5E25-BB0E-2A37-EB47-1E840EA560EA}"/>
                </a:ext>
              </a:extLst>
            </p:cNvPr>
            <p:cNvCxnSpPr>
              <a:cxnSpLocks/>
            </p:cNvCxnSpPr>
            <p:nvPr/>
          </p:nvCxnSpPr>
          <p:spPr>
            <a:xfrm>
              <a:off x="3887875" y="2084043"/>
              <a:ext cx="0" cy="4091968"/>
            </a:xfrm>
            <a:prstGeom prst="line">
              <a:avLst/>
            </a:prstGeom>
            <a:ln w="19050">
              <a:solidFill>
                <a:srgbClr val="266678">
                  <a:alpha val="60000"/>
                </a:srgb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線接點 7">
              <a:extLst>
                <a:ext uri="{FF2B5EF4-FFF2-40B4-BE49-F238E27FC236}">
                  <a16:creationId xmlns:a16="http://schemas.microsoft.com/office/drawing/2014/main" id="{AFF19F3C-59E7-63B4-0B85-D927E97A2564}"/>
                </a:ext>
              </a:extLst>
            </p:cNvPr>
            <p:cNvCxnSpPr>
              <a:cxnSpLocks/>
            </p:cNvCxnSpPr>
            <p:nvPr/>
          </p:nvCxnSpPr>
          <p:spPr>
            <a:xfrm>
              <a:off x="7720360" y="2084043"/>
              <a:ext cx="0" cy="4091965"/>
            </a:xfrm>
            <a:prstGeom prst="line">
              <a:avLst/>
            </a:prstGeom>
            <a:ln w="19050">
              <a:solidFill>
                <a:srgbClr val="266678">
                  <a:alpha val="60000"/>
                </a:srgb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B4D916DD-7A81-0440-4B61-3EB6CD1A362A}"/>
                </a:ext>
              </a:extLst>
            </p:cNvPr>
            <p:cNvSpPr/>
            <p:nvPr/>
          </p:nvSpPr>
          <p:spPr>
            <a:xfrm>
              <a:off x="268288" y="2084045"/>
              <a:ext cx="3426062" cy="464559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b="1" dirty="0">
                  <a:solidFill>
                    <a:schemeClr val="bg1"/>
                  </a:solidFill>
                  <a:latin typeface="+mj-lt"/>
                  <a:ea typeface="微軟正黑體" panose="020B0604030504040204" pitchFamily="34" charset="-120"/>
                </a:rPr>
                <a:t>模型狀態</a:t>
              </a:r>
            </a:p>
          </p:txBody>
        </p:sp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D7F14469-2411-E72B-C851-5A4F07C36BA7}"/>
                </a:ext>
              </a:extLst>
            </p:cNvPr>
            <p:cNvSpPr/>
            <p:nvPr/>
          </p:nvSpPr>
          <p:spPr>
            <a:xfrm>
              <a:off x="170894" y="2721611"/>
              <a:ext cx="3523456" cy="3454399"/>
            </a:xfrm>
            <a:prstGeom prst="roundRect">
              <a:avLst>
                <a:gd name="adj" fmla="val 6868"/>
              </a:avLst>
            </a:prstGeom>
            <a:solidFill>
              <a:srgbClr val="31859C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b="1" dirty="0">
                  <a:solidFill>
                    <a:srgbClr val="31859C"/>
                  </a:solidFill>
                  <a:latin typeface="+mj-lt"/>
                  <a:ea typeface="微軟正黑體" panose="020B0604030504040204" pitchFamily="34" charset="-120"/>
                </a:rPr>
                <a:t>已完成：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zh-TW" altLang="en-US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歷史資料訓練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zh-TW" altLang="en-US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製程改善方向判斷</a:t>
              </a:r>
              <a:endParaRPr lang="en-US" altLang="zh-TW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endParaRPr>
            </a:p>
            <a:p>
              <a:pPr marL="342900" indent="-342900">
                <a:buFont typeface="+mj-lt"/>
                <a:buAutoNum type="arabicPeriod"/>
              </a:pPr>
              <a:endParaRPr lang="zh-TW" altLang="en-US" b="1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endParaRPr>
            </a:p>
            <a:p>
              <a:r>
                <a:rPr lang="zh-TW" altLang="en-US" b="1" dirty="0">
                  <a:solidFill>
                    <a:srgbClr val="31859C"/>
                  </a:solidFill>
                  <a:latin typeface="+mj-lt"/>
                  <a:ea typeface="微軟正黑體" panose="020B0604030504040204" pitchFamily="34" charset="-120"/>
                </a:rPr>
                <a:t>已發生：</a:t>
              </a:r>
              <a:endParaRPr lang="en-US" altLang="zh-TW" b="1" dirty="0">
                <a:solidFill>
                  <a:srgbClr val="31859C"/>
                </a:solidFill>
                <a:latin typeface="+mj-lt"/>
                <a:ea typeface="微軟正黑體" panose="020B0604030504040204" pitchFamily="34" charset="-120"/>
              </a:endParaRPr>
            </a:p>
            <a:p>
              <a:pPr marL="342900" indent="-342900">
                <a:buFont typeface="+mj-lt"/>
                <a:buAutoNum type="arabicPeriod"/>
              </a:pPr>
              <a:r>
                <a:rPr lang="zh-TW" altLang="en-US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縮短問題定位時間 </a:t>
              </a:r>
              <a:endParaRPr lang="en-US" altLang="zh-TW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endParaRPr>
            </a:p>
            <a:p>
              <a:pPr marL="342900" indent="-342900">
                <a:buFont typeface="+mj-lt"/>
                <a:buAutoNum type="arabicPeriod"/>
              </a:pPr>
              <a:r>
                <a:rPr lang="zh-TW" altLang="en-US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降低問題層別與交互確認的分析時間</a:t>
              </a:r>
              <a:endParaRPr lang="en-US" altLang="zh-TW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endParaRPr>
            </a:p>
            <a:p>
              <a:pPr marL="342900" indent="-342900">
                <a:buFont typeface="+mj-lt"/>
                <a:buAutoNum type="arabicPeriod"/>
              </a:pPr>
              <a:r>
                <a:rPr lang="zh-TW" altLang="en-US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模型提供「因子優先順序」</a:t>
              </a:r>
              <a:endParaRPr lang="en-US" altLang="zh-TW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endParaRPr>
            </a:p>
            <a:p>
              <a:pPr marL="342900" indent="-342900">
                <a:buFont typeface="+mj-lt"/>
                <a:buAutoNum type="arabicPeriod"/>
              </a:pPr>
              <a:endParaRPr lang="en-US" altLang="zh-TW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endParaRPr>
            </a:p>
            <a:p>
              <a:pPr marL="342900" indent="-342900">
                <a:buFont typeface="+mj-lt"/>
                <a:buAutoNum type="arabicPeriod"/>
              </a:pPr>
              <a:endParaRPr lang="en-US" altLang="zh-TW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endParaRPr>
            </a:p>
            <a:p>
              <a:pPr marL="342900" indent="-342900">
                <a:buFont typeface="+mj-lt"/>
                <a:buAutoNum type="arabicPeriod"/>
              </a:pPr>
              <a:endParaRPr lang="en-US" altLang="zh-TW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endParaRPr>
            </a:p>
            <a:p>
              <a:pPr marL="342900" indent="-342900">
                <a:buFont typeface="+mj-lt"/>
                <a:buAutoNum type="arabicPeriod"/>
              </a:pPr>
              <a:endParaRPr lang="zh-TW" altLang="en-US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endParaRPr>
            </a:p>
          </p:txBody>
        </p:sp>
        <p:sp>
          <p:nvSpPr>
            <p:cNvPr id="11" name="矩形: 圓角 10">
              <a:extLst>
                <a:ext uri="{FF2B5EF4-FFF2-40B4-BE49-F238E27FC236}">
                  <a16:creationId xmlns:a16="http://schemas.microsoft.com/office/drawing/2014/main" id="{B55DF122-39C4-F490-A9A7-E42DF58CC65B}"/>
                </a:ext>
              </a:extLst>
            </p:cNvPr>
            <p:cNvSpPr/>
            <p:nvPr/>
          </p:nvSpPr>
          <p:spPr>
            <a:xfrm>
              <a:off x="4081400" y="2084044"/>
              <a:ext cx="3523455" cy="464559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b="1" dirty="0">
                  <a:solidFill>
                    <a:schemeClr val="bg1"/>
                  </a:solidFill>
                  <a:latin typeface="+mj-lt"/>
                  <a:ea typeface="微軟正黑體" panose="020B0604030504040204" pitchFamily="34" charset="-120"/>
                </a:rPr>
                <a:t>可持續優化</a:t>
              </a:r>
            </a:p>
          </p:txBody>
        </p:sp>
        <p:sp>
          <p:nvSpPr>
            <p:cNvPr id="12" name="矩形: 圓角 11">
              <a:extLst>
                <a:ext uri="{FF2B5EF4-FFF2-40B4-BE49-F238E27FC236}">
                  <a16:creationId xmlns:a16="http://schemas.microsoft.com/office/drawing/2014/main" id="{295C1495-F9E8-AB1A-CF02-55E160054EBA}"/>
                </a:ext>
              </a:extLst>
            </p:cNvPr>
            <p:cNvSpPr/>
            <p:nvPr/>
          </p:nvSpPr>
          <p:spPr>
            <a:xfrm>
              <a:off x="4081401" y="2721612"/>
              <a:ext cx="3523456" cy="3454398"/>
            </a:xfrm>
            <a:prstGeom prst="roundRect">
              <a:avLst>
                <a:gd name="adj" fmla="val 7079"/>
              </a:avLst>
            </a:prstGeom>
            <a:solidFill>
              <a:srgbClr val="31859C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>
                <a:buFont typeface="+mj-lt"/>
                <a:buAutoNum type="arabicPeriod"/>
              </a:pPr>
              <a:r>
                <a:rPr lang="zh-TW" altLang="en-US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轉化機台因子為使用到的</a:t>
              </a:r>
              <a:r>
                <a:rPr lang="en-US" altLang="zh-TW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WPG Yield (Mean)</a:t>
              </a:r>
            </a:p>
            <a:p>
              <a:pPr marL="342900" indent="-342900">
                <a:buFont typeface="+mj-lt"/>
                <a:buAutoNum type="arabicPeriod"/>
              </a:pPr>
              <a:endParaRPr lang="en-US" altLang="zh-TW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endParaRPr>
            </a:p>
            <a:p>
              <a:pPr marL="342900" indent="-342900">
                <a:buFont typeface="+mj-lt"/>
                <a:buAutoNum type="arabicPeriod"/>
              </a:pPr>
              <a:endParaRPr lang="en-US" altLang="zh-TW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endParaRPr>
            </a:p>
            <a:p>
              <a:pPr marL="342900" indent="-342900">
                <a:buFont typeface="+mj-lt"/>
                <a:buAutoNum type="arabicPeriod"/>
              </a:pPr>
              <a:r>
                <a:rPr lang="zh-TW" altLang="en-US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分化 </a:t>
              </a:r>
              <a:r>
                <a:rPr lang="en-US" altLang="zh-TW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Core</a:t>
              </a:r>
              <a:r>
                <a:rPr lang="zh-TW" altLang="en-US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材 建立 </a:t>
              </a:r>
              <a:r>
                <a:rPr lang="en-US" altLang="zh-TW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models</a:t>
              </a:r>
            </a:p>
            <a:p>
              <a:r>
                <a:rPr lang="en-US" altLang="zh-TW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(ex. EU11568M  -&gt; E</a:t>
              </a:r>
              <a:r>
                <a:rPr lang="en-US" altLang="zh-TW" sz="1600" dirty="0">
                  <a:solidFill>
                    <a:schemeClr val="accent2"/>
                  </a:solidFill>
                  <a:latin typeface="+mj-lt"/>
                  <a:ea typeface="微軟正黑體" panose="020B0604030504040204" pitchFamily="34" charset="-120"/>
                </a:rPr>
                <a:t>|</a:t>
              </a:r>
              <a:r>
                <a:rPr lang="en-US" altLang="zh-TW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U</a:t>
              </a:r>
              <a:r>
                <a:rPr lang="en-US" altLang="zh-TW" sz="1600" dirty="0">
                  <a:solidFill>
                    <a:schemeClr val="accent2"/>
                  </a:solidFill>
                  <a:latin typeface="+mj-lt"/>
                  <a:ea typeface="微軟正黑體" panose="020B0604030504040204" pitchFamily="34" charset="-120"/>
                </a:rPr>
                <a:t>|</a:t>
              </a:r>
              <a:r>
                <a:rPr lang="en-US" altLang="zh-TW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11</a:t>
              </a:r>
              <a:r>
                <a:rPr lang="en-US" altLang="zh-TW" sz="1600" dirty="0">
                  <a:solidFill>
                    <a:schemeClr val="accent2"/>
                  </a:solidFill>
                  <a:latin typeface="+mj-lt"/>
                  <a:ea typeface="微軟正黑體" panose="020B0604030504040204" pitchFamily="34" charset="-120"/>
                </a:rPr>
                <a:t>|</a:t>
              </a:r>
              <a:r>
                <a:rPr lang="en-US" altLang="zh-TW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5</a:t>
              </a:r>
              <a:r>
                <a:rPr lang="en-US" altLang="zh-TW" sz="1600" dirty="0">
                  <a:solidFill>
                    <a:schemeClr val="accent2"/>
                  </a:solidFill>
                  <a:latin typeface="+mj-lt"/>
                  <a:ea typeface="微軟正黑體" panose="020B0604030504040204" pitchFamily="34" charset="-120"/>
                </a:rPr>
                <a:t>|</a:t>
              </a:r>
              <a:r>
                <a:rPr lang="en-US" altLang="zh-TW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68</a:t>
              </a:r>
              <a:r>
                <a:rPr lang="en-US" altLang="zh-TW" sz="1600" dirty="0">
                  <a:solidFill>
                    <a:schemeClr val="accent2"/>
                  </a:solidFill>
                  <a:latin typeface="+mj-lt"/>
                  <a:ea typeface="微軟正黑體" panose="020B0604030504040204" pitchFamily="34" charset="-120"/>
                </a:rPr>
                <a:t>|</a:t>
              </a:r>
              <a:r>
                <a:rPr lang="en-US" altLang="zh-TW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M)</a:t>
              </a:r>
            </a:p>
            <a:p>
              <a:r>
                <a:rPr lang="en-US" altLang="zh-TW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(</a:t>
              </a:r>
              <a:r>
                <a:rPr lang="zh-TW" altLang="en-US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製造月份</a:t>
              </a:r>
              <a:r>
                <a:rPr lang="en-US" altLang="zh-TW" sz="1600" dirty="0">
                  <a:solidFill>
                    <a:schemeClr val="accent2"/>
                  </a:solidFill>
                  <a:latin typeface="+mj-lt"/>
                  <a:ea typeface="微軟正黑體" panose="020B0604030504040204" pitchFamily="34" charset="-120"/>
                </a:rPr>
                <a:t>|</a:t>
              </a:r>
              <a:r>
                <a:rPr lang="en-US" altLang="zh-TW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PP</a:t>
              </a:r>
              <a:r>
                <a:rPr lang="en-US" altLang="zh-TW" sz="1600" dirty="0">
                  <a:solidFill>
                    <a:schemeClr val="accent2"/>
                  </a:solidFill>
                  <a:latin typeface="+mj-lt"/>
                  <a:ea typeface="微軟正黑體" panose="020B0604030504040204" pitchFamily="34" charset="-120"/>
                </a:rPr>
                <a:t>|</a:t>
              </a:r>
              <a:r>
                <a:rPr lang="zh-TW" altLang="en-US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機台</a:t>
              </a:r>
              <a:r>
                <a:rPr lang="en-US" altLang="zh-TW" sz="1600" dirty="0">
                  <a:solidFill>
                    <a:schemeClr val="accent2"/>
                  </a:solidFill>
                  <a:ea typeface="微軟正黑體" panose="020B0604030504040204" pitchFamily="34" charset="-120"/>
                </a:rPr>
                <a:t>|</a:t>
              </a:r>
              <a:r>
                <a:rPr lang="zh-TW" altLang="en-US" sz="1600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流水號</a:t>
              </a:r>
              <a:r>
                <a:rPr lang="en-US" altLang="zh-TW" sz="1600" dirty="0">
                  <a:solidFill>
                    <a:schemeClr val="accent2"/>
                  </a:solidFill>
                  <a:latin typeface="+mj-lt"/>
                  <a:ea typeface="微軟正黑體" panose="020B0604030504040204" pitchFamily="34" charset="-120"/>
                </a:rPr>
                <a:t>|</a:t>
              </a:r>
              <a:r>
                <a:rPr lang="zh-TW" altLang="en-US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供應商</a:t>
              </a:r>
              <a:r>
                <a:rPr lang="en-US" altLang="zh-TW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)</a:t>
              </a:r>
            </a:p>
            <a:p>
              <a:endParaRPr lang="en-US" altLang="zh-TW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endParaRPr>
            </a:p>
            <a:p>
              <a:endParaRPr lang="en-US" altLang="zh-TW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endParaRPr>
            </a:p>
            <a:p>
              <a:endParaRPr lang="en-US" altLang="zh-TW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endParaRPr>
            </a:p>
            <a:p>
              <a:endParaRPr lang="en-US" altLang="zh-TW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endParaRPr>
            </a:p>
            <a:p>
              <a:endParaRPr lang="en-US" altLang="zh-TW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endParaRPr>
            </a:p>
            <a:p>
              <a:endParaRPr lang="en-US" altLang="zh-TW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endParaRPr>
            </a:p>
          </p:txBody>
        </p:sp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02FCB3AC-9F69-5B97-5A7F-AFA50B5595E2}"/>
                </a:ext>
              </a:extLst>
            </p:cNvPr>
            <p:cNvSpPr/>
            <p:nvPr/>
          </p:nvSpPr>
          <p:spPr>
            <a:xfrm>
              <a:off x="7841924" y="2084043"/>
              <a:ext cx="4229424" cy="464559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b="1" dirty="0">
                  <a:solidFill>
                    <a:schemeClr val="bg1"/>
                  </a:solidFill>
                  <a:latin typeface="+mj-lt"/>
                  <a:ea typeface="微軟正黑體" panose="020B0604030504040204" pitchFamily="34" charset="-120"/>
                </a:rPr>
                <a:t>專案精進計畫</a:t>
              </a:r>
            </a:p>
          </p:txBody>
        </p:sp>
        <p:sp>
          <p:nvSpPr>
            <p:cNvPr id="14" name="矩形: 圓角 13">
              <a:extLst>
                <a:ext uri="{FF2B5EF4-FFF2-40B4-BE49-F238E27FC236}">
                  <a16:creationId xmlns:a16="http://schemas.microsoft.com/office/drawing/2014/main" id="{28651746-994E-632C-B66E-F0B655693B61}"/>
                </a:ext>
              </a:extLst>
            </p:cNvPr>
            <p:cNvSpPr/>
            <p:nvPr/>
          </p:nvSpPr>
          <p:spPr>
            <a:xfrm>
              <a:off x="7841924" y="2721611"/>
              <a:ext cx="4229424" cy="3454397"/>
            </a:xfrm>
            <a:prstGeom prst="roundRect">
              <a:avLst>
                <a:gd name="adj" fmla="val 6961"/>
              </a:avLst>
            </a:prstGeom>
            <a:solidFill>
              <a:srgbClr val="31859C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t"/>
              <a:r>
                <a:rPr lang="en-US" altLang="zh-TW" b="1" dirty="0">
                  <a:solidFill>
                    <a:srgbClr val="31859C"/>
                  </a:solidFill>
                  <a:latin typeface="+mj-lt"/>
                  <a:ea typeface="微軟正黑體" panose="020B0604030504040204" pitchFamily="34" charset="-120"/>
                </a:rPr>
                <a:t>Core </a:t>
              </a:r>
              <a:r>
                <a:rPr lang="zh-TW" altLang="en-US" b="1" dirty="0">
                  <a:solidFill>
                    <a:srgbClr val="31859C"/>
                  </a:solidFill>
                  <a:latin typeface="+mj-lt"/>
                  <a:ea typeface="微軟正黑體" panose="020B0604030504040204" pitchFamily="34" charset="-120"/>
                </a:rPr>
                <a:t>來料的整板面量測資訊</a:t>
              </a:r>
              <a:endParaRPr lang="en-US" altLang="zh-TW" b="1" dirty="0">
                <a:solidFill>
                  <a:srgbClr val="31859C"/>
                </a:solidFill>
                <a:latin typeface="+mj-lt"/>
                <a:ea typeface="微軟正黑體" panose="020B0604030504040204" pitchFamily="34" charset="-120"/>
              </a:endParaRPr>
            </a:p>
            <a:p>
              <a:pPr fontAlgn="t"/>
              <a:endParaRPr lang="en-US" altLang="zh-TW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endParaRPr>
            </a:p>
            <a:p>
              <a:pPr marL="285750" indent="-285750" fontAlgn="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TW" altLang="en-US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板內厚度均勻性指標 </a:t>
              </a:r>
              <a:r>
                <a:rPr lang="en-US" altLang="zh-TW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(R</a:t>
              </a:r>
              <a:r>
                <a:rPr lang="zh-TW" altLang="en-US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值等</a:t>
              </a:r>
              <a:r>
                <a:rPr lang="en-US" altLang="zh-TW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)</a:t>
              </a:r>
            </a:p>
            <a:p>
              <a:pPr marL="285750" indent="-285750" fontAlgn="t">
                <a:buFont typeface="Wingdings" panose="05000000000000000000" pitchFamily="2" charset="2"/>
                <a:buChar char="l"/>
              </a:pPr>
              <a:r>
                <a:rPr lang="zh-TW" altLang="en-US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未使用原因： 層別的</a:t>
              </a:r>
              <a:r>
                <a:rPr lang="en-US" altLang="zh-TW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Level</a:t>
              </a:r>
              <a:r>
                <a:rPr lang="zh-TW" altLang="en-US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，當前 </a:t>
              </a:r>
              <a:r>
                <a:rPr lang="en-US" altLang="zh-TW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model result</a:t>
              </a:r>
              <a:r>
                <a:rPr lang="zh-TW" altLang="en-US" sz="1600" dirty="0">
                  <a:solidFill>
                    <a:schemeClr val="tx1"/>
                  </a:solidFill>
                  <a:latin typeface="+mj-lt"/>
                  <a:ea typeface="微軟正黑體" panose="020B0604030504040204" pitchFamily="34" charset="-120"/>
                </a:rPr>
                <a:t> 方向指出需要收斂到該程度</a:t>
              </a:r>
              <a:endParaRPr lang="en-US" altLang="zh-TW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endParaRPr>
            </a:p>
            <a:p>
              <a:pPr fontAlgn="t"/>
              <a:endParaRPr lang="en-US" altLang="zh-TW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endParaRPr>
            </a:p>
            <a:p>
              <a:pPr fontAlgn="t"/>
              <a:r>
                <a:rPr lang="en-US" altLang="zh-TW" b="1" dirty="0">
                  <a:solidFill>
                    <a:srgbClr val="31859C"/>
                  </a:solidFill>
                  <a:ea typeface="微軟正黑體" panose="020B0604030504040204" pitchFamily="34" charset="-120"/>
                </a:rPr>
                <a:t>OST</a:t>
              </a:r>
              <a:r>
                <a:rPr lang="zh-TW" altLang="en-US" b="1" dirty="0">
                  <a:solidFill>
                    <a:srgbClr val="31859C"/>
                  </a:solidFill>
                  <a:ea typeface="微軟正黑體" panose="020B0604030504040204" pitchFamily="34" charset="-120"/>
                </a:rPr>
                <a:t>依照</a:t>
              </a:r>
              <a:r>
                <a:rPr lang="en-US" altLang="zh-TW" b="1" dirty="0">
                  <a:solidFill>
                    <a:srgbClr val="31859C"/>
                  </a:solidFill>
                  <a:ea typeface="微軟正黑體" panose="020B0604030504040204" pitchFamily="34" charset="-120"/>
                </a:rPr>
                <a:t>WPG</a:t>
              </a:r>
              <a:r>
                <a:rPr lang="zh-TW" altLang="en-US" b="1" dirty="0">
                  <a:solidFill>
                    <a:srgbClr val="31859C"/>
                  </a:solidFill>
                  <a:ea typeface="微軟正黑體" panose="020B0604030504040204" pitchFamily="34" charset="-120"/>
                </a:rPr>
                <a:t>方式建構模型</a:t>
              </a:r>
              <a:endParaRPr lang="en-US" altLang="zh-TW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endParaRPr>
            </a:p>
            <a:p>
              <a:pPr fontAlgn="t"/>
              <a:endParaRPr lang="en-US" altLang="zh-TW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endParaRPr>
            </a:p>
            <a:p>
              <a:pPr marL="285750" indent="-285750" fontAlgn="t">
                <a:buFont typeface="Wingdings" panose="05000000000000000000" pitchFamily="2" charset="2"/>
                <a:buChar char="l"/>
              </a:pPr>
              <a:endParaRPr lang="en-US" altLang="zh-TW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endParaRPr>
            </a:p>
            <a:p>
              <a:pPr marL="285750" indent="-285750" fontAlgn="t">
                <a:buFont typeface="Wingdings" panose="05000000000000000000" pitchFamily="2" charset="2"/>
                <a:buChar char="l"/>
              </a:pPr>
              <a:endParaRPr lang="en-US" altLang="zh-TW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endParaRPr>
            </a:p>
            <a:p>
              <a:pPr marL="285750" indent="-285750" fontAlgn="t">
                <a:buFont typeface="Wingdings" panose="05000000000000000000" pitchFamily="2" charset="2"/>
                <a:buChar char="l"/>
              </a:pPr>
              <a:endParaRPr lang="en-US" altLang="zh-TW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endParaRPr>
            </a:p>
            <a:p>
              <a:pPr marL="285750" indent="-285750" fontAlgn="t">
                <a:buFont typeface="Wingdings" panose="05000000000000000000" pitchFamily="2" charset="2"/>
                <a:buChar char="l"/>
              </a:pPr>
              <a:endParaRPr lang="en-US" altLang="zh-TW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endParaRPr>
            </a:p>
            <a:p>
              <a:pPr marL="285750" indent="-285750" fontAlgn="t">
                <a:buFont typeface="Wingdings" panose="05000000000000000000" pitchFamily="2" charset="2"/>
                <a:buChar char="l"/>
              </a:pPr>
              <a:endParaRPr lang="zh-TW" altLang="en-US" sz="1600" dirty="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</a:endParaRPr>
            </a:p>
          </p:txBody>
        </p:sp>
      </p:grp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C767EBB-3CD5-BA29-30C6-B63C34A430E4}"/>
              </a:ext>
            </a:extLst>
          </p:cNvPr>
          <p:cNvSpPr txBox="1"/>
          <p:nvPr/>
        </p:nvSpPr>
        <p:spPr>
          <a:xfrm>
            <a:off x="59364" y="937712"/>
            <a:ext cx="12132636" cy="92333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r>
              <a:rPr lang="zh-TW" altLang="en-US" b="1" dirty="0">
                <a:latin typeface="+mj-lt"/>
                <a:ea typeface="微軟正黑體" panose="020B0604030504040204" pitchFamily="34" charset="-120"/>
              </a:rPr>
              <a:t>目前：模型已成功協助辨識影響 </a:t>
            </a:r>
            <a:r>
              <a:rPr lang="en-US" altLang="zh-TW" b="1" dirty="0">
                <a:latin typeface="+mj-lt"/>
                <a:ea typeface="微軟正黑體" panose="020B0604030504040204" pitchFamily="34" charset="-120"/>
              </a:rPr>
              <a:t>WPG Yield </a:t>
            </a:r>
            <a:r>
              <a:rPr lang="zh-TW" altLang="en-US" b="1" dirty="0">
                <a:latin typeface="+mj-lt"/>
                <a:ea typeface="微軟正黑體" panose="020B0604030504040204" pitchFamily="34" charset="-120"/>
              </a:rPr>
              <a:t>的關鍵主因，已可減少分析時間</a:t>
            </a:r>
            <a:r>
              <a:rPr lang="en-US" altLang="zh-TW" b="1" dirty="0">
                <a:latin typeface="+mj-lt"/>
                <a:ea typeface="微軟正黑體" panose="020B0604030504040204" pitchFamily="34" charset="-120"/>
              </a:rPr>
              <a:t>40min</a:t>
            </a:r>
            <a:r>
              <a:rPr lang="zh-TW" altLang="en-US" b="1" dirty="0">
                <a:latin typeface="+mj-lt"/>
                <a:ea typeface="微軟正黑體" panose="020B0604030504040204" pitchFamily="34" charset="-120"/>
              </a:rPr>
              <a:t> </a:t>
            </a:r>
            <a:r>
              <a:rPr lang="en-US" altLang="zh-TW" b="1" dirty="0">
                <a:latin typeface="+mj-lt"/>
                <a:ea typeface="微軟正黑體" panose="020B0604030504040204" pitchFamily="34" charset="-120"/>
              </a:rPr>
              <a:t>(</a:t>
            </a:r>
            <a:r>
              <a:rPr lang="zh-TW" altLang="en-US" b="1" dirty="0">
                <a:latin typeface="+mj-lt"/>
                <a:ea typeface="微軟正黑體" panose="020B0604030504040204" pitchFamily="34" charset="-120"/>
              </a:rPr>
              <a:t>專案達成率</a:t>
            </a:r>
            <a:r>
              <a:rPr lang="en-US" altLang="zh-TW" b="1" dirty="0">
                <a:latin typeface="+mj-lt"/>
                <a:ea typeface="微軟正黑體" panose="020B0604030504040204" pitchFamily="34" charset="-120"/>
              </a:rPr>
              <a:t>67%)</a:t>
            </a:r>
          </a:p>
          <a:p>
            <a:endParaRPr lang="en-US" altLang="zh-TW" b="1" dirty="0">
              <a:latin typeface="+mj-lt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+mj-lt"/>
                <a:ea typeface="微軟正黑體" panose="020B0604030504040204" pitchFamily="34" charset="-120"/>
              </a:rPr>
              <a:t>後續：精細來料資訊與分群模型策略，逐步將模型由「解釋工具」轉化為「改善與決策輔助工具」</a:t>
            </a:r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43FC3F9B-B3CE-128B-2B64-74D88E535783}"/>
              </a:ext>
            </a:extLst>
          </p:cNvPr>
          <p:cNvCxnSpPr>
            <a:cxnSpLocks/>
          </p:cNvCxnSpPr>
          <p:nvPr/>
        </p:nvCxnSpPr>
        <p:spPr>
          <a:xfrm flipH="1">
            <a:off x="7945120" y="3185160"/>
            <a:ext cx="4003040" cy="0"/>
          </a:xfrm>
          <a:prstGeom prst="line">
            <a:avLst/>
          </a:prstGeom>
          <a:ln w="19050">
            <a:solidFill>
              <a:srgbClr val="31859C">
                <a:alpha val="25882"/>
              </a:srgb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634CFBB-621B-C21C-AFC7-3FC72329EC6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AA96D2A-866D-4FFE-B5B2-353D64420494}" type="slidenum">
              <a:rPr lang="en-US" smtClean="0"/>
              <a:t>12</a:t>
            </a:fld>
            <a:endParaRPr lang="en-US"/>
          </a:p>
        </p:txBody>
      </p:sp>
      <p:pic>
        <p:nvPicPr>
          <p:cNvPr id="26" name="圖片 25">
            <a:extLst>
              <a:ext uri="{FF2B5EF4-FFF2-40B4-BE49-F238E27FC236}">
                <a16:creationId xmlns:a16="http://schemas.microsoft.com/office/drawing/2014/main" id="{4DBC4DF9-2DD4-7EFE-8656-5B8789FF0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087" y="5225143"/>
            <a:ext cx="3523457" cy="151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550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253517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集團公版簡報母片 (3x4)</Template>
  <TotalTime>1553</TotalTime>
  <Words>2697</Words>
  <Application>Microsoft Office PowerPoint</Application>
  <PresentationFormat>寬螢幕</PresentationFormat>
  <Paragraphs>405</Paragraphs>
  <Slides>13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微軟正黑體</vt:lpstr>
      <vt:lpstr>Aptos</vt:lpstr>
      <vt:lpstr>Arial</vt:lpstr>
      <vt:lpstr>Calibri</vt:lpstr>
      <vt:lpstr>Verdana</vt:lpstr>
      <vt:lpstr>Wingdings</vt:lpstr>
      <vt:lpstr>1_Office 佈景主題</vt:lpstr>
      <vt:lpstr>WPG &amp; OST良率分析</vt:lpstr>
      <vt:lpstr>專案同意書 (Team Charter)</vt:lpstr>
      <vt:lpstr>選題理由</vt:lpstr>
      <vt:lpstr>VOC to CTQ</vt:lpstr>
      <vt:lpstr>SIPOC</vt:lpstr>
      <vt:lpstr>現況把握與目標訂定</vt:lpstr>
      <vt:lpstr>數據來源探索</vt:lpstr>
      <vt:lpstr>資料治理狀況</vt:lpstr>
      <vt:lpstr>模型建立與評估-特徵篩選</vt:lpstr>
      <vt:lpstr>Model Performance – 模型結果</vt:lpstr>
      <vt:lpstr>Model Performance – Shapley analysis</vt:lpstr>
      <vt:lpstr>專案後續精進規劃</vt:lpstr>
      <vt:lpstr>PowerPoint 簡報</vt:lpstr>
    </vt:vector>
  </TitlesOfParts>
  <Company>Unimicron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Justin Chang (張正鼎)</dc:creator>
  <cp:lastModifiedBy>ChiWei Kao (高琦幃)</cp:lastModifiedBy>
  <cp:revision>84</cp:revision>
  <dcterms:created xsi:type="dcterms:W3CDTF">2026-03-06T02:53:10Z</dcterms:created>
  <dcterms:modified xsi:type="dcterms:W3CDTF">2026-04-23T09:49:10Z</dcterms:modified>
</cp:coreProperties>
</file>