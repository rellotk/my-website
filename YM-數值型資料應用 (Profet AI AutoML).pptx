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57" r:id="rId13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224" y="2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584" y="-19050"/>
            <a:ext cx="12213168" cy="689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線接點 4"/>
          <p:cNvCxnSpPr/>
          <p:nvPr/>
        </p:nvCxnSpPr>
        <p:spPr>
          <a:xfrm flipV="1">
            <a:off x="313267" y="3551593"/>
            <a:ext cx="7418917" cy="635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 flipV="1">
            <a:off x="402167" y="3501008"/>
            <a:ext cx="7236884" cy="9525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720421" y="6064512"/>
            <a:ext cx="4855633" cy="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1815671" y="6022975"/>
            <a:ext cx="4671483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1761811" y="4376058"/>
            <a:ext cx="1292" cy="1673121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1815671" y="4441826"/>
            <a:ext cx="0" cy="1584325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" name="副標題 2"/>
          <p:cNvSpPr>
            <a:spLocks noGrp="1"/>
          </p:cNvSpPr>
          <p:nvPr>
            <p:ph type="subTitle" idx="1"/>
          </p:nvPr>
        </p:nvSpPr>
        <p:spPr>
          <a:xfrm>
            <a:off x="2032454" y="4679998"/>
            <a:ext cx="4447589" cy="1197274"/>
          </a:xfrm>
          <a:effectLst>
            <a:glow rad="63500">
              <a:schemeClr val="bg1">
                <a:alpha val="40000"/>
              </a:schemeClr>
            </a:glow>
          </a:effectLst>
        </p:spPr>
        <p:txBody>
          <a:bodyPr>
            <a:normAutofit/>
          </a:bodyPr>
          <a:lstStyle>
            <a:lvl1pPr marL="0" indent="0" algn="l" defTabSz="914400" rtl="0" eaLnBrk="0" latinLnBrk="0" hangingPunct="0">
              <a:lnSpc>
                <a:spcPct val="100000"/>
              </a:lnSpc>
              <a:spcBef>
                <a:spcPts val="300"/>
              </a:spcBef>
              <a:buClr>
                <a:srgbClr val="3333CC"/>
              </a:buClr>
              <a:buSzPct val="75000"/>
              <a:buFont typeface="Wingdings" pitchFamily="2" charset="2"/>
              <a:buNone/>
              <a:defRPr kumimoji="0" lang="zh-TW" altLang="en-US" sz="2000" b="1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itchFamily="34" charset="0"/>
                <a:ea typeface="微軟正黑體" pitchFamily="34" charset="-120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zh-TW" altLang="en-US" dirty="0"/>
          </a:p>
        </p:txBody>
      </p:sp>
      <p:sp>
        <p:nvSpPr>
          <p:cNvPr id="23" name="標題 1"/>
          <p:cNvSpPr>
            <a:spLocks noGrp="1"/>
          </p:cNvSpPr>
          <p:nvPr>
            <p:ph type="ctrTitle"/>
          </p:nvPr>
        </p:nvSpPr>
        <p:spPr>
          <a:xfrm>
            <a:off x="335361" y="2568896"/>
            <a:ext cx="7381401" cy="500065"/>
          </a:xfrm>
        </p:spPr>
        <p:txBody>
          <a:bodyPr>
            <a:noAutofit/>
          </a:bodyPr>
          <a:lstStyle>
            <a:lvl1pPr marL="0" indent="0" algn="ctr">
              <a:defRPr lang="zh-TW" altLang="en-US" sz="40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3760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584" y="-19050"/>
            <a:ext cx="12213168" cy="689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標題 1"/>
          <p:cNvSpPr>
            <a:spLocks noGrp="1"/>
          </p:cNvSpPr>
          <p:nvPr>
            <p:ph type="ctrTitle"/>
          </p:nvPr>
        </p:nvSpPr>
        <p:spPr>
          <a:xfrm>
            <a:off x="335362" y="44624"/>
            <a:ext cx="7396823" cy="720080"/>
          </a:xfrm>
        </p:spPr>
        <p:txBody>
          <a:bodyPr lIns="0" rIns="0"/>
          <a:lstStyle>
            <a:lvl1pPr algn="ctr">
              <a:defRPr lang="zh-TW" altLang="en-US" sz="36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335360" y="1052736"/>
            <a:ext cx="7232651" cy="3887788"/>
          </a:xfrm>
        </p:spPr>
        <p:txBody>
          <a:bodyPr>
            <a:normAutofit/>
          </a:bodyPr>
          <a:lstStyle>
            <a:lvl1pPr>
              <a:defRPr sz="2800">
                <a:solidFill>
                  <a:srgbClr val="002060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cxnSp>
        <p:nvCxnSpPr>
          <p:cNvPr id="12" name="直線接點 11"/>
          <p:cNvCxnSpPr/>
          <p:nvPr/>
        </p:nvCxnSpPr>
        <p:spPr>
          <a:xfrm flipV="1">
            <a:off x="300567" y="811312"/>
            <a:ext cx="7418917" cy="635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V="1">
            <a:off x="402167" y="764705"/>
            <a:ext cx="7236884" cy="9525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35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584" y="-19050"/>
            <a:ext cx="12213168" cy="689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標題 1"/>
          <p:cNvSpPr>
            <a:spLocks noGrp="1"/>
          </p:cNvSpPr>
          <p:nvPr>
            <p:ph type="ctrTitle"/>
          </p:nvPr>
        </p:nvSpPr>
        <p:spPr>
          <a:xfrm>
            <a:off x="335362" y="2828925"/>
            <a:ext cx="7396823" cy="633984"/>
          </a:xfrm>
        </p:spPr>
        <p:txBody>
          <a:bodyPr lIns="0" rIns="0" anchor="ctr"/>
          <a:lstStyle>
            <a:lvl1pPr algn="ctr">
              <a:defRPr lang="zh-TW" altLang="en-US" sz="36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313267" y="3551593"/>
            <a:ext cx="7418917" cy="635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 flipV="1">
            <a:off x="402167" y="3501008"/>
            <a:ext cx="7236884" cy="9525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502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橢圓 5"/>
          <p:cNvSpPr/>
          <p:nvPr/>
        </p:nvSpPr>
        <p:spPr>
          <a:xfrm flipH="1">
            <a:off x="10551584" y="6084888"/>
            <a:ext cx="336549" cy="252412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7" name="橢圓 6"/>
          <p:cNvSpPr/>
          <p:nvPr/>
        </p:nvSpPr>
        <p:spPr>
          <a:xfrm flipH="1">
            <a:off x="10202333" y="6184900"/>
            <a:ext cx="239184" cy="17938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390889" y="809698"/>
            <a:ext cx="11391609" cy="698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527052" y="765175"/>
            <a:ext cx="11093449" cy="635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7" name="文字版面配置區 6"/>
          <p:cNvSpPr>
            <a:spLocks noGrp="1"/>
          </p:cNvSpPr>
          <p:nvPr>
            <p:ph type="body" sz="quarter" idx="14"/>
          </p:nvPr>
        </p:nvSpPr>
        <p:spPr>
          <a:xfrm>
            <a:off x="268288" y="6525344"/>
            <a:ext cx="3523456" cy="216024"/>
          </a:xfrm>
        </p:spPr>
        <p:txBody>
          <a:bodyPr lIns="72000" rIns="72000" anchor="ctr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0" name="標題 1"/>
          <p:cNvSpPr>
            <a:spLocks noGrp="1"/>
          </p:cNvSpPr>
          <p:nvPr>
            <p:ph type="title"/>
          </p:nvPr>
        </p:nvSpPr>
        <p:spPr>
          <a:xfrm>
            <a:off x="-30865" y="44625"/>
            <a:ext cx="12222865" cy="720080"/>
          </a:xfrm>
        </p:spPr>
        <p:txBody>
          <a:bodyPr/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zh-TW" altLang="en-US" sz="30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5" name="內容版面配置區 6"/>
          <p:cNvSpPr>
            <a:spLocks noGrp="1"/>
          </p:cNvSpPr>
          <p:nvPr>
            <p:ph sz="quarter" idx="13"/>
          </p:nvPr>
        </p:nvSpPr>
        <p:spPr>
          <a:xfrm>
            <a:off x="393271" y="990600"/>
            <a:ext cx="5515083" cy="5246712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baseline="0"/>
            </a:lvl1pPr>
            <a:lvl2pPr marL="742950" indent="-28575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l"/>
              <a:defRPr sz="2000" baseline="0"/>
            </a:lvl2pPr>
            <a:lvl3pPr>
              <a:lnSpc>
                <a:spcPct val="100000"/>
              </a:lnSpc>
              <a:spcBef>
                <a:spcPts val="600"/>
              </a:spcBef>
              <a:defRPr baseline="0"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6" name="內容版面配置區 6"/>
          <p:cNvSpPr>
            <a:spLocks noGrp="1"/>
          </p:cNvSpPr>
          <p:nvPr>
            <p:ph sz="quarter" idx="15"/>
          </p:nvPr>
        </p:nvSpPr>
        <p:spPr>
          <a:xfrm>
            <a:off x="6245547" y="980729"/>
            <a:ext cx="5515083" cy="5240658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baseline="0"/>
            </a:lvl1pPr>
            <a:lvl2pPr marL="742950" indent="-28575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l"/>
              <a:defRPr sz="2000" baseline="0"/>
            </a:lvl2pPr>
            <a:lvl3pPr>
              <a:lnSpc>
                <a:spcPct val="100000"/>
              </a:lnSpc>
              <a:spcBef>
                <a:spcPts val="600"/>
              </a:spcBef>
              <a:defRPr baseline="0"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" name="投影片編號版面配置區 5"/>
          <p:cNvSpPr>
            <a:spLocks noGrp="1"/>
          </p:cNvSpPr>
          <p:nvPr>
            <p:ph type="sldNum" sz="quarter" idx="16"/>
          </p:nvPr>
        </p:nvSpPr>
        <p:spPr>
          <a:xfrm>
            <a:off x="5519937" y="6361114"/>
            <a:ext cx="1007864" cy="365125"/>
          </a:xfrm>
          <a:prstGeom prst="rect">
            <a:avLst/>
          </a:prstGeom>
        </p:spPr>
        <p:txBody>
          <a:bodyPr anchor="ctr"/>
          <a:lstStyle>
            <a:lvl1pPr marL="0" algn="ctr" defTabSz="914400" rtl="0" eaLnBrk="1" latinLnBrk="0" hangingPunct="1">
              <a:defRPr lang="zh-TW" altLang="en-US" sz="1400" b="1" kern="1200" smtClean="0">
                <a:ln>
                  <a:solidFill>
                    <a:srgbClr val="1F497D">
                      <a:lumMod val="20000"/>
                      <a:lumOff val="80000"/>
                    </a:srgbClr>
                  </a:solidFill>
                </a:ln>
                <a:solidFill>
                  <a:prstClr val="white"/>
                </a:solidFill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  <a:latin typeface="+mj-lt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fld id="{EAA96D2A-866D-4FFE-B5B2-353D64420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921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橢圓 4"/>
          <p:cNvSpPr/>
          <p:nvPr/>
        </p:nvSpPr>
        <p:spPr>
          <a:xfrm flipH="1">
            <a:off x="10551584" y="6084888"/>
            <a:ext cx="336549" cy="252412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6" name="橢圓 5"/>
          <p:cNvSpPr/>
          <p:nvPr/>
        </p:nvSpPr>
        <p:spPr>
          <a:xfrm flipH="1">
            <a:off x="10202333" y="6184900"/>
            <a:ext cx="239184" cy="17938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21" name="標題 1"/>
          <p:cNvSpPr>
            <a:spLocks noGrp="1"/>
          </p:cNvSpPr>
          <p:nvPr>
            <p:ph type="title"/>
          </p:nvPr>
        </p:nvSpPr>
        <p:spPr>
          <a:xfrm>
            <a:off x="-15432" y="44625"/>
            <a:ext cx="12207432" cy="720080"/>
          </a:xfrm>
        </p:spPr>
        <p:txBody>
          <a:bodyPr/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zh-TW" altLang="en-US" sz="30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2" name="文字版面配置區 6"/>
          <p:cNvSpPr>
            <a:spLocks noGrp="1"/>
          </p:cNvSpPr>
          <p:nvPr>
            <p:ph type="body" sz="quarter" idx="14"/>
          </p:nvPr>
        </p:nvSpPr>
        <p:spPr>
          <a:xfrm>
            <a:off x="268288" y="6525344"/>
            <a:ext cx="3523456" cy="216024"/>
          </a:xfrm>
        </p:spPr>
        <p:txBody>
          <a:bodyPr lIns="72000" rIns="72000" anchor="ctr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" name="內容版面配置區 6"/>
          <p:cNvSpPr>
            <a:spLocks noGrp="1"/>
          </p:cNvSpPr>
          <p:nvPr>
            <p:ph sz="quarter" idx="13"/>
          </p:nvPr>
        </p:nvSpPr>
        <p:spPr>
          <a:xfrm>
            <a:off x="388953" y="980728"/>
            <a:ext cx="11363568" cy="5256560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baseline="0"/>
            </a:lvl1pPr>
            <a:lvl2pPr marL="742950" indent="-28575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l"/>
              <a:defRPr sz="2000" baseline="0"/>
            </a:lvl2pPr>
            <a:lvl3pPr>
              <a:lnSpc>
                <a:spcPct val="100000"/>
              </a:lnSpc>
              <a:spcBef>
                <a:spcPts val="600"/>
              </a:spcBef>
              <a:defRPr baseline="0"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2" name="投影片編號版面配置區 5"/>
          <p:cNvSpPr>
            <a:spLocks noGrp="1"/>
          </p:cNvSpPr>
          <p:nvPr>
            <p:ph type="sldNum" sz="quarter" idx="16"/>
          </p:nvPr>
        </p:nvSpPr>
        <p:spPr>
          <a:xfrm>
            <a:off x="5519937" y="6361114"/>
            <a:ext cx="1007864" cy="365125"/>
          </a:xfrm>
          <a:prstGeom prst="rect">
            <a:avLst/>
          </a:prstGeom>
        </p:spPr>
        <p:txBody>
          <a:bodyPr anchor="ctr"/>
          <a:lstStyle>
            <a:lvl1pPr marL="0" algn="ctr" defTabSz="914400" rtl="0" eaLnBrk="1" latinLnBrk="0" hangingPunct="1">
              <a:defRPr lang="zh-TW" altLang="en-US" sz="1400" b="1" kern="1200" smtClean="0">
                <a:ln>
                  <a:solidFill>
                    <a:srgbClr val="1F497D">
                      <a:lumMod val="20000"/>
                      <a:lumOff val="80000"/>
                    </a:srgbClr>
                  </a:solidFill>
                </a:ln>
                <a:solidFill>
                  <a:prstClr val="white"/>
                </a:solidFill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  <a:latin typeface="+mj-lt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fld id="{EAA96D2A-866D-4FFE-B5B2-353D64420494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直線接點 12"/>
          <p:cNvCxnSpPr/>
          <p:nvPr/>
        </p:nvCxnSpPr>
        <p:spPr>
          <a:xfrm>
            <a:off x="390889" y="809698"/>
            <a:ext cx="11391609" cy="698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527052" y="765175"/>
            <a:ext cx="11093449" cy="635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8549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7" name="橢圓 6"/>
          <p:cNvSpPr/>
          <p:nvPr/>
        </p:nvSpPr>
        <p:spPr>
          <a:xfrm flipH="1">
            <a:off x="10551584" y="6084888"/>
            <a:ext cx="336549" cy="252412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8" name="橢圓 7"/>
          <p:cNvSpPr/>
          <p:nvPr/>
        </p:nvSpPr>
        <p:spPr>
          <a:xfrm flipH="1">
            <a:off x="10202333" y="6184900"/>
            <a:ext cx="239184" cy="17938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21" name="標題 1"/>
          <p:cNvSpPr>
            <a:spLocks noGrp="1"/>
          </p:cNvSpPr>
          <p:nvPr>
            <p:ph type="title" hasCustomPrompt="1"/>
          </p:nvPr>
        </p:nvSpPr>
        <p:spPr>
          <a:xfrm>
            <a:off x="-15433" y="44624"/>
            <a:ext cx="12207433" cy="956609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zh-TW" altLang="en-US" sz="30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/>
              <a:t>按一下</a:t>
            </a:r>
            <a:br>
              <a:rPr lang="en-US" altLang="zh-TW" dirty="0"/>
            </a:br>
            <a:r>
              <a:rPr lang="zh-TW" altLang="en-US" dirty="0"/>
              <a:t>以編輯母片標題樣式</a:t>
            </a:r>
          </a:p>
        </p:txBody>
      </p:sp>
      <p:sp>
        <p:nvSpPr>
          <p:cNvPr id="19" name="文字版面配置區 6"/>
          <p:cNvSpPr>
            <a:spLocks noGrp="1"/>
          </p:cNvSpPr>
          <p:nvPr>
            <p:ph type="body" sz="quarter" idx="14"/>
          </p:nvPr>
        </p:nvSpPr>
        <p:spPr>
          <a:xfrm>
            <a:off x="268288" y="6525344"/>
            <a:ext cx="3523456" cy="216024"/>
          </a:xfrm>
        </p:spPr>
        <p:txBody>
          <a:bodyPr lIns="72000" rIns="72000" anchor="ctr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內容版面配置區 6"/>
          <p:cNvSpPr>
            <a:spLocks noGrp="1"/>
          </p:cNvSpPr>
          <p:nvPr>
            <p:ph sz="quarter" idx="13"/>
          </p:nvPr>
        </p:nvSpPr>
        <p:spPr>
          <a:xfrm>
            <a:off x="388953" y="1219140"/>
            <a:ext cx="5579456" cy="5018148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baseline="0"/>
            </a:lvl1pPr>
            <a:lvl2pPr marL="742950" indent="-28575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l"/>
              <a:defRPr sz="2000" baseline="0"/>
            </a:lvl2pPr>
            <a:lvl3pPr>
              <a:lnSpc>
                <a:spcPct val="100000"/>
              </a:lnSpc>
              <a:spcBef>
                <a:spcPts val="600"/>
              </a:spcBef>
              <a:defRPr baseline="0"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20" name="內容版面配置區 6"/>
          <p:cNvSpPr>
            <a:spLocks noGrp="1"/>
          </p:cNvSpPr>
          <p:nvPr>
            <p:ph sz="quarter" idx="15"/>
          </p:nvPr>
        </p:nvSpPr>
        <p:spPr>
          <a:xfrm>
            <a:off x="6149536" y="1219200"/>
            <a:ext cx="5588808" cy="5002186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baseline="0"/>
            </a:lvl1pPr>
            <a:lvl2pPr marL="742950" indent="-28575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l"/>
              <a:defRPr sz="2000" baseline="0"/>
            </a:lvl2pPr>
            <a:lvl3pPr>
              <a:lnSpc>
                <a:spcPct val="100000"/>
              </a:lnSpc>
              <a:spcBef>
                <a:spcPts val="600"/>
              </a:spcBef>
              <a:defRPr baseline="0"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4" name="投影片編號版面配置區 5"/>
          <p:cNvSpPr>
            <a:spLocks noGrp="1"/>
          </p:cNvSpPr>
          <p:nvPr>
            <p:ph type="sldNum" sz="quarter" idx="16"/>
          </p:nvPr>
        </p:nvSpPr>
        <p:spPr>
          <a:xfrm>
            <a:off x="5519937" y="6361114"/>
            <a:ext cx="1007864" cy="365125"/>
          </a:xfrm>
          <a:prstGeom prst="rect">
            <a:avLst/>
          </a:prstGeom>
        </p:spPr>
        <p:txBody>
          <a:bodyPr anchor="ctr"/>
          <a:lstStyle>
            <a:lvl1pPr marL="0" algn="ctr" defTabSz="914400" rtl="0" eaLnBrk="1" latinLnBrk="0" hangingPunct="1">
              <a:defRPr lang="zh-TW" altLang="en-US" sz="1400" b="1" kern="1200" smtClean="0">
                <a:ln>
                  <a:solidFill>
                    <a:srgbClr val="1F497D">
                      <a:lumMod val="20000"/>
                      <a:lumOff val="80000"/>
                    </a:srgbClr>
                  </a:solidFill>
                </a:ln>
                <a:solidFill>
                  <a:prstClr val="white"/>
                </a:solidFill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  <a:latin typeface="+mj-lt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fld id="{EAA96D2A-866D-4FFE-B5B2-353D6442049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直線接點 14"/>
          <p:cNvCxnSpPr/>
          <p:nvPr/>
        </p:nvCxnSpPr>
        <p:spPr>
          <a:xfrm>
            <a:off x="390889" y="1045756"/>
            <a:ext cx="11391609" cy="698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527052" y="1001233"/>
            <a:ext cx="11093449" cy="635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304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橢圓 4"/>
          <p:cNvSpPr/>
          <p:nvPr/>
        </p:nvSpPr>
        <p:spPr>
          <a:xfrm flipH="1">
            <a:off x="10551584" y="6084888"/>
            <a:ext cx="336549" cy="252412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6" name="橢圓 5"/>
          <p:cNvSpPr/>
          <p:nvPr/>
        </p:nvSpPr>
        <p:spPr>
          <a:xfrm flipH="1">
            <a:off x="10202333" y="6184900"/>
            <a:ext cx="239184" cy="17938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15" name="標題 1"/>
          <p:cNvSpPr>
            <a:spLocks noGrp="1"/>
          </p:cNvSpPr>
          <p:nvPr>
            <p:ph type="title" hasCustomPrompt="1"/>
          </p:nvPr>
        </p:nvSpPr>
        <p:spPr>
          <a:xfrm>
            <a:off x="-15433" y="44624"/>
            <a:ext cx="12207433" cy="956609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zh-TW" altLang="en-US" sz="30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/>
              <a:t>按一下</a:t>
            </a:r>
            <a:br>
              <a:rPr lang="en-US" altLang="zh-TW" dirty="0"/>
            </a:br>
            <a:r>
              <a:rPr lang="zh-TW" altLang="en-US" dirty="0"/>
              <a:t>以編輯母片標題樣式</a:t>
            </a:r>
          </a:p>
        </p:txBody>
      </p:sp>
      <p:sp>
        <p:nvSpPr>
          <p:cNvPr id="24" name="文字版面配置區 6"/>
          <p:cNvSpPr>
            <a:spLocks noGrp="1"/>
          </p:cNvSpPr>
          <p:nvPr>
            <p:ph type="body" sz="quarter" idx="14"/>
          </p:nvPr>
        </p:nvSpPr>
        <p:spPr>
          <a:xfrm>
            <a:off x="268288" y="6525344"/>
            <a:ext cx="3523456" cy="216024"/>
          </a:xfrm>
        </p:spPr>
        <p:txBody>
          <a:bodyPr lIns="72000" rIns="72000" anchor="ctr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內容版面配置區 6"/>
          <p:cNvSpPr>
            <a:spLocks noGrp="1"/>
          </p:cNvSpPr>
          <p:nvPr>
            <p:ph sz="quarter" idx="13"/>
          </p:nvPr>
        </p:nvSpPr>
        <p:spPr>
          <a:xfrm>
            <a:off x="388953" y="1219200"/>
            <a:ext cx="11371676" cy="5018088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baseline="0"/>
            </a:lvl1pPr>
            <a:lvl2pPr marL="742950" indent="-28575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l"/>
              <a:defRPr sz="2000" baseline="0"/>
            </a:lvl2pPr>
            <a:lvl3pPr>
              <a:lnSpc>
                <a:spcPct val="100000"/>
              </a:lnSpc>
              <a:spcBef>
                <a:spcPts val="600"/>
              </a:spcBef>
              <a:defRPr baseline="0"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3" name="投影片編號版面配置區 5"/>
          <p:cNvSpPr>
            <a:spLocks noGrp="1"/>
          </p:cNvSpPr>
          <p:nvPr>
            <p:ph type="sldNum" sz="quarter" idx="16"/>
          </p:nvPr>
        </p:nvSpPr>
        <p:spPr>
          <a:xfrm>
            <a:off x="5519937" y="6361114"/>
            <a:ext cx="1007864" cy="365125"/>
          </a:xfrm>
          <a:prstGeom prst="rect">
            <a:avLst/>
          </a:prstGeom>
        </p:spPr>
        <p:txBody>
          <a:bodyPr anchor="ctr"/>
          <a:lstStyle>
            <a:lvl1pPr marL="0" algn="ctr" defTabSz="914400" rtl="0" eaLnBrk="1" latinLnBrk="0" hangingPunct="1">
              <a:defRPr lang="zh-TW" altLang="en-US" sz="1400" b="1" kern="1200" smtClean="0">
                <a:ln>
                  <a:solidFill>
                    <a:srgbClr val="1F497D">
                      <a:lumMod val="20000"/>
                      <a:lumOff val="80000"/>
                    </a:srgbClr>
                  </a:solidFill>
                </a:ln>
                <a:solidFill>
                  <a:prstClr val="white"/>
                </a:solidFill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  <a:latin typeface="+mj-lt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fld id="{EAA96D2A-866D-4FFE-B5B2-353D6442049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直線接點 13"/>
          <p:cNvCxnSpPr/>
          <p:nvPr/>
        </p:nvCxnSpPr>
        <p:spPr>
          <a:xfrm>
            <a:off x="390889" y="1045756"/>
            <a:ext cx="11391609" cy="698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527052" y="1001233"/>
            <a:ext cx="11093449" cy="635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554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5" name="橢圓 4"/>
          <p:cNvSpPr/>
          <p:nvPr/>
        </p:nvSpPr>
        <p:spPr>
          <a:xfrm flipH="1">
            <a:off x="10551584" y="6084888"/>
            <a:ext cx="336549" cy="252412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6" name="橢圓 5"/>
          <p:cNvSpPr/>
          <p:nvPr/>
        </p:nvSpPr>
        <p:spPr>
          <a:xfrm flipH="1">
            <a:off x="10202333" y="6184900"/>
            <a:ext cx="239184" cy="17938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-30865" y="46039"/>
            <a:ext cx="12222865" cy="718666"/>
          </a:xfrm>
        </p:spPr>
        <p:txBody>
          <a:bodyPr/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zh-TW" altLang="en-US" sz="30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1" name="文字版面配置區 6"/>
          <p:cNvSpPr>
            <a:spLocks noGrp="1"/>
          </p:cNvSpPr>
          <p:nvPr>
            <p:ph type="body" sz="quarter" idx="14"/>
          </p:nvPr>
        </p:nvSpPr>
        <p:spPr>
          <a:xfrm>
            <a:off x="268288" y="6525344"/>
            <a:ext cx="3523456" cy="216024"/>
          </a:xfrm>
        </p:spPr>
        <p:txBody>
          <a:bodyPr lIns="72000" rIns="72000" anchor="ctr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投影片編號版面配置區 5"/>
          <p:cNvSpPr>
            <a:spLocks noGrp="1"/>
          </p:cNvSpPr>
          <p:nvPr>
            <p:ph type="sldNum" sz="quarter" idx="16"/>
          </p:nvPr>
        </p:nvSpPr>
        <p:spPr>
          <a:xfrm>
            <a:off x="5519937" y="6361114"/>
            <a:ext cx="1007864" cy="365125"/>
          </a:xfrm>
          <a:prstGeom prst="rect">
            <a:avLst/>
          </a:prstGeom>
        </p:spPr>
        <p:txBody>
          <a:bodyPr anchor="ctr"/>
          <a:lstStyle>
            <a:lvl1pPr marL="0" algn="ctr" defTabSz="914400" rtl="0" eaLnBrk="1" latinLnBrk="0" hangingPunct="1">
              <a:defRPr lang="zh-TW" altLang="en-US" sz="1400" b="1" kern="1200" smtClean="0">
                <a:ln>
                  <a:solidFill>
                    <a:srgbClr val="1F497D">
                      <a:lumMod val="20000"/>
                      <a:lumOff val="80000"/>
                    </a:srgbClr>
                  </a:solidFill>
                </a:ln>
                <a:solidFill>
                  <a:prstClr val="white"/>
                </a:solidFill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  <a:latin typeface="+mj-lt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fld id="{EAA96D2A-866D-4FFE-B5B2-353D64420494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直線接點 12"/>
          <p:cNvCxnSpPr/>
          <p:nvPr/>
        </p:nvCxnSpPr>
        <p:spPr>
          <a:xfrm>
            <a:off x="390889" y="809698"/>
            <a:ext cx="11391609" cy="698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527052" y="765175"/>
            <a:ext cx="11093449" cy="635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64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351618" y="490539"/>
            <a:ext cx="7488767" cy="56657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7" name="橢圓 6"/>
          <p:cNvSpPr/>
          <p:nvPr/>
        </p:nvSpPr>
        <p:spPr>
          <a:xfrm flipH="1">
            <a:off x="10551584" y="6084888"/>
            <a:ext cx="336549" cy="252412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8" name="橢圓 7"/>
          <p:cNvSpPr/>
          <p:nvPr/>
        </p:nvSpPr>
        <p:spPr>
          <a:xfrm flipH="1">
            <a:off x="10202333" y="6184900"/>
            <a:ext cx="239184" cy="17938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419357" y="4800600"/>
            <a:ext cx="7315200" cy="566738"/>
          </a:xfrm>
        </p:spPr>
        <p:txBody>
          <a:bodyPr anchor="b">
            <a:noAutofit/>
          </a:bodyPr>
          <a:lstStyle>
            <a:lvl1pPr algn="l">
              <a:defRPr lang="zh-TW" altLang="en-US" sz="24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41935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  <a:endParaRPr lang="zh-TW" altLang="en-US" noProof="0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419357" y="5367338"/>
            <a:ext cx="7315200" cy="804862"/>
          </a:xfrm>
        </p:spPr>
        <p:txBody>
          <a:bodyPr>
            <a:normAutofit/>
          </a:bodyPr>
          <a:lstStyle>
            <a:lvl1pPr marL="0" indent="0">
              <a:buNone/>
              <a:defRPr lang="zh-TW" altLang="en-US" sz="1800" b="1" kern="1200" baseline="0" dirty="0" smtClean="0">
                <a:ln w="50800"/>
                <a:solidFill>
                  <a:schemeClr val="tx1"/>
                </a:solidFill>
                <a:latin typeface="Calibri" pitchFamily="34" charset="0"/>
                <a:ea typeface="微軟正黑體" pitchFamily="34" charset="-120"/>
                <a:cs typeface="Verdan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文字版面配置區 6"/>
          <p:cNvSpPr>
            <a:spLocks noGrp="1"/>
          </p:cNvSpPr>
          <p:nvPr>
            <p:ph type="body" sz="quarter" idx="14"/>
          </p:nvPr>
        </p:nvSpPr>
        <p:spPr>
          <a:xfrm>
            <a:off x="268288" y="6525344"/>
            <a:ext cx="3523456" cy="216024"/>
          </a:xfrm>
        </p:spPr>
        <p:txBody>
          <a:bodyPr lIns="72000" rIns="72000" anchor="ctr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投影片編號版面配置區 5"/>
          <p:cNvSpPr>
            <a:spLocks noGrp="1"/>
          </p:cNvSpPr>
          <p:nvPr>
            <p:ph type="sldNum" sz="quarter" idx="16"/>
          </p:nvPr>
        </p:nvSpPr>
        <p:spPr>
          <a:xfrm>
            <a:off x="5519937" y="6361114"/>
            <a:ext cx="1007864" cy="365125"/>
          </a:xfrm>
          <a:prstGeom prst="rect">
            <a:avLst/>
          </a:prstGeom>
        </p:spPr>
        <p:txBody>
          <a:bodyPr anchor="ctr"/>
          <a:lstStyle>
            <a:lvl1pPr marL="0" algn="ctr" defTabSz="914400" rtl="0" eaLnBrk="1" latinLnBrk="0" hangingPunct="1">
              <a:defRPr lang="zh-TW" altLang="en-US" sz="1400" b="1" kern="1200" smtClean="0">
                <a:ln>
                  <a:solidFill>
                    <a:srgbClr val="1F497D">
                      <a:lumMod val="20000"/>
                      <a:lumOff val="80000"/>
                    </a:srgbClr>
                  </a:solidFill>
                </a:ln>
                <a:solidFill>
                  <a:prstClr val="white"/>
                </a:solidFill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  <a:latin typeface="+mj-lt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fld id="{EAA96D2A-866D-4FFE-B5B2-353D64420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279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584" y="-19050"/>
            <a:ext cx="12213168" cy="689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版面配置區 29"/>
          <p:cNvSpPr txBox="1">
            <a:spLocks/>
          </p:cNvSpPr>
          <p:nvPr/>
        </p:nvSpPr>
        <p:spPr>
          <a:xfrm>
            <a:off x="334433" y="3611564"/>
            <a:ext cx="7425268" cy="56832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Aft>
                <a:spcPts val="0"/>
              </a:spcAft>
              <a:defRPr/>
            </a:pPr>
            <a:r>
              <a:rPr kumimoji="0" lang="en-US" altLang="zh-TW" sz="2800" dirty="0">
                <a:solidFill>
                  <a:prstClr val="black"/>
                </a:solidFill>
              </a:rPr>
              <a:t>Thank you</a:t>
            </a:r>
            <a:endParaRPr kumimoji="0"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4" name="標題 1"/>
          <p:cNvSpPr txBox="1">
            <a:spLocks/>
          </p:cNvSpPr>
          <p:nvPr/>
        </p:nvSpPr>
        <p:spPr>
          <a:xfrm>
            <a:off x="335361" y="2852937"/>
            <a:ext cx="7396823" cy="60064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zh-TW" altLang="en-US" sz="36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76"/>
                </a:solidFill>
                <a:latin typeface="Calibri" pitchFamily="34" charset="0"/>
                <a:ea typeface="微軟正黑體" pitchFamily="34" charset="-12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76"/>
                </a:solidFill>
                <a:latin typeface="Calibri" pitchFamily="34" charset="0"/>
                <a:ea typeface="微軟正黑體" pitchFamily="34" charset="-12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76"/>
                </a:solidFill>
                <a:latin typeface="Calibri" pitchFamily="34" charset="0"/>
                <a:ea typeface="微軟正黑體" pitchFamily="34" charset="-12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76"/>
                </a:solidFill>
                <a:latin typeface="Calibri" pitchFamily="34" charset="0"/>
                <a:ea typeface="微軟正黑體" pitchFamily="34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76"/>
                </a:solidFill>
                <a:latin typeface="Calibri" pitchFamily="34" charset="0"/>
                <a:ea typeface="微軟正黑體" pitchFamily="34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76"/>
                </a:solidFill>
                <a:latin typeface="Calibri" pitchFamily="34" charset="0"/>
                <a:ea typeface="微軟正黑體" pitchFamily="34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76"/>
                </a:solidFill>
                <a:latin typeface="Calibri" pitchFamily="34" charset="0"/>
                <a:ea typeface="微軟正黑體" pitchFamily="34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76"/>
                </a:solidFill>
                <a:latin typeface="Calibri" pitchFamily="34" charset="0"/>
                <a:ea typeface="微軟正黑體" pitchFamily="34" charset="-120"/>
              </a:defRPr>
            </a:lvl9pPr>
          </a:lstStyle>
          <a:p>
            <a:r>
              <a:rPr lang="zh-TW" altLang="en-US" sz="3600" dirty="0"/>
              <a:t>謝謝您的聆聽</a:t>
            </a:r>
          </a:p>
        </p:txBody>
      </p:sp>
      <p:cxnSp>
        <p:nvCxnSpPr>
          <p:cNvPr id="12" name="直線接點 11"/>
          <p:cNvCxnSpPr/>
          <p:nvPr/>
        </p:nvCxnSpPr>
        <p:spPr>
          <a:xfrm flipV="1">
            <a:off x="313267" y="3551593"/>
            <a:ext cx="7418917" cy="635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V="1">
            <a:off x="402167" y="3501008"/>
            <a:ext cx="7236884" cy="9525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901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9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  <a:endParaRPr lang="en-US" altLang="zh-TW"/>
          </a:p>
          <a:p>
            <a:pPr lvl="4"/>
            <a:r>
              <a:rPr lang="zh-TW" altLang="en-US"/>
              <a:t>第一層</a:t>
            </a:r>
          </a:p>
          <a:p>
            <a:pPr lvl="2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1818125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lang="zh-TW" altLang="en-US" sz="3000" b="1" kern="1200" dirty="0">
          <a:solidFill>
            <a:srgbClr val="000076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Calibri" pitchFamily="34" charset="0"/>
          <a:ea typeface="微軟正黑體" pitchFamily="34" charset="-120"/>
          <a:cs typeface="+mn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76"/>
          </a:solidFill>
          <a:latin typeface="Calibri" pitchFamily="34" charset="0"/>
          <a:ea typeface="微軟正黑體" pitchFamily="34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76"/>
          </a:solidFill>
          <a:latin typeface="Calibri" pitchFamily="34" charset="0"/>
          <a:ea typeface="微軟正黑體" pitchFamily="34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76"/>
          </a:solidFill>
          <a:latin typeface="Calibri" pitchFamily="34" charset="0"/>
          <a:ea typeface="微軟正黑體" pitchFamily="34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76"/>
          </a:solidFill>
          <a:latin typeface="Calibri" pitchFamily="34" charset="0"/>
          <a:ea typeface="微軟正黑體" pitchFamily="34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76"/>
          </a:solidFill>
          <a:latin typeface="Calibri" pitchFamily="34" charset="0"/>
          <a:ea typeface="微軟正黑體" pitchFamily="34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76"/>
          </a:solidFill>
          <a:latin typeface="Calibri" pitchFamily="34" charset="0"/>
          <a:ea typeface="微軟正黑體" pitchFamily="34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76"/>
          </a:solidFill>
          <a:latin typeface="Calibri" pitchFamily="34" charset="0"/>
          <a:ea typeface="微軟正黑體" pitchFamily="34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76"/>
          </a:solidFill>
          <a:latin typeface="Calibri" pitchFamily="34" charset="0"/>
          <a:ea typeface="微軟正黑體" pitchFamily="34" charset="-120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Ø"/>
        <a:defRPr lang="zh-TW" altLang="en-US" sz="2400" b="1" kern="1200" dirty="0">
          <a:ln w="50800"/>
          <a:solidFill>
            <a:schemeClr val="tx1"/>
          </a:solidFill>
          <a:latin typeface="Calibri" pitchFamily="34" charset="0"/>
          <a:ea typeface="微軟正黑體" pitchFamily="34" charset="-120"/>
          <a:cs typeface="Verdana" pitchFamily="34" charset="0"/>
        </a:defRPr>
      </a:lvl1pPr>
      <a:lvl2pPr marL="742950" indent="-28575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pitchFamily="34" charset="0"/>
        <a:buChar char="–"/>
        <a:defRPr lang="zh-TW" altLang="en-US" sz="2000" b="1" kern="1200" dirty="0">
          <a:ln w="50800"/>
          <a:solidFill>
            <a:schemeClr val="tx1"/>
          </a:solidFill>
          <a:latin typeface="Calibri" pitchFamily="34" charset="0"/>
          <a:ea typeface="微軟正黑體" pitchFamily="34" charset="-120"/>
          <a:cs typeface="Verdana" pitchFamily="34" charset="0"/>
        </a:defRPr>
      </a:lvl2pPr>
      <a:lvl3pPr marL="1260475" indent="-1857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Verdana" pitchFamily="34" charset="0"/>
        <a:buChar char="•"/>
        <a:defRPr lang="zh-TW" altLang="en-US" sz="1600" b="1" kern="1200" dirty="0">
          <a:ln w="50800"/>
          <a:solidFill>
            <a:schemeClr val="tx1"/>
          </a:solidFill>
          <a:latin typeface="Calibri" pitchFamily="34" charset="0"/>
          <a:ea typeface="微軟正黑體" pitchFamily="34" charset="-120"/>
          <a:cs typeface="Verdana" pitchFamily="34" charset="0"/>
        </a:defRPr>
      </a:lvl3pPr>
      <a:lvl4pPr marL="16002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pitchFamily="34" charset="0"/>
        <a:buChar char="–"/>
        <a:defRPr lang="zh-TW" altLang="en-US" sz="2400" b="1" kern="1200" dirty="0">
          <a:ln w="50800"/>
          <a:solidFill>
            <a:schemeClr val="tx1"/>
          </a:solidFill>
          <a:latin typeface="Calibri" pitchFamily="34" charset="0"/>
          <a:ea typeface="微軟正黑體" pitchFamily="34" charset="-120"/>
          <a:cs typeface="Verdana" pitchFamily="34" charset="0"/>
        </a:defRPr>
      </a:lvl4pPr>
      <a:lvl5pPr marL="803275" indent="-26035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lang="zh-TW" altLang="en-US" sz="2000" b="1" kern="1200" dirty="0">
          <a:ln w="50800"/>
          <a:solidFill>
            <a:schemeClr val="tx1"/>
          </a:solidFill>
          <a:latin typeface="Calibri" pitchFamily="34" charset="0"/>
          <a:ea typeface="微軟正黑體" pitchFamily="34" charset="-12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4CD6E914-20DB-EC2D-D09C-7B11244972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報告人：</a:t>
            </a:r>
            <a:endParaRPr lang="en-US" altLang="zh-TW" dirty="0"/>
          </a:p>
          <a:p>
            <a:r>
              <a:rPr lang="zh-TW" altLang="en-US" dirty="0"/>
              <a:t>事業部</a:t>
            </a:r>
            <a:r>
              <a:rPr lang="en-US" altLang="zh-TW" dirty="0"/>
              <a:t>/</a:t>
            </a:r>
            <a:r>
              <a:rPr lang="zh-TW" altLang="en-US" dirty="0"/>
              <a:t>廠別：</a:t>
            </a:r>
            <a:endParaRPr lang="en-US" altLang="zh-TW" dirty="0"/>
          </a:p>
          <a:p>
            <a:r>
              <a:rPr lang="zh-TW" altLang="en-US" dirty="0"/>
              <a:t>報告日期：</a:t>
            </a:r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E97BBB1-F526-981D-5FA6-8DFF831F76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專案名稱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750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CB32DC-2427-ACCF-87EF-DC0A3E8E2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專案同意書 </a:t>
            </a:r>
            <a:r>
              <a:rPr lang="en-US" altLang="zh-TW" dirty="0"/>
              <a:t>(Team Charter)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E34D892-599B-E3F6-DE05-69992D1EAB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835BB03-ED0C-793B-37D0-7853876D49C2}"/>
              </a:ext>
            </a:extLst>
          </p:cNvPr>
          <p:cNvSpPr txBox="1"/>
          <p:nvPr/>
        </p:nvSpPr>
        <p:spPr>
          <a:xfrm>
            <a:off x="2826026" y="844826"/>
            <a:ext cx="6539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專案主題：</a:t>
            </a:r>
            <a:endParaRPr 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 Box 53">
            <a:extLst>
              <a:ext uri="{FF2B5EF4-FFF2-40B4-BE49-F238E27FC236}">
                <a16:creationId xmlns:a16="http://schemas.microsoft.com/office/drawing/2014/main" id="{8EEFC913-C255-9AF8-2647-DE97870EB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8" y="1214158"/>
            <a:ext cx="41608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專案描述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D842582-3540-0445-755A-1AB0B80783B8}"/>
              </a:ext>
            </a:extLst>
          </p:cNvPr>
          <p:cNvSpPr txBox="1"/>
          <p:nvPr/>
        </p:nvSpPr>
        <p:spPr>
          <a:xfrm>
            <a:off x="287338" y="1811818"/>
            <a:ext cx="5556871" cy="181588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TW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3W 1H 1I (1E) </a:t>
            </a:r>
            <a:r>
              <a:rPr lang="zh-TW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論述</a:t>
            </a:r>
            <a:r>
              <a:rPr lang="en-US" altLang="zh-TW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eaLnBrk="1" hangingPunct="1">
              <a:defRPr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Where: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改善之地點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廠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部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or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其它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eaLnBrk="1" hangingPunct="1">
              <a:defRPr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When: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改善</a:t>
            </a:r>
            <a:r>
              <a:rPr lang="zh-TW" altLang="en-US" sz="1600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現況之期間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defRPr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What: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改善的衡量指標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KPI</a:t>
            </a:r>
          </a:p>
          <a:p>
            <a:pPr eaLnBrk="1" hangingPunct="1">
              <a:defRPr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How Many(much): What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KPI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的現況值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defRPr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Impact: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改善達標預期可帶來之專案效益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defRPr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Extend: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其他影響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接單、滿意度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Side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effect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的考量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sp>
        <p:nvSpPr>
          <p:cNvPr id="26" name="矩形 1">
            <a:extLst>
              <a:ext uri="{FF2B5EF4-FFF2-40B4-BE49-F238E27FC236}">
                <a16:creationId xmlns:a16="http://schemas.microsoft.com/office/drawing/2014/main" id="{D41B3E94-57A2-DD72-D163-596C0242D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504671"/>
            <a:ext cx="157607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本專題以*****</a:t>
            </a:r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6E085F26-9BC1-123C-D0A4-A699E82D52AB}"/>
              </a:ext>
            </a:extLst>
          </p:cNvPr>
          <p:cNvCxnSpPr/>
          <p:nvPr/>
        </p:nvCxnSpPr>
        <p:spPr>
          <a:xfrm>
            <a:off x="291513" y="3727175"/>
            <a:ext cx="116089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990B18EA-F287-53EF-87A9-AF73CF3BE96E}"/>
              </a:ext>
            </a:extLst>
          </p:cNvPr>
          <p:cNvCxnSpPr/>
          <p:nvPr/>
        </p:nvCxnSpPr>
        <p:spPr>
          <a:xfrm>
            <a:off x="291513" y="5042456"/>
            <a:ext cx="116089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Object 553">
            <a:extLst>
              <a:ext uri="{FF2B5EF4-FFF2-40B4-BE49-F238E27FC236}">
                <a16:creationId xmlns:a16="http://schemas.microsoft.com/office/drawing/2014/main" id="{0EC25561-4107-45C6-5112-AB2EB85D92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6052318"/>
              </p:ext>
            </p:extLst>
          </p:nvPr>
        </p:nvGraphicFramePr>
        <p:xfrm>
          <a:off x="287338" y="4089755"/>
          <a:ext cx="290988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162009" imgH="657422" progId="Excel.Sheet.8">
                  <p:embed/>
                </p:oleObj>
              </mc:Choice>
              <mc:Fallback>
                <p:oleObj name="Worksheet" r:id="rId3" imgW="2162009" imgH="657422" progId="Excel.Sheet.8">
                  <p:embed/>
                  <p:pic>
                    <p:nvPicPr>
                      <p:cNvPr id="11279" name="Object 553">
                        <a:extLst>
                          <a:ext uri="{FF2B5EF4-FFF2-40B4-BE49-F238E27FC236}">
                            <a16:creationId xmlns:a16="http://schemas.microsoft.com/office/drawing/2014/main" id="{5D542208-4702-BA0E-AEC7-F9F20E422E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8" y="4089755"/>
                        <a:ext cx="2909888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53">
            <a:extLst>
              <a:ext uri="{FF2B5EF4-FFF2-40B4-BE49-F238E27FC236}">
                <a16:creationId xmlns:a16="http://schemas.microsoft.com/office/drawing/2014/main" id="{B467E219-621D-6329-211E-98F85CD44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8" y="3751075"/>
            <a:ext cx="41608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預期目標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</p:txBody>
      </p:sp>
      <p:sp>
        <p:nvSpPr>
          <p:cNvPr id="32" name="Text Box 57">
            <a:extLst>
              <a:ext uri="{FF2B5EF4-FFF2-40B4-BE49-F238E27FC236}">
                <a16:creationId xmlns:a16="http://schemas.microsoft.com/office/drawing/2014/main" id="{11175A51-B125-63ED-BC27-72693DB25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8" y="5076231"/>
            <a:ext cx="38862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專案計畫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en-US" altLang="zh-TW" sz="16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年**月～*月</a:t>
            </a:r>
            <a:endParaRPr lang="zh-TW" altLang="en-US" sz="16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33" name="Object 539">
            <a:extLst>
              <a:ext uri="{FF2B5EF4-FFF2-40B4-BE49-F238E27FC236}">
                <a16:creationId xmlns:a16="http://schemas.microsoft.com/office/drawing/2014/main" id="{02015209-C715-FF0F-85E7-16527E7207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5520202"/>
              </p:ext>
            </p:extLst>
          </p:nvPr>
        </p:nvGraphicFramePr>
        <p:xfrm>
          <a:off x="2999512" y="5200188"/>
          <a:ext cx="27686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工作表" r:id="rId5" imgW="3581705" imgH="1429207" progId="Excel.Sheet.8">
                  <p:embed/>
                </p:oleObj>
              </mc:Choice>
              <mc:Fallback>
                <p:oleObj name="工作表" r:id="rId5" imgW="3581705" imgH="1429207" progId="Excel.Sheet.8">
                  <p:embed/>
                  <p:pic>
                    <p:nvPicPr>
                      <p:cNvPr id="11277" name="Object 539">
                        <a:extLst>
                          <a:ext uri="{FF2B5EF4-FFF2-40B4-BE49-F238E27FC236}">
                            <a16:creationId xmlns:a16="http://schemas.microsoft.com/office/drawing/2014/main" id="{B0938AD2-144C-846E-BB5A-F0400F2911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512" y="5200188"/>
                        <a:ext cx="27686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矩形 20">
            <a:extLst>
              <a:ext uri="{FF2B5EF4-FFF2-40B4-BE49-F238E27FC236}">
                <a16:creationId xmlns:a16="http://schemas.microsoft.com/office/drawing/2014/main" id="{0A60A266-3A5C-C928-6D0A-B88E87C70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06" y="5412271"/>
            <a:ext cx="1563688" cy="304800"/>
          </a:xfrm>
          <a:prstGeom prst="rect">
            <a:avLst/>
          </a:prstGeom>
          <a:noFill/>
          <a:ln w="38100" cap="sq" algn="ctr">
            <a:solidFill>
              <a:srgbClr val="FF0066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8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記得圖例</a:t>
            </a:r>
          </a:p>
        </p:txBody>
      </p:sp>
      <p:sp>
        <p:nvSpPr>
          <p:cNvPr id="35" name="Text Box 54">
            <a:extLst>
              <a:ext uri="{FF2B5EF4-FFF2-40B4-BE49-F238E27FC236}">
                <a16:creationId xmlns:a16="http://schemas.microsoft.com/office/drawing/2014/main" id="{8C09AB91-7A06-EC96-DA8F-E9746616A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4787" y="1215742"/>
            <a:ext cx="4606925" cy="236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10800" rIns="0" bIns="10800">
            <a:spAutoFit/>
          </a:bodyPr>
          <a:lstStyle>
            <a:lvl1pPr marL="457200" indent="-45720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預期效益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eaLnBrk="1" hangingPunct="1">
              <a:lnSpc>
                <a:spcPct val="50000"/>
              </a:lnSpc>
              <a:spcBef>
                <a:spcPct val="0"/>
              </a:spcBef>
              <a:buClrTx/>
              <a:buFontTx/>
              <a:buNone/>
            </a:pPr>
            <a:endParaRPr lang="en-US" altLang="zh-TW" sz="16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有形效益 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 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需列出計算公式 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例如 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工時的節省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成本的節省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en-US" sz="16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無形效益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例如 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客戶滿意度的提昇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提升員工士氣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en-US" sz="16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潛在效益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例如 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降低庫存金額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5CB3818-F076-EC27-9FC4-58A5AA24E653}"/>
              </a:ext>
            </a:extLst>
          </p:cNvPr>
          <p:cNvSpPr/>
          <p:nvPr/>
        </p:nvSpPr>
        <p:spPr bwMode="auto">
          <a:xfrm>
            <a:off x="9662905" y="1240319"/>
            <a:ext cx="2237581" cy="1171576"/>
          </a:xfrm>
          <a:prstGeom prst="rect">
            <a:avLst/>
          </a:prstGeom>
          <a:noFill/>
          <a:ln w="38100" cap="sq" cmpd="sng" algn="ctr">
            <a:solidFill>
              <a:srgbClr val="FF0066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記得顯示：</a:t>
            </a:r>
            <a:endParaRPr lang="en-US" altLang="zh-TW" sz="1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eaLnBrk="1" hangingPunct="1">
              <a:defRPr/>
            </a:pPr>
            <a:r>
              <a:rPr lang="zh-TW" altLang="en-US" sz="1400" dirty="0">
                <a:solidFill>
                  <a:srgbClr val="FF000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當年度效益</a:t>
            </a:r>
            <a:endParaRPr lang="en-US" altLang="zh-TW" sz="1400" dirty="0">
              <a:solidFill>
                <a:srgbClr val="FF0000"/>
              </a:solidFill>
              <a:highlight>
                <a:srgbClr val="FFFF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eaLnBrk="1" hangingPunct="1">
              <a:defRPr/>
            </a:pPr>
            <a:r>
              <a:rPr lang="en-US" altLang="zh-TW" sz="1400" dirty="0">
                <a:solidFill>
                  <a:srgbClr val="FF000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solidFill>
                  <a:srgbClr val="FF000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從發酵月開始至年底</a:t>
            </a:r>
            <a:r>
              <a:rPr lang="en-US" altLang="zh-TW" sz="1400" dirty="0">
                <a:solidFill>
                  <a:srgbClr val="FF000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algn="ctr" eaLnBrk="1" hangingPunct="1">
              <a:defRPr/>
            </a:pP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一整年效益</a:t>
            </a:r>
            <a:r>
              <a:rPr lang="en-US" altLang="zh-TW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(12</a:t>
            </a: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個月</a:t>
            </a:r>
            <a:r>
              <a:rPr lang="en-US" altLang="zh-TW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algn="ctr" eaLnBrk="1" hangingPunct="1">
              <a:defRPr/>
            </a:pP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 </a:t>
            </a: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人力工時：</a:t>
            </a:r>
            <a:r>
              <a:rPr lang="en-US" altLang="zh-TW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196/</a:t>
            </a:r>
            <a:r>
              <a:rPr lang="en-US" altLang="zh-TW" sz="1400" dirty="0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hr</a:t>
            </a:r>
            <a:endParaRPr lang="zh-TW" altLang="en-US" sz="1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4250D9C2-E6B1-D34A-49D1-7F7ED166E43A}"/>
              </a:ext>
            </a:extLst>
          </p:cNvPr>
          <p:cNvCxnSpPr/>
          <p:nvPr/>
        </p:nvCxnSpPr>
        <p:spPr>
          <a:xfrm>
            <a:off x="6095999" y="1240319"/>
            <a:ext cx="1" cy="51704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Box 56">
            <a:extLst>
              <a:ext uri="{FF2B5EF4-FFF2-40B4-BE49-F238E27FC236}">
                <a16:creationId xmlns:a16="http://schemas.microsoft.com/office/drawing/2014/main" id="{3E35AF70-160F-216C-AACD-29D4EFD3F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4787" y="3825529"/>
            <a:ext cx="4086225" cy="635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10800" rIns="0" bIns="10800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專案範圍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lvl="1" eaLnBrk="1" hangingPunct="1">
              <a:lnSpc>
                <a:spcPct val="40000"/>
              </a:lnSpc>
              <a:spcBef>
                <a:spcPct val="0"/>
              </a:spcBef>
              <a:buClrTx/>
              <a:buFontTx/>
              <a:buChar char="•"/>
            </a:pPr>
            <a:endParaRPr lang="en-US" altLang="zh-TW" sz="1600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Char char="•"/>
            </a:pPr>
            <a:r>
              <a:rPr lang="en-US" altLang="zh-TW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XXXX</a:t>
            </a:r>
          </a:p>
        </p:txBody>
      </p:sp>
      <p:sp>
        <p:nvSpPr>
          <p:cNvPr id="40" name="Text Box 58">
            <a:extLst>
              <a:ext uri="{FF2B5EF4-FFF2-40B4-BE49-F238E27FC236}">
                <a16:creationId xmlns:a16="http://schemas.microsoft.com/office/drawing/2014/main" id="{817D561B-2A2E-03E1-4D67-98C0E5604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4786" y="5081463"/>
            <a:ext cx="5636107" cy="108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6000" tIns="10800" rIns="0" bIns="10800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專案成員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b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Team Leader</a:t>
            </a:r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：工號 姓名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TW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Team Members </a:t>
            </a:r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：工號 姓名   工號 姓名   工號 姓名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輔導員：</a:t>
            </a:r>
          </a:p>
        </p:txBody>
      </p:sp>
    </p:spTree>
    <p:extLst>
      <p:ext uri="{BB962C8B-B14F-4D97-AF65-F5344CB8AC3E}">
        <p14:creationId xmlns:p14="http://schemas.microsoft.com/office/powerpoint/2010/main" val="3870734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27B8B1-3312-E404-0AD0-B7BBF8CDE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選題理由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600D761-38C2-E975-9004-F6A875CE99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Box 77">
            <a:extLst>
              <a:ext uri="{FF2B5EF4-FFF2-40B4-BE49-F238E27FC236}">
                <a16:creationId xmlns:a16="http://schemas.microsoft.com/office/drawing/2014/main" id="{9012CE69-2EB5-C7E9-2C48-01FA6A9CE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0865" y="46039"/>
            <a:ext cx="4781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1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：問題釐清，現況與目標</a:t>
            </a: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(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現地、現物</a:t>
            </a: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)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DB7C0D6-531E-F5FC-561E-A83DC15C24F5}"/>
              </a:ext>
            </a:extLst>
          </p:cNvPr>
          <p:cNvSpPr txBox="1"/>
          <p:nvPr/>
        </p:nvSpPr>
        <p:spPr>
          <a:xfrm>
            <a:off x="293826" y="936647"/>
            <a:ext cx="11493983" cy="707886"/>
          </a:xfrm>
          <a:prstGeom prst="rect">
            <a:avLst/>
          </a:prstGeom>
          <a:solidFill>
            <a:srgbClr val="B7DEE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l">
              <a:defRPr sz="18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eaLnBrk="1" hangingPunct="1">
              <a:spcBef>
                <a:spcPts val="300"/>
              </a:spcBef>
              <a:spcAft>
                <a:spcPts val="600"/>
              </a:spcAft>
              <a:defRPr/>
            </a:pPr>
            <a:r>
              <a:rPr lang="zh-TW" altLang="en-US" sz="2000" dirty="0">
                <a:solidFill>
                  <a:srgbClr val="0051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目的：</a:t>
            </a:r>
            <a:r>
              <a:rPr lang="zh-TW" altLang="en-US" sz="2000" dirty="0">
                <a:solidFill>
                  <a:srgbClr val="0000FF"/>
                </a:solidFill>
              </a:rPr>
              <a:t>因應產能持續提升，製程優化與調整更為頻繁，每次條件變動皆需完成對應的 </a:t>
            </a:r>
            <a:r>
              <a:rPr lang="en-US" altLang="zh-TW" sz="2000" dirty="0">
                <a:solidFill>
                  <a:srgbClr val="0000FF"/>
                </a:solidFill>
              </a:rPr>
              <a:t>WPG / OST </a:t>
            </a:r>
            <a:r>
              <a:rPr lang="zh-TW" altLang="en-US" sz="2000" dirty="0">
                <a:solidFill>
                  <a:srgbClr val="0000FF"/>
                </a:solidFill>
              </a:rPr>
              <a:t>追蹤分析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E2888FA-AEA0-E69D-975A-299533ED3192}"/>
              </a:ext>
            </a:extLst>
          </p:cNvPr>
          <p:cNvSpPr txBox="1"/>
          <p:nvPr/>
        </p:nvSpPr>
        <p:spPr>
          <a:xfrm>
            <a:off x="293826" y="2320252"/>
            <a:ext cx="11493983" cy="146193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l">
              <a:defRPr sz="18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eaLnBrk="1" hangingPunct="1">
              <a:spcBef>
                <a:spcPts val="300"/>
              </a:spcBef>
              <a:spcAft>
                <a:spcPts val="600"/>
              </a:spcAft>
              <a:defRPr/>
            </a:pPr>
            <a:r>
              <a:rPr lang="zh-TW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痛點：</a:t>
            </a:r>
            <a:endParaRPr lang="en-US" altLang="zh-TW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zh-TW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學習人員於實務操作中遇到問題時，也可能因輔導人力忙碌或無法即時支援，影響學習與作業效率。</a:t>
            </a:r>
            <a:endParaRPr lang="en-US" altLang="zh-TW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 eaLnBrk="1" hangingPunct="1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zh-TW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熟手人員除需負擔日常作業外，亦須投入教材製作與教學輔導，造成時間壓力增加，進而影響教材產出效率與教學品質。</a:t>
            </a:r>
            <a:endParaRPr lang="en-US" altLang="zh-TW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402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EFDDCD-494C-75E6-4467-0A0D0200C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VOC</a:t>
            </a:r>
            <a:r>
              <a:rPr lang="zh-TW" altLang="en-US" dirty="0"/>
              <a:t> </a:t>
            </a:r>
            <a:r>
              <a:rPr lang="en-US" altLang="zh-TW" dirty="0"/>
              <a:t>to CTQ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84F27A2-65FB-CDBF-42A3-6EF48646A6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Box 77">
            <a:extLst>
              <a:ext uri="{FF2B5EF4-FFF2-40B4-BE49-F238E27FC236}">
                <a16:creationId xmlns:a16="http://schemas.microsoft.com/office/drawing/2014/main" id="{589CE659-1664-6325-8C23-742733ADC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0865" y="46039"/>
            <a:ext cx="4781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1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：問題釐清，現況與目標</a:t>
            </a: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(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現地、現物</a:t>
            </a: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)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D1DBB86-B8C7-AFEF-D2BB-357ED169E701}"/>
              </a:ext>
            </a:extLst>
          </p:cNvPr>
          <p:cNvSpPr txBox="1"/>
          <p:nvPr/>
        </p:nvSpPr>
        <p:spPr>
          <a:xfrm>
            <a:off x="470384" y="963268"/>
            <a:ext cx="11297546" cy="272415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l">
              <a:defRPr sz="18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eaLnBrk="1" hangingPunct="1">
              <a:spcBef>
                <a:spcPts val="300"/>
              </a:spcBef>
              <a:spcAft>
                <a:spcPts val="600"/>
              </a:spcAft>
              <a:defRPr/>
            </a:pPr>
            <a:r>
              <a: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目的</a:t>
            </a:r>
            <a:r>
              <a:rPr lang="en-US" altLang="zh-TW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zh-TW" altLang="en-US" b="0" dirty="0">
                <a:solidFill>
                  <a:srgbClr val="000000"/>
                </a:solidFill>
              </a:rPr>
              <a:t>摘要出</a:t>
            </a:r>
            <a:r>
              <a:rPr lang="en-US" altLang="zh-TW" b="0" dirty="0">
                <a:solidFill>
                  <a:srgbClr val="000000"/>
                </a:solidFill>
              </a:rPr>
              <a:t>:</a:t>
            </a:r>
            <a:r>
              <a:rPr lang="zh-TW" altLang="en-US" b="0" dirty="0">
                <a:solidFill>
                  <a:srgbClr val="000000"/>
                </a:solidFill>
              </a:rPr>
              <a:t> </a:t>
            </a:r>
            <a:r>
              <a:rPr lang="en-US" altLang="zh-TW" b="0" dirty="0">
                <a:solidFill>
                  <a:srgbClr val="000000"/>
                </a:solidFill>
              </a:rPr>
              <a:t>(1)</a:t>
            </a:r>
            <a:r>
              <a:rPr lang="zh-TW" altLang="en-US" b="0" dirty="0">
                <a:solidFill>
                  <a:srgbClr val="000000"/>
                </a:solidFill>
              </a:rPr>
              <a:t>選題動機</a:t>
            </a:r>
            <a:r>
              <a:rPr lang="en-US" altLang="zh-TW" b="0" dirty="0">
                <a:solidFill>
                  <a:srgbClr val="000000"/>
                </a:solidFill>
              </a:rPr>
              <a:t>(VOC)</a:t>
            </a:r>
            <a:r>
              <a:rPr lang="zh-TW" altLang="en-US" b="0" dirty="0">
                <a:solidFill>
                  <a:srgbClr val="000000"/>
                </a:solidFill>
              </a:rPr>
              <a:t>→改善方向</a:t>
            </a:r>
            <a:r>
              <a:rPr lang="en-US" altLang="zh-TW" b="0" dirty="0">
                <a:solidFill>
                  <a:srgbClr val="000000"/>
                </a:solidFill>
              </a:rPr>
              <a:t>(KCR/KCI)</a:t>
            </a:r>
            <a:r>
              <a:rPr lang="zh-TW" altLang="en-US" b="0" dirty="0">
                <a:solidFill>
                  <a:srgbClr val="000000"/>
                </a:solidFill>
              </a:rPr>
              <a:t>→衡量指標及目標</a:t>
            </a:r>
            <a:r>
              <a:rPr lang="en-US" altLang="zh-TW" b="0" dirty="0">
                <a:solidFill>
                  <a:srgbClr val="000000"/>
                </a:solidFill>
              </a:rPr>
              <a:t>(CTQ)</a:t>
            </a:r>
            <a:r>
              <a:rPr lang="zh-TW" altLang="en-US" b="0" dirty="0">
                <a:solidFill>
                  <a:srgbClr val="000000"/>
                </a:solidFill>
              </a:rPr>
              <a:t>。</a:t>
            </a:r>
            <a:endParaRPr lang="en-US" altLang="zh-TW" b="0" dirty="0">
              <a:solidFill>
                <a:srgbClr val="000000"/>
              </a:solidFill>
            </a:endParaRPr>
          </a:p>
          <a:p>
            <a:pPr eaLnBrk="1" hangingPunct="1">
              <a:spcBef>
                <a:spcPts val="300"/>
              </a:spcBef>
              <a:spcAft>
                <a:spcPts val="600"/>
              </a:spcAft>
              <a:defRPr/>
            </a:pPr>
            <a:r>
              <a: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注意事項</a:t>
            </a:r>
            <a:r>
              <a:rPr lang="en-US" altLang="zh-TW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n"/>
              <a:defRPr/>
            </a:pPr>
            <a:r>
              <a:rPr lang="en-US" altLang="zh-TW" b="0" dirty="0">
                <a:solidFill>
                  <a:srgbClr val="000000"/>
                </a:solidFill>
              </a:rPr>
              <a:t>VOC</a:t>
            </a:r>
            <a:r>
              <a:rPr lang="zh-TW" altLang="en-US" b="0" dirty="0">
                <a:solidFill>
                  <a:srgbClr val="000000"/>
                </a:solidFill>
              </a:rPr>
              <a:t>通常與選題依據</a:t>
            </a:r>
            <a:r>
              <a:rPr lang="en-US" altLang="zh-TW" b="0" dirty="0">
                <a:solidFill>
                  <a:srgbClr val="000000"/>
                </a:solidFill>
              </a:rPr>
              <a:t>/</a:t>
            </a:r>
            <a:r>
              <a:rPr lang="zh-TW" altLang="en-US" b="0" dirty="0">
                <a:solidFill>
                  <a:srgbClr val="000000"/>
                </a:solidFill>
              </a:rPr>
              <a:t>動機有關，通常不會與</a:t>
            </a:r>
            <a:r>
              <a:rPr lang="en-US" altLang="zh-TW" b="0" dirty="0">
                <a:solidFill>
                  <a:srgbClr val="000000"/>
                </a:solidFill>
              </a:rPr>
              <a:t>CTQ</a:t>
            </a:r>
            <a:r>
              <a:rPr lang="zh-TW" altLang="en-US" b="0" dirty="0">
                <a:solidFill>
                  <a:srgbClr val="000000"/>
                </a:solidFill>
              </a:rPr>
              <a:t>內容一樣。</a:t>
            </a:r>
            <a:endParaRPr lang="en-US" altLang="zh-TW" b="0" dirty="0">
              <a:solidFill>
                <a:srgbClr val="000000"/>
              </a:solidFill>
            </a:endParaRP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itchFamily="2" charset="2"/>
              <a:buChar char="n"/>
              <a:defRPr/>
            </a:pPr>
            <a:r>
              <a:rPr lang="en-US" altLang="zh-TW" b="0" dirty="0">
                <a:solidFill>
                  <a:srgbClr val="000000"/>
                </a:solidFill>
              </a:rPr>
              <a:t>VOC</a:t>
            </a:r>
            <a:r>
              <a:rPr lang="zh-TW" altLang="en-US" b="0" dirty="0">
                <a:solidFill>
                  <a:srgbClr val="000000"/>
                </a:solidFill>
              </a:rPr>
              <a:t>中的</a:t>
            </a:r>
            <a:r>
              <a:rPr lang="en-US" altLang="zh-TW" b="0" dirty="0">
                <a:solidFill>
                  <a:srgbClr val="000000"/>
                </a:solidFill>
              </a:rPr>
              <a:t>C</a:t>
            </a:r>
            <a:r>
              <a:rPr lang="zh-TW" altLang="en-US" b="0" dirty="0">
                <a:solidFill>
                  <a:srgbClr val="000000"/>
                </a:solidFill>
              </a:rPr>
              <a:t>是</a:t>
            </a:r>
            <a:r>
              <a:rPr lang="en-US" altLang="zh-TW" b="0" dirty="0">
                <a:solidFill>
                  <a:srgbClr val="000000"/>
                </a:solidFill>
              </a:rPr>
              <a:t>Customer</a:t>
            </a:r>
            <a:r>
              <a:rPr lang="zh-TW" altLang="en-US" b="0" dirty="0">
                <a:solidFill>
                  <a:srgbClr val="000000"/>
                </a:solidFill>
              </a:rPr>
              <a:t>，其內容論述通常是</a:t>
            </a:r>
            <a:r>
              <a:rPr lang="en-US" altLang="zh-TW" b="0" dirty="0">
                <a:solidFill>
                  <a:srgbClr val="000000"/>
                </a:solidFill>
              </a:rPr>
              <a:t>SIPOC</a:t>
            </a:r>
            <a:r>
              <a:rPr lang="zh-TW" altLang="en-US" b="0" dirty="0">
                <a:solidFill>
                  <a:srgbClr val="000000"/>
                </a:solidFill>
              </a:rPr>
              <a:t>中的</a:t>
            </a:r>
            <a:r>
              <a:rPr lang="en-US" altLang="zh-TW" b="0" dirty="0">
                <a:solidFill>
                  <a:srgbClr val="000000"/>
                </a:solidFill>
              </a:rPr>
              <a:t>C</a:t>
            </a:r>
            <a:r>
              <a:rPr lang="zh-TW" altLang="en-US" b="0" dirty="0">
                <a:solidFill>
                  <a:srgbClr val="000000"/>
                </a:solidFill>
              </a:rPr>
              <a:t>所關心的指標</a:t>
            </a:r>
            <a:r>
              <a:rPr lang="en-US" altLang="zh-TW" b="0" dirty="0">
                <a:solidFill>
                  <a:srgbClr val="000000"/>
                </a:solidFill>
              </a:rPr>
              <a:t>Outputs</a:t>
            </a:r>
            <a:endParaRPr lang="zh-TW" altLang="en-US" b="0" dirty="0">
              <a:solidFill>
                <a:srgbClr val="000000"/>
              </a:solidFill>
            </a:endParaRPr>
          </a:p>
          <a:p>
            <a:pPr eaLnBrk="1" hangingPunct="1">
              <a:spcBef>
                <a:spcPts val="300"/>
              </a:spcBef>
              <a:spcAft>
                <a:spcPts val="600"/>
              </a:spcAft>
              <a:defRPr/>
            </a:pPr>
            <a:r>
              <a:rPr lang="zh-TW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常用工具</a:t>
            </a:r>
            <a:r>
              <a:rPr lang="en-US" altLang="zh-TW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eaLnBrk="1" hangingPunct="1">
              <a:spcBef>
                <a:spcPts val="300"/>
              </a:spcBef>
              <a:spcAft>
                <a:spcPts val="600"/>
              </a:spcAft>
              <a:defRPr/>
            </a:pPr>
            <a:r>
              <a:rPr lang="en-US" altLang="zh-TW" b="0" dirty="0">
                <a:solidFill>
                  <a:srgbClr val="000000"/>
                </a:solidFill>
              </a:rPr>
              <a:t>VOC</a:t>
            </a:r>
            <a:r>
              <a:rPr lang="zh-TW" altLang="en-US" b="0" dirty="0">
                <a:solidFill>
                  <a:srgbClr val="000000"/>
                </a:solidFill>
              </a:rPr>
              <a:t> </a:t>
            </a:r>
            <a:r>
              <a:rPr lang="en-US" altLang="zh-TW" b="0" dirty="0">
                <a:solidFill>
                  <a:srgbClr val="000000"/>
                </a:solidFill>
              </a:rPr>
              <a:t>to CTQ</a:t>
            </a:r>
            <a:r>
              <a:rPr lang="zh-TW" altLang="en-US" b="0" dirty="0">
                <a:solidFill>
                  <a:srgbClr val="000000"/>
                </a:solidFill>
              </a:rPr>
              <a:t>表、一般常用圖表。</a:t>
            </a:r>
            <a:endParaRPr lang="en-US" altLang="zh-TW" b="0" dirty="0">
              <a:solidFill>
                <a:srgbClr val="000000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12AD143-DD42-EEC1-C482-834780F32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287" y="3885981"/>
            <a:ext cx="4353339" cy="2416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142590FC-890A-E86E-8C49-1C0A336E4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174" y="3815955"/>
            <a:ext cx="4509052" cy="2502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5621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E514C6-A030-9CEA-1683-D8BF7A55F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SIPOC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1E6F62A-12D9-0B74-0F98-A2C8B743C1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Box 77">
            <a:extLst>
              <a:ext uri="{FF2B5EF4-FFF2-40B4-BE49-F238E27FC236}">
                <a16:creationId xmlns:a16="http://schemas.microsoft.com/office/drawing/2014/main" id="{76385569-2FA5-45D0-B642-872498CCC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0865" y="46039"/>
            <a:ext cx="4781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1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：問題釐清，現況與目標</a:t>
            </a: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(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現地、現物</a:t>
            </a: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)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91A2A80-B882-572C-5289-44C79E6B37E4}"/>
              </a:ext>
            </a:extLst>
          </p:cNvPr>
          <p:cNvSpPr txBox="1"/>
          <p:nvPr/>
        </p:nvSpPr>
        <p:spPr>
          <a:xfrm>
            <a:off x="357981" y="913572"/>
            <a:ext cx="11489462" cy="3116263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l">
              <a:defRPr sz="18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eaLnBrk="1" hangingPunct="1">
              <a:spcBef>
                <a:spcPts val="300"/>
              </a:spcBef>
              <a:spcAft>
                <a:spcPts val="600"/>
              </a:spcAft>
              <a:defRPr/>
            </a:pPr>
            <a:r>
              <a: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目的</a:t>
            </a:r>
            <a:r>
              <a:rPr lang="en-US" altLang="zh-TW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zh-TW" altLang="en-US" b="0" dirty="0">
                <a:solidFill>
                  <a:srgbClr val="000000"/>
                </a:solidFill>
              </a:rPr>
              <a:t>藉此先大致瞭解專案中改善的範圍或注重的關鍵流程。</a:t>
            </a:r>
            <a:endParaRPr lang="en-US" altLang="zh-TW" b="0" dirty="0">
              <a:solidFill>
                <a:srgbClr val="000000"/>
              </a:solidFill>
            </a:endParaRPr>
          </a:p>
          <a:p>
            <a:pPr eaLnBrk="1" hangingPunct="1">
              <a:spcBef>
                <a:spcPts val="300"/>
              </a:spcBef>
              <a:spcAft>
                <a:spcPts val="600"/>
              </a:spcAft>
              <a:defRPr/>
            </a:pPr>
            <a:r>
              <a: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注意事項</a:t>
            </a:r>
            <a:r>
              <a:rPr lang="en-US" altLang="zh-TW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en-US" altLang="zh-TW" b="0" dirty="0">
                <a:solidFill>
                  <a:srgbClr val="000000"/>
                </a:solidFill>
              </a:rPr>
              <a:t>S, P, C </a:t>
            </a:r>
            <a:r>
              <a:rPr lang="zh-TW" altLang="en-US" b="0" dirty="0">
                <a:solidFill>
                  <a:srgbClr val="000000"/>
                </a:solidFill>
              </a:rPr>
              <a:t>內容會是同類型名詞，</a:t>
            </a:r>
            <a:r>
              <a:rPr lang="en-US" altLang="zh-TW" b="0" dirty="0">
                <a:solidFill>
                  <a:srgbClr val="000000"/>
                </a:solidFill>
              </a:rPr>
              <a:t>I, O </a:t>
            </a:r>
            <a:r>
              <a:rPr lang="zh-TW" altLang="en-US" b="0" dirty="0">
                <a:solidFill>
                  <a:srgbClr val="000000"/>
                </a:solidFill>
              </a:rPr>
              <a:t>內容會是同類型的名詞，通常用英文複數。</a:t>
            </a:r>
            <a:endParaRPr lang="en-US" altLang="zh-TW" b="0" dirty="0">
              <a:solidFill>
                <a:srgbClr val="000000"/>
              </a:solidFill>
            </a:endParaRP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en-US" altLang="zh-TW" b="0" dirty="0">
                <a:solidFill>
                  <a:srgbClr val="000000"/>
                </a:solidFill>
              </a:rPr>
              <a:t>Process</a:t>
            </a:r>
            <a:r>
              <a:rPr lang="zh-TW" altLang="en-US" b="0" dirty="0">
                <a:solidFill>
                  <a:srgbClr val="000000"/>
                </a:solidFill>
              </a:rPr>
              <a:t>展開的所有流程，不應與</a:t>
            </a:r>
            <a:r>
              <a:rPr lang="en-US" altLang="zh-TW" b="0" dirty="0">
                <a:solidFill>
                  <a:srgbClr val="000000"/>
                </a:solidFill>
              </a:rPr>
              <a:t>O, C</a:t>
            </a:r>
            <a:r>
              <a:rPr lang="zh-TW" altLang="en-US" b="0" dirty="0">
                <a:solidFill>
                  <a:srgbClr val="000000"/>
                </a:solidFill>
              </a:rPr>
              <a:t>中的流程重複</a:t>
            </a:r>
            <a:r>
              <a:rPr lang="en-US" altLang="zh-TW" b="0" dirty="0">
                <a:solidFill>
                  <a:srgbClr val="000000"/>
                </a:solidFill>
              </a:rPr>
              <a:t>/</a:t>
            </a:r>
            <a:r>
              <a:rPr lang="zh-TW" altLang="en-US" b="0" dirty="0">
                <a:solidFill>
                  <a:srgbClr val="000000"/>
                </a:solidFill>
              </a:rPr>
              <a:t>疊。</a:t>
            </a:r>
            <a:endParaRPr lang="en-US" altLang="zh-TW" b="0" dirty="0">
              <a:solidFill>
                <a:srgbClr val="000000"/>
              </a:solidFill>
            </a:endParaRP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en-US" altLang="zh-TW" b="0" dirty="0">
                <a:solidFill>
                  <a:srgbClr val="000000"/>
                </a:solidFill>
              </a:rPr>
              <a:t>Customer(C)</a:t>
            </a:r>
            <a:r>
              <a:rPr lang="zh-TW" altLang="en-US" b="0" dirty="0">
                <a:solidFill>
                  <a:srgbClr val="000000"/>
                </a:solidFill>
              </a:rPr>
              <a:t>的內容可有多個</a:t>
            </a:r>
            <a:r>
              <a:rPr lang="en-US" altLang="zh-TW" b="0" dirty="0">
                <a:solidFill>
                  <a:srgbClr val="000000"/>
                </a:solidFill>
              </a:rPr>
              <a:t>(</a:t>
            </a:r>
            <a:r>
              <a:rPr lang="zh-TW" altLang="en-US" b="0" dirty="0">
                <a:solidFill>
                  <a:srgbClr val="000000"/>
                </a:solidFill>
              </a:rPr>
              <a:t>內部、外部客戶</a:t>
            </a:r>
            <a:r>
              <a:rPr lang="en-US" altLang="zh-TW" b="0" dirty="0">
                <a:solidFill>
                  <a:srgbClr val="000000"/>
                </a:solidFill>
              </a:rPr>
              <a:t>)</a:t>
            </a:r>
            <a:r>
              <a:rPr lang="zh-TW" altLang="en-US" b="0" dirty="0">
                <a:solidFill>
                  <a:srgbClr val="000000"/>
                </a:solidFill>
              </a:rPr>
              <a:t>，且要與</a:t>
            </a:r>
            <a:r>
              <a:rPr lang="en-US" altLang="zh-TW" b="0" dirty="0">
                <a:solidFill>
                  <a:srgbClr val="000000"/>
                </a:solidFill>
              </a:rPr>
              <a:t>VOC</a:t>
            </a:r>
            <a:r>
              <a:rPr lang="zh-TW" altLang="en-US" b="0" dirty="0">
                <a:solidFill>
                  <a:srgbClr val="000000"/>
                </a:solidFill>
              </a:rPr>
              <a:t>的</a:t>
            </a:r>
            <a:r>
              <a:rPr lang="en-US" altLang="zh-TW" b="0" dirty="0">
                <a:solidFill>
                  <a:srgbClr val="000000"/>
                </a:solidFill>
              </a:rPr>
              <a:t>C</a:t>
            </a:r>
            <a:r>
              <a:rPr lang="zh-TW" altLang="en-US" b="0" dirty="0">
                <a:solidFill>
                  <a:srgbClr val="000000"/>
                </a:solidFill>
              </a:rPr>
              <a:t>一致。</a:t>
            </a:r>
            <a:endParaRPr lang="en-US" altLang="zh-TW" b="0" dirty="0">
              <a:solidFill>
                <a:srgbClr val="000000"/>
              </a:solidFill>
            </a:endParaRPr>
          </a:p>
          <a:p>
            <a:pPr eaLnBrk="1" hangingPunct="1">
              <a:spcBef>
                <a:spcPts val="300"/>
              </a:spcBef>
              <a:spcAft>
                <a:spcPts val="600"/>
              </a:spcAft>
              <a:defRPr/>
            </a:pPr>
            <a:r>
              <a:rPr lang="zh-TW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常用工具</a:t>
            </a:r>
            <a:r>
              <a:rPr lang="en-US" altLang="zh-TW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eaLnBrk="1" hangingPunct="1">
              <a:spcBef>
                <a:spcPts val="300"/>
              </a:spcBef>
              <a:spcAft>
                <a:spcPts val="600"/>
              </a:spcAft>
              <a:defRPr/>
            </a:pPr>
            <a:r>
              <a:rPr lang="en-US" altLang="zh-TW" b="0" dirty="0">
                <a:solidFill>
                  <a:srgbClr val="000000"/>
                </a:solidFill>
              </a:rPr>
              <a:t>VOC</a:t>
            </a:r>
            <a:r>
              <a:rPr lang="zh-TW" altLang="en-US" b="0" dirty="0">
                <a:solidFill>
                  <a:srgbClr val="000000"/>
                </a:solidFill>
              </a:rPr>
              <a:t> </a:t>
            </a:r>
            <a:r>
              <a:rPr lang="en-US" altLang="zh-TW" b="0" dirty="0">
                <a:solidFill>
                  <a:srgbClr val="000000"/>
                </a:solidFill>
              </a:rPr>
              <a:t>to CTQ</a:t>
            </a:r>
            <a:r>
              <a:rPr lang="zh-TW" altLang="en-US" b="0" dirty="0">
                <a:solidFill>
                  <a:srgbClr val="000000"/>
                </a:solidFill>
              </a:rPr>
              <a:t>表、一般常用圖表。</a:t>
            </a:r>
            <a:endParaRPr lang="en-US" altLang="zh-TW" b="0" dirty="0">
              <a:solidFill>
                <a:srgbClr val="000000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59D7D56-D3ED-684C-7856-08E5713D2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336" y="751618"/>
            <a:ext cx="7918291" cy="5670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圖片 15">
            <a:extLst>
              <a:ext uri="{FF2B5EF4-FFF2-40B4-BE49-F238E27FC236}">
                <a16:creationId xmlns:a16="http://schemas.microsoft.com/office/drawing/2014/main" id="{C0908841-3D7E-954A-002C-5A4BC1D1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6621" y="3586907"/>
            <a:ext cx="3744201" cy="2189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5935213-C0EE-D38E-A65A-6FAEAB987124}"/>
              </a:ext>
            </a:extLst>
          </p:cNvPr>
          <p:cNvSpPr/>
          <p:nvPr/>
        </p:nvSpPr>
        <p:spPr>
          <a:xfrm>
            <a:off x="268288" y="4386943"/>
            <a:ext cx="1604055" cy="71866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增層各站製程</a:t>
            </a:r>
            <a:endParaRPr lang="en-US" altLang="zh-TW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0DB89F-7AB9-632E-86CB-58D82EA19A04}"/>
              </a:ext>
            </a:extLst>
          </p:cNvPr>
          <p:cNvSpPr/>
          <p:nvPr/>
        </p:nvSpPr>
        <p:spPr>
          <a:xfrm>
            <a:off x="2488974" y="4365172"/>
            <a:ext cx="1604055" cy="71866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各製程條件</a:t>
            </a:r>
            <a:endParaRPr lang="en-US" altLang="zh-TW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EBABED-0450-FE87-89B1-11DD1F98B35D}"/>
              </a:ext>
            </a:extLst>
          </p:cNvPr>
          <p:cNvSpPr/>
          <p:nvPr/>
        </p:nvSpPr>
        <p:spPr>
          <a:xfrm>
            <a:off x="4750685" y="4365172"/>
            <a:ext cx="1604055" cy="71866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WPG</a:t>
            </a:r>
            <a:r>
              <a:rPr lang="zh-TW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數據分析</a:t>
            </a:r>
            <a:endParaRPr lang="en-US" altLang="zh-TW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4A6333-A858-24D0-9803-85F726E57DDF}"/>
              </a:ext>
            </a:extLst>
          </p:cNvPr>
          <p:cNvSpPr/>
          <p:nvPr/>
        </p:nvSpPr>
        <p:spPr>
          <a:xfrm>
            <a:off x="7012396" y="4365172"/>
            <a:ext cx="1604055" cy="71866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關鍵因子</a:t>
            </a:r>
            <a:endParaRPr lang="en-US" altLang="zh-TW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787C01B-9815-3CC8-6487-6B39D187710A}"/>
              </a:ext>
            </a:extLst>
          </p:cNvPr>
          <p:cNvSpPr/>
          <p:nvPr/>
        </p:nvSpPr>
        <p:spPr>
          <a:xfrm>
            <a:off x="9070079" y="4365172"/>
            <a:ext cx="1604055" cy="71866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產品良率</a:t>
            </a:r>
            <a:endParaRPr lang="en-US" altLang="zh-TW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DA5070-B348-7328-46DD-8F7DFED0AF5D}"/>
              </a:ext>
            </a:extLst>
          </p:cNvPr>
          <p:cNvSpPr/>
          <p:nvPr/>
        </p:nvSpPr>
        <p:spPr>
          <a:xfrm>
            <a:off x="4750685" y="5585095"/>
            <a:ext cx="1604055" cy="71866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OST</a:t>
            </a:r>
            <a:r>
              <a:rPr lang="zh-TW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數據分析</a:t>
            </a:r>
            <a:endParaRPr lang="en-US" altLang="zh-TW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67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798EFD-501A-41C8-8F5E-D11B62A2F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現況把握與目標訂定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F0C0CD9-480A-FCCF-B11E-EA87DF9EC3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4929731-2BDD-7D27-8DD0-F172CB0FB029}"/>
              </a:ext>
            </a:extLst>
          </p:cNvPr>
          <p:cNvSpPr txBox="1"/>
          <p:nvPr/>
        </p:nvSpPr>
        <p:spPr>
          <a:xfrm>
            <a:off x="0" y="46039"/>
            <a:ext cx="2807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1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：現況與專案目標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71A85DB5-C687-5C5D-8713-5EFE99F58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614" y="922614"/>
            <a:ext cx="5489229" cy="1287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TW" altLang="en-US" sz="18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目標</a:t>
            </a:r>
            <a:r>
              <a:rPr lang="en-US" altLang="zh-TW" sz="18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(KPI)</a:t>
            </a:r>
            <a:r>
              <a:rPr lang="zh-TW" altLang="en-US" sz="18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訂定理由：公式定義說明、預期效益計算</a:t>
            </a:r>
            <a:endParaRPr lang="en-US" altLang="zh-TW" sz="18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TW" altLang="en-US" sz="18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方法</a:t>
            </a:r>
            <a:r>
              <a:rPr lang="en-US" altLang="zh-TW" sz="18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TW" sz="18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SMART</a:t>
            </a:r>
            <a:r>
              <a:rPr lang="zh-TW" altLang="en-US" sz="18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法則展開、長條圖</a:t>
            </a:r>
          </a:p>
        </p:txBody>
      </p:sp>
      <p:pic>
        <p:nvPicPr>
          <p:cNvPr id="7" name="圖片 2">
            <a:extLst>
              <a:ext uri="{FF2B5EF4-FFF2-40B4-BE49-F238E27FC236}">
                <a16:creationId xmlns:a16="http://schemas.microsoft.com/office/drawing/2014/main" id="{C84412A1-4FE3-5071-20B9-3E12D2976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35" y="2705659"/>
            <a:ext cx="3563314" cy="3111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33">
            <a:extLst>
              <a:ext uri="{FF2B5EF4-FFF2-40B4-BE49-F238E27FC236}">
                <a16:creationId xmlns:a16="http://schemas.microsoft.com/office/drawing/2014/main" id="{0E33F0FB-62EF-B339-BB96-945F2B9AD8EA}"/>
              </a:ext>
            </a:extLst>
          </p:cNvPr>
          <p:cNvGrpSpPr>
            <a:grpSpLocks/>
          </p:cNvGrpSpPr>
          <p:nvPr/>
        </p:nvGrpSpPr>
        <p:grpSpPr bwMode="auto">
          <a:xfrm>
            <a:off x="4508452" y="3053243"/>
            <a:ext cx="3818779" cy="2625201"/>
            <a:chOff x="264" y="1472"/>
            <a:chExt cx="2904" cy="1968"/>
          </a:xfrm>
        </p:grpSpPr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C40C291A-CAC8-7C49-90D1-38FB8E02F9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" y="1472"/>
              <a:ext cx="0" cy="1960"/>
            </a:xfrm>
            <a:prstGeom prst="line">
              <a:avLst/>
            </a:prstGeom>
            <a:noFill/>
            <a:ln w="5715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7B5CCD76-6036-DF06-118E-AD5D8AC43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" y="3440"/>
              <a:ext cx="2896" cy="0"/>
            </a:xfrm>
            <a:prstGeom prst="line">
              <a:avLst/>
            </a:prstGeom>
            <a:noFill/>
            <a:ln w="5715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1" name="Group 21">
            <a:extLst>
              <a:ext uri="{FF2B5EF4-FFF2-40B4-BE49-F238E27FC236}">
                <a16:creationId xmlns:a16="http://schemas.microsoft.com/office/drawing/2014/main" id="{741378BC-B399-B631-178D-6E61CD2136CB}"/>
              </a:ext>
            </a:extLst>
          </p:cNvPr>
          <p:cNvGrpSpPr>
            <a:grpSpLocks/>
          </p:cNvGrpSpPr>
          <p:nvPr/>
        </p:nvGrpSpPr>
        <p:grpSpPr bwMode="auto">
          <a:xfrm>
            <a:off x="5032688" y="4220857"/>
            <a:ext cx="2762543" cy="689653"/>
            <a:chOff x="432" y="1944"/>
            <a:chExt cx="1176" cy="672"/>
          </a:xfrm>
        </p:grpSpPr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F2B78395-138C-4B75-9968-DE6BB46CA3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2" y="1968"/>
              <a:ext cx="160" cy="528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E227E938-3490-FD6C-E94E-83ACF2A490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4" y="1952"/>
              <a:ext cx="168" cy="640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4F99EABB-41A5-36D4-2A52-004DD728C0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2" y="2056"/>
              <a:ext cx="136" cy="536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F84D28F8-CEA1-1934-C059-ED0D96E900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056"/>
              <a:ext cx="112" cy="440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55840F53-1446-46A1-1393-F524D74045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20" y="1944"/>
              <a:ext cx="152" cy="552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0B43D255-F7E5-8494-46D8-90F528609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2" y="1952"/>
              <a:ext cx="152" cy="656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0636F6E7-7880-5255-3A31-1D073C68FD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2" y="2080"/>
              <a:ext cx="112" cy="416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7643384D-3731-E3CD-3D4F-94A3F5EC36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32" y="2096"/>
              <a:ext cx="176" cy="520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0" name="Text Box 20">
            <a:extLst>
              <a:ext uri="{FF2B5EF4-FFF2-40B4-BE49-F238E27FC236}">
                <a16:creationId xmlns:a16="http://schemas.microsoft.com/office/drawing/2014/main" id="{BAC360FA-78E8-7FF4-A0E0-D7434F4D7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621" y="2719909"/>
            <a:ext cx="193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24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專案指標</a:t>
            </a:r>
          </a:p>
        </p:txBody>
      </p:sp>
      <p:sp>
        <p:nvSpPr>
          <p:cNvPr id="21" name="Line 25">
            <a:extLst>
              <a:ext uri="{FF2B5EF4-FFF2-40B4-BE49-F238E27FC236}">
                <a16:creationId xmlns:a16="http://schemas.microsoft.com/office/drawing/2014/main" id="{1DD5BF3F-500D-A929-1C90-3B0462D68C1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56550" y="4114378"/>
            <a:ext cx="2762542" cy="146727"/>
          </a:xfrm>
          <a:prstGeom prst="line">
            <a:avLst/>
          </a:prstGeom>
          <a:noFill/>
          <a:ln w="12700">
            <a:solidFill>
              <a:schemeClr val="bg2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" name="Text Box 26">
            <a:extLst>
              <a:ext uri="{FF2B5EF4-FFF2-40B4-BE49-F238E27FC236}">
                <a16:creationId xmlns:a16="http://schemas.microsoft.com/office/drawing/2014/main" id="{18001CDE-F7DA-895B-01BD-5917BB343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9841" y="3152472"/>
            <a:ext cx="3578223" cy="307777"/>
          </a:xfrm>
          <a:prstGeom prst="rect">
            <a:avLst/>
          </a:prstGeom>
          <a:noFill/>
          <a:ln w="12700" cap="sq">
            <a:solidFill>
              <a:schemeClr val="bg2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4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改善前資料範圍</a:t>
            </a:r>
            <a:r>
              <a:rPr lang="en-US" altLang="zh-TW" sz="14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:</a:t>
            </a:r>
            <a:r>
              <a:rPr lang="zh-TW" altLang="en-US" sz="14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 </a:t>
            </a:r>
            <a:r>
              <a:rPr lang="en-US" altLang="zh-TW" sz="14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20xx</a:t>
            </a:r>
            <a:r>
              <a:rPr lang="zh-TW" altLang="en-US" sz="14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年</a:t>
            </a:r>
            <a:r>
              <a:rPr lang="en-US" altLang="zh-TW" sz="14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x</a:t>
            </a:r>
            <a:r>
              <a:rPr lang="zh-TW" altLang="en-US" sz="14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月</a:t>
            </a:r>
            <a:r>
              <a:rPr lang="en-US" altLang="zh-TW" sz="14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~20xx</a:t>
            </a:r>
            <a:r>
              <a:rPr lang="zh-TW" altLang="en-US" sz="14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年</a:t>
            </a:r>
            <a:r>
              <a:rPr lang="en-US" altLang="zh-TW" sz="14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x</a:t>
            </a:r>
            <a:r>
              <a:rPr lang="zh-TW" altLang="en-US" sz="14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月 </a:t>
            </a:r>
          </a:p>
        </p:txBody>
      </p:sp>
      <p:sp>
        <p:nvSpPr>
          <p:cNvPr id="23" name="Text Box 27">
            <a:extLst>
              <a:ext uri="{FF2B5EF4-FFF2-40B4-BE49-F238E27FC236}">
                <a16:creationId xmlns:a16="http://schemas.microsoft.com/office/drawing/2014/main" id="{8047A394-B579-A933-4E2D-4A52305D0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4610" y="3769618"/>
            <a:ext cx="1854200" cy="33655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6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改善前水準</a:t>
            </a:r>
            <a:r>
              <a:rPr lang="en-US" altLang="zh-TW" sz="16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: 100 </a:t>
            </a:r>
          </a:p>
        </p:txBody>
      </p:sp>
      <p:sp>
        <p:nvSpPr>
          <p:cNvPr id="27" name="Text Box 35">
            <a:extLst>
              <a:ext uri="{FF2B5EF4-FFF2-40B4-BE49-F238E27FC236}">
                <a16:creationId xmlns:a16="http://schemas.microsoft.com/office/drawing/2014/main" id="{4D01A4DD-3DBF-A15D-4082-55AEDD3D9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4519" y="2719909"/>
            <a:ext cx="193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24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專案指標</a:t>
            </a:r>
          </a:p>
        </p:txBody>
      </p:sp>
      <p:sp>
        <p:nvSpPr>
          <p:cNvPr id="28" name="Rectangle 36">
            <a:extLst>
              <a:ext uri="{FF2B5EF4-FFF2-40B4-BE49-F238E27FC236}">
                <a16:creationId xmlns:a16="http://schemas.microsoft.com/office/drawing/2014/main" id="{279C010E-B2D6-E10A-3FD1-BEC89B558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0219" y="3660664"/>
            <a:ext cx="393700" cy="2006600"/>
          </a:xfrm>
          <a:prstGeom prst="rect">
            <a:avLst/>
          </a:prstGeom>
          <a:solidFill>
            <a:srgbClr val="FF99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en-US" sz="1800">
              <a:solidFill>
                <a:schemeClr val="tx1"/>
              </a:solidFill>
            </a:endParaRPr>
          </a:p>
        </p:txBody>
      </p:sp>
      <p:sp>
        <p:nvSpPr>
          <p:cNvPr id="29" name="Rectangle 37">
            <a:extLst>
              <a:ext uri="{FF2B5EF4-FFF2-40B4-BE49-F238E27FC236}">
                <a16:creationId xmlns:a16="http://schemas.microsoft.com/office/drawing/2014/main" id="{38DF9800-49A1-E74F-D0C9-E35F01BF3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9719" y="4321064"/>
            <a:ext cx="393700" cy="1346200"/>
          </a:xfrm>
          <a:prstGeom prst="rect">
            <a:avLst/>
          </a:prstGeom>
          <a:solidFill>
            <a:srgbClr val="FF99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en-US" sz="1800">
              <a:solidFill>
                <a:schemeClr val="tx1"/>
              </a:solidFill>
            </a:endParaRPr>
          </a:p>
        </p:txBody>
      </p:sp>
      <p:sp>
        <p:nvSpPr>
          <p:cNvPr id="30" name="Text Box 38">
            <a:extLst>
              <a:ext uri="{FF2B5EF4-FFF2-40B4-BE49-F238E27FC236}">
                <a16:creationId xmlns:a16="http://schemas.microsoft.com/office/drawing/2014/main" id="{A992328B-47AC-1A3E-FF48-8AA1224B4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9719" y="5849827"/>
            <a:ext cx="8382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600" b="1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改善前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600" b="1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水準</a:t>
            </a:r>
          </a:p>
        </p:txBody>
      </p:sp>
      <p:sp>
        <p:nvSpPr>
          <p:cNvPr id="31" name="Text Box 39">
            <a:extLst>
              <a:ext uri="{FF2B5EF4-FFF2-40B4-BE49-F238E27FC236}">
                <a16:creationId xmlns:a16="http://schemas.microsoft.com/office/drawing/2014/main" id="{66F6C107-95EE-F823-1965-8A742D99D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1119" y="5875227"/>
            <a:ext cx="10541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600" b="1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專案目標</a:t>
            </a:r>
          </a:p>
        </p:txBody>
      </p:sp>
      <p:sp>
        <p:nvSpPr>
          <p:cNvPr id="32" name="AutoShape 40">
            <a:extLst>
              <a:ext uri="{FF2B5EF4-FFF2-40B4-BE49-F238E27FC236}">
                <a16:creationId xmlns:a16="http://schemas.microsoft.com/office/drawing/2014/main" id="{675D8BFC-4CAB-B71E-580E-071A54929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0519" y="3660664"/>
            <a:ext cx="342900" cy="533400"/>
          </a:xfrm>
          <a:prstGeom prst="downArrow">
            <a:avLst>
              <a:gd name="adj1" fmla="val 50000"/>
              <a:gd name="adj2" fmla="val 38889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en-US" sz="1800">
              <a:solidFill>
                <a:schemeClr val="tx1"/>
              </a:solidFill>
            </a:endParaRPr>
          </a:p>
        </p:txBody>
      </p:sp>
      <p:sp>
        <p:nvSpPr>
          <p:cNvPr id="33" name="Text Box 41">
            <a:extLst>
              <a:ext uri="{FF2B5EF4-FFF2-40B4-BE49-F238E27FC236}">
                <a16:creationId xmlns:a16="http://schemas.microsoft.com/office/drawing/2014/main" id="{A70A9EFD-56C6-83A8-DCF8-475B6BCB3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4393" y="3260725"/>
            <a:ext cx="1625600" cy="33655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6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改善幅度 </a:t>
            </a:r>
            <a:r>
              <a:rPr lang="en-US" altLang="zh-TW" sz="16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: 30% 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43B1D95-40BA-4AD9-82B2-4C66FB310953}"/>
              </a:ext>
            </a:extLst>
          </p:cNvPr>
          <p:cNvGrpSpPr>
            <a:grpSpLocks/>
          </p:cNvGrpSpPr>
          <p:nvPr/>
        </p:nvGrpSpPr>
        <p:grpSpPr bwMode="auto">
          <a:xfrm>
            <a:off x="9017939" y="3452924"/>
            <a:ext cx="2686382" cy="2231540"/>
            <a:chOff x="264" y="1472"/>
            <a:chExt cx="2904" cy="1968"/>
          </a:xfrm>
        </p:grpSpPr>
        <p:sp>
          <p:nvSpPr>
            <p:cNvPr id="35" name="Line 7">
              <a:extLst>
                <a:ext uri="{FF2B5EF4-FFF2-40B4-BE49-F238E27FC236}">
                  <a16:creationId xmlns:a16="http://schemas.microsoft.com/office/drawing/2014/main" id="{5352A648-AD63-C290-2F0A-59FA7C4CEE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" y="1472"/>
              <a:ext cx="0" cy="1960"/>
            </a:xfrm>
            <a:prstGeom prst="line">
              <a:avLst/>
            </a:prstGeom>
            <a:noFill/>
            <a:ln w="5715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6" name="Line 8">
              <a:extLst>
                <a:ext uri="{FF2B5EF4-FFF2-40B4-BE49-F238E27FC236}">
                  <a16:creationId xmlns:a16="http://schemas.microsoft.com/office/drawing/2014/main" id="{273D3AE0-D24A-17BC-7837-E1FE271925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" y="3440"/>
              <a:ext cx="2896" cy="0"/>
            </a:xfrm>
            <a:prstGeom prst="line">
              <a:avLst/>
            </a:prstGeom>
            <a:noFill/>
            <a:ln w="5715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6329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55CC92-92A9-73DF-5B97-47EBE1B4D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數據來源探索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23C6374-199F-1B31-2A7C-D879DB6F82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1A4EB84-3135-C443-1C36-598DF4587D9B}"/>
              </a:ext>
            </a:extLst>
          </p:cNvPr>
          <p:cNvSpPr txBox="1"/>
          <p:nvPr/>
        </p:nvSpPr>
        <p:spPr>
          <a:xfrm>
            <a:off x="459340" y="956365"/>
            <a:ext cx="11427860" cy="387029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l">
              <a:defRPr sz="18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eaLnBrk="1" hangingPunct="1">
              <a:spcBef>
                <a:spcPts val="300"/>
              </a:spcBef>
              <a:spcAft>
                <a:spcPts val="600"/>
              </a:spcAft>
              <a:defRPr/>
            </a:pPr>
            <a:r>
              <a: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目的</a:t>
            </a:r>
            <a:r>
              <a:rPr lang="en-US" altLang="zh-TW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zh-TW" altLang="en-US" b="0" dirty="0">
                <a:solidFill>
                  <a:schemeClr val="tx1"/>
                </a:solidFill>
              </a:rPr>
              <a:t>尋找</a:t>
            </a:r>
            <a:r>
              <a:rPr lang="en-US" altLang="zh-TW" b="0" dirty="0">
                <a:solidFill>
                  <a:schemeClr val="tx1"/>
                </a:solidFill>
              </a:rPr>
              <a:t>/</a:t>
            </a:r>
            <a:r>
              <a:rPr lang="zh-TW" altLang="en-US" b="0" dirty="0">
                <a:solidFill>
                  <a:schemeClr val="tx1"/>
                </a:solidFill>
              </a:rPr>
              <a:t>列舉可能造成</a:t>
            </a:r>
            <a:r>
              <a:rPr lang="zh-TW" altLang="en-US" u="sng" dirty="0"/>
              <a:t>定義績效目標</a:t>
            </a:r>
            <a:r>
              <a:rPr lang="zh-TW" altLang="en-US" b="0" dirty="0">
                <a:solidFill>
                  <a:schemeClr val="tx1"/>
                </a:solidFill>
              </a:rPr>
              <a:t>中</a:t>
            </a:r>
            <a:r>
              <a:rPr lang="en-US" altLang="zh-TW" b="0" dirty="0">
                <a:solidFill>
                  <a:schemeClr val="tx1"/>
                </a:solidFill>
              </a:rPr>
              <a:t>KPI(</a:t>
            </a:r>
            <a:r>
              <a:rPr lang="en-US" altLang="zh-TW" u="sng" dirty="0" err="1"/>
              <a:t>Ys</a:t>
            </a:r>
            <a:r>
              <a:rPr lang="en-US" altLang="zh-TW" b="0" dirty="0">
                <a:solidFill>
                  <a:schemeClr val="tx1"/>
                </a:solidFill>
              </a:rPr>
              <a:t> </a:t>
            </a:r>
            <a:r>
              <a:rPr lang="en-US" altLang="zh-TW" sz="1400" b="0" dirty="0">
                <a:solidFill>
                  <a:schemeClr val="tx1"/>
                </a:solidFill>
              </a:rPr>
              <a:t>&amp;</a:t>
            </a:r>
            <a:r>
              <a:rPr lang="en-US" altLang="zh-TW" b="0" dirty="0">
                <a:solidFill>
                  <a:schemeClr val="tx1"/>
                </a:solidFill>
              </a:rPr>
              <a:t> </a:t>
            </a:r>
            <a:r>
              <a:rPr lang="en-US" altLang="zh-TW" u="sng" dirty="0" err="1"/>
              <a:t>ys</a:t>
            </a:r>
            <a:r>
              <a:rPr lang="en-US" altLang="zh-TW" b="0" dirty="0">
                <a:solidFill>
                  <a:schemeClr val="tx1"/>
                </a:solidFill>
              </a:rPr>
              <a:t>)</a:t>
            </a:r>
            <a:r>
              <a:rPr lang="zh-TW" altLang="en-US" b="0" dirty="0">
                <a:solidFill>
                  <a:schemeClr val="tx1"/>
                </a:solidFill>
              </a:rPr>
              <a:t>問題的原因。</a:t>
            </a:r>
            <a:endParaRPr lang="en-US" altLang="zh-TW" b="0" dirty="0">
              <a:solidFill>
                <a:schemeClr val="tx1"/>
              </a:solidFill>
            </a:endParaRPr>
          </a:p>
          <a:p>
            <a:pPr eaLnBrk="1" hangingPunct="1">
              <a:spcBef>
                <a:spcPts val="300"/>
              </a:spcBef>
              <a:spcAft>
                <a:spcPts val="600"/>
              </a:spcAft>
              <a:defRPr/>
            </a:pPr>
            <a:r>
              <a:rPr lang="en-US" altLang="zh-TW" sz="1600" dirty="0"/>
              <a:t>※</a:t>
            </a:r>
            <a:r>
              <a:rPr lang="zh-TW" altLang="en-US" sz="1600" dirty="0"/>
              <a:t>「 </a:t>
            </a:r>
            <a:r>
              <a:rPr lang="en-US" altLang="zh-TW" sz="1600" dirty="0" err="1"/>
              <a:t>Ys</a:t>
            </a:r>
            <a:r>
              <a:rPr lang="en-US" altLang="zh-TW" sz="1600" dirty="0"/>
              <a:t> &amp; </a:t>
            </a:r>
            <a:r>
              <a:rPr lang="en-US" altLang="zh-TW" sz="1600" dirty="0" err="1"/>
              <a:t>ys</a:t>
            </a:r>
            <a:r>
              <a:rPr lang="zh-TW" altLang="en-US" sz="1600" dirty="0"/>
              <a:t>」若</a:t>
            </a:r>
            <a:r>
              <a:rPr lang="en-US" altLang="zh-TW" sz="1600" dirty="0" err="1"/>
              <a:t>ys</a:t>
            </a:r>
            <a:r>
              <a:rPr lang="zh-TW" altLang="en-US" sz="1600" dirty="0"/>
              <a:t>在此前沒出現過，需先說明清楚</a:t>
            </a:r>
            <a:r>
              <a:rPr lang="en-US" altLang="zh-TW" sz="1600" dirty="0" err="1"/>
              <a:t>Ys</a:t>
            </a:r>
            <a:r>
              <a:rPr lang="en-US" altLang="zh-TW" sz="1600" dirty="0"/>
              <a:t> &amp; </a:t>
            </a:r>
            <a:r>
              <a:rPr lang="en-US" altLang="zh-TW" sz="1600" dirty="0" err="1"/>
              <a:t>ys</a:t>
            </a:r>
            <a:r>
              <a:rPr lang="zh-TW" altLang="en-US" sz="1600" dirty="0"/>
              <a:t>的關係，再續分析。</a:t>
            </a:r>
            <a:endParaRPr lang="en-US" altLang="zh-TW" sz="1600" dirty="0"/>
          </a:p>
          <a:p>
            <a:pPr eaLnBrk="1" hangingPunct="1">
              <a:spcBef>
                <a:spcPts val="300"/>
              </a:spcBef>
              <a:spcAft>
                <a:spcPts val="600"/>
              </a:spcAft>
              <a:defRPr/>
            </a:pPr>
            <a:r>
              <a: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注意事項</a:t>
            </a:r>
            <a:r>
              <a:rPr lang="en-US" altLang="zh-TW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zh-TW" altLang="en-US" b="0" dirty="0">
                <a:solidFill>
                  <a:schemeClr val="tx1"/>
                </a:solidFill>
              </a:rPr>
              <a:t>失效模式</a:t>
            </a:r>
            <a:r>
              <a:rPr lang="en-US" altLang="zh-TW" b="0" dirty="0">
                <a:solidFill>
                  <a:schemeClr val="tx1"/>
                </a:solidFill>
              </a:rPr>
              <a:t>(</a:t>
            </a:r>
            <a:r>
              <a:rPr lang="zh-TW" altLang="en-US" b="0" dirty="0">
                <a:solidFill>
                  <a:schemeClr val="tx1"/>
                </a:solidFill>
              </a:rPr>
              <a:t>現象</a:t>
            </a:r>
            <a:r>
              <a:rPr lang="en-US" altLang="zh-TW" b="0" dirty="0">
                <a:solidFill>
                  <a:schemeClr val="tx1"/>
                </a:solidFill>
              </a:rPr>
              <a:t>)</a:t>
            </a:r>
            <a:r>
              <a:rPr lang="zh-TW" altLang="en-US" b="0" dirty="0">
                <a:solidFill>
                  <a:schemeClr val="tx1"/>
                </a:solidFill>
              </a:rPr>
              <a:t>與根因經常弄混，</a:t>
            </a:r>
            <a:r>
              <a:rPr lang="zh-TW" altLang="en-US" dirty="0"/>
              <a:t>多數層別都未能展到根因</a:t>
            </a:r>
            <a:r>
              <a:rPr lang="en-US" altLang="zh-TW" dirty="0"/>
              <a:t>(</a:t>
            </a:r>
            <a:r>
              <a:rPr lang="zh-TW" altLang="en-US" dirty="0"/>
              <a:t>深度不足</a:t>
            </a:r>
            <a:r>
              <a:rPr lang="en-US" altLang="zh-TW" dirty="0"/>
              <a:t>)</a:t>
            </a:r>
            <a:r>
              <a:rPr lang="zh-TW" altLang="en-US" b="0" dirty="0">
                <a:solidFill>
                  <a:schemeClr val="tx1"/>
                </a:solidFill>
              </a:rPr>
              <a:t>；</a:t>
            </a:r>
            <a:endParaRPr lang="en-US" altLang="zh-TW" b="0" dirty="0">
              <a:solidFill>
                <a:schemeClr val="tx1"/>
              </a:solidFill>
            </a:endParaRP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zh-TW" altLang="en-US" b="0" dirty="0">
                <a:solidFill>
                  <a:schemeClr val="tx1"/>
                </a:solidFill>
              </a:rPr>
              <a:t>多數分枝的</a:t>
            </a:r>
            <a:r>
              <a:rPr lang="zh-TW" altLang="en-US" dirty="0"/>
              <a:t>前根因與末根因通常不會是</a:t>
            </a:r>
            <a:r>
              <a:rPr lang="en-US" altLang="zh-TW" dirty="0"/>
              <a:t>1</a:t>
            </a:r>
            <a:r>
              <a:rPr lang="zh-TW" altLang="en-US" dirty="0"/>
              <a:t>對</a:t>
            </a:r>
            <a:r>
              <a:rPr lang="en-US" altLang="zh-TW" dirty="0"/>
              <a:t>1</a:t>
            </a:r>
            <a:r>
              <a:rPr lang="zh-TW" altLang="en-US" dirty="0"/>
              <a:t>的關係</a:t>
            </a:r>
            <a:r>
              <a:rPr lang="zh-TW" altLang="en-US" b="0" dirty="0">
                <a:solidFill>
                  <a:schemeClr val="tx1"/>
                </a:solidFill>
              </a:rPr>
              <a:t>，考慮探討要周全</a:t>
            </a:r>
            <a:r>
              <a:rPr lang="en-US" altLang="zh-TW" b="0" dirty="0">
                <a:solidFill>
                  <a:schemeClr val="tx1"/>
                </a:solidFill>
              </a:rPr>
              <a:t>(</a:t>
            </a:r>
            <a:r>
              <a:rPr lang="zh-TW" altLang="en-US" dirty="0"/>
              <a:t>廣度不足</a:t>
            </a:r>
            <a:r>
              <a:rPr lang="en-US" altLang="zh-TW" b="0" dirty="0">
                <a:solidFill>
                  <a:schemeClr val="tx1"/>
                </a:solidFill>
              </a:rPr>
              <a:t>)</a:t>
            </a:r>
            <a:r>
              <a:rPr lang="zh-TW" altLang="en-US" b="0" dirty="0">
                <a:solidFill>
                  <a:schemeClr val="tx1"/>
                </a:solidFill>
              </a:rPr>
              <a:t>。</a:t>
            </a:r>
            <a:endParaRPr lang="en-US" altLang="zh-TW" b="0" dirty="0">
              <a:solidFill>
                <a:schemeClr val="tx1"/>
              </a:solidFill>
            </a:endParaRP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zh-TW" altLang="en-US" dirty="0"/>
              <a:t>忌諱以充份條件驗證判定為真因 </a:t>
            </a:r>
            <a:r>
              <a:rPr lang="en-US" altLang="zh-TW" b="0" dirty="0">
                <a:solidFill>
                  <a:schemeClr val="tx1"/>
                </a:solidFill>
              </a:rPr>
              <a:t>(</a:t>
            </a:r>
            <a:r>
              <a:rPr lang="en-US" altLang="zh-TW" sz="1600" b="0" dirty="0">
                <a:solidFill>
                  <a:schemeClr val="tx1"/>
                </a:solidFill>
              </a:rPr>
              <a:t>ex: </a:t>
            </a:r>
            <a:r>
              <a:rPr lang="zh-TW" altLang="en-US" sz="1600" b="0" dirty="0">
                <a:solidFill>
                  <a:schemeClr val="tx1"/>
                </a:solidFill>
              </a:rPr>
              <a:t>驗證塞車會導致遲到，所以是真因</a:t>
            </a:r>
            <a:r>
              <a:rPr lang="en-US" altLang="zh-TW" sz="1600" b="0" dirty="0">
                <a:solidFill>
                  <a:schemeClr val="tx1"/>
                </a:solidFill>
              </a:rPr>
              <a:t>?</a:t>
            </a:r>
            <a:r>
              <a:rPr lang="zh-TW" altLang="en-US" sz="1600" b="0" dirty="0">
                <a:solidFill>
                  <a:schemeClr val="tx1"/>
                </a:solidFill>
              </a:rPr>
              <a:t>但真因是晚起</a:t>
            </a:r>
            <a:r>
              <a:rPr lang="en-US" altLang="zh-TW" sz="1600" b="0" dirty="0">
                <a:solidFill>
                  <a:schemeClr val="tx1"/>
                </a:solidFill>
              </a:rPr>
              <a:t>)</a:t>
            </a:r>
            <a:r>
              <a:rPr lang="zh-TW" altLang="en-US" b="0" dirty="0">
                <a:solidFill>
                  <a:schemeClr val="tx1"/>
                </a:solidFill>
              </a:rPr>
              <a:t>；</a:t>
            </a:r>
            <a:endParaRPr lang="en-US" altLang="zh-TW" b="0" dirty="0">
              <a:solidFill>
                <a:schemeClr val="tx1"/>
              </a:solidFill>
            </a:endParaRP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zh-TW" altLang="en-US" b="0" dirty="0">
                <a:solidFill>
                  <a:schemeClr val="tx1"/>
                </a:solidFill>
              </a:rPr>
              <a:t>要清楚說明交代所有可能原因之依據與來源</a:t>
            </a:r>
            <a:r>
              <a:rPr lang="en-US" altLang="zh-TW" b="0" dirty="0">
                <a:solidFill>
                  <a:schemeClr val="tx1"/>
                </a:solidFill>
              </a:rPr>
              <a:t>(FMEA, QA Matrix, QC Table, FTA…)</a:t>
            </a:r>
            <a:endParaRPr lang="zh-TW" altLang="en-US" b="0" dirty="0"/>
          </a:p>
          <a:p>
            <a:pPr eaLnBrk="1" hangingPunct="1">
              <a:spcBef>
                <a:spcPts val="300"/>
              </a:spcBef>
              <a:spcAft>
                <a:spcPts val="600"/>
              </a:spcAft>
              <a:defRPr/>
            </a:pPr>
            <a:r>
              <a:rPr lang="zh-TW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常用工具</a:t>
            </a:r>
            <a:r>
              <a:rPr lang="en-US" altLang="zh-TW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eaLnBrk="1" hangingPunct="1">
              <a:spcBef>
                <a:spcPts val="300"/>
              </a:spcBef>
              <a:spcAft>
                <a:spcPts val="600"/>
              </a:spcAft>
              <a:defRPr/>
            </a:pPr>
            <a:r>
              <a:rPr lang="zh-TW" altLang="en-US" b="0" dirty="0">
                <a:solidFill>
                  <a:schemeClr val="tx1"/>
                </a:solidFill>
              </a:rPr>
              <a:t>評價矩陣、</a:t>
            </a:r>
            <a:r>
              <a:rPr lang="en-US" altLang="zh-TW" b="0" dirty="0">
                <a:solidFill>
                  <a:schemeClr val="tx1"/>
                </a:solidFill>
              </a:rPr>
              <a:t>C&amp;E matrix</a:t>
            </a:r>
            <a:r>
              <a:rPr lang="zh-TW" altLang="en-US" b="0" dirty="0">
                <a:solidFill>
                  <a:schemeClr val="tx1"/>
                </a:solidFill>
              </a:rPr>
              <a:t>、系統圖、魚骨圖</a:t>
            </a:r>
            <a:r>
              <a:rPr lang="en-US" altLang="zh-TW" b="0" dirty="0">
                <a:solidFill>
                  <a:schemeClr val="tx1"/>
                </a:solidFill>
              </a:rPr>
              <a:t>(</a:t>
            </a:r>
            <a:r>
              <a:rPr lang="zh-TW" altLang="en-US" b="0" dirty="0">
                <a:solidFill>
                  <a:schemeClr val="tx1"/>
                </a:solidFill>
              </a:rPr>
              <a:t>魚頭向右</a:t>
            </a:r>
            <a:r>
              <a:rPr lang="en-US" altLang="zh-TW" b="0" dirty="0">
                <a:solidFill>
                  <a:schemeClr val="tx1"/>
                </a:solidFill>
              </a:rPr>
              <a:t>)</a:t>
            </a:r>
            <a:r>
              <a:rPr lang="zh-TW" altLang="en-US" b="0" dirty="0">
                <a:solidFill>
                  <a:schemeClr val="tx1"/>
                </a:solidFill>
              </a:rPr>
              <a:t>、</a:t>
            </a:r>
            <a:r>
              <a:rPr lang="en-US" altLang="zh-TW" b="0" dirty="0">
                <a:solidFill>
                  <a:schemeClr val="tx1"/>
                </a:solidFill>
              </a:rPr>
              <a:t>QA Matrix(</a:t>
            </a:r>
            <a:r>
              <a:rPr lang="zh-TW" altLang="en-US" b="0" dirty="0">
                <a:solidFill>
                  <a:schemeClr val="tx1"/>
                </a:solidFill>
              </a:rPr>
              <a:t>列舉</a:t>
            </a:r>
            <a:r>
              <a:rPr lang="en-US" altLang="zh-TW" b="0" dirty="0">
                <a:solidFill>
                  <a:schemeClr val="tx1"/>
                </a:solidFill>
              </a:rPr>
              <a:t>)</a:t>
            </a:r>
            <a:r>
              <a:rPr lang="zh-TW" altLang="en-US" b="0" dirty="0">
                <a:solidFill>
                  <a:schemeClr val="tx1"/>
                </a:solidFill>
              </a:rPr>
              <a:t>、</a:t>
            </a:r>
            <a:r>
              <a:rPr lang="en-US" altLang="zh-TW" b="0" dirty="0">
                <a:solidFill>
                  <a:schemeClr val="tx1"/>
                </a:solidFill>
              </a:rPr>
              <a:t>3why/5why</a:t>
            </a:r>
            <a:r>
              <a:rPr lang="zh-TW" altLang="en-US" b="0" dirty="0">
                <a:solidFill>
                  <a:schemeClr val="tx1"/>
                </a:solidFill>
              </a:rPr>
              <a:t>表</a:t>
            </a:r>
            <a:r>
              <a:rPr lang="en-US" altLang="zh-TW" b="0" dirty="0">
                <a:solidFill>
                  <a:schemeClr val="tx1"/>
                </a:solidFill>
              </a:rPr>
              <a:t>(</a:t>
            </a:r>
            <a:r>
              <a:rPr lang="zh-TW" altLang="en-US" b="0" dirty="0">
                <a:solidFill>
                  <a:schemeClr val="tx1"/>
                </a:solidFill>
              </a:rPr>
              <a:t>列舉</a:t>
            </a:r>
            <a:r>
              <a:rPr lang="en-US" altLang="zh-TW" b="0" dirty="0">
                <a:solidFill>
                  <a:schemeClr val="tx1"/>
                </a:solidFill>
              </a:rPr>
              <a:t>)</a:t>
            </a:r>
            <a:r>
              <a:rPr lang="zh-TW" altLang="en-US" b="0" dirty="0">
                <a:solidFill>
                  <a:schemeClr val="tx1"/>
                </a:solidFill>
              </a:rPr>
              <a:t>、</a:t>
            </a:r>
            <a:r>
              <a:rPr lang="en-US" altLang="zh-TW" b="0" dirty="0">
                <a:solidFill>
                  <a:schemeClr val="tx1"/>
                </a:solidFill>
              </a:rPr>
              <a:t>IPO, FTA…</a:t>
            </a:r>
            <a:r>
              <a:rPr lang="zh-TW" altLang="en-US" b="0" dirty="0">
                <a:solidFill>
                  <a:schemeClr val="tx1"/>
                </a:solidFill>
              </a:rPr>
              <a:t>等；</a:t>
            </a:r>
            <a:endParaRPr lang="en-US" altLang="zh-TW" b="0" dirty="0">
              <a:solidFill>
                <a:schemeClr val="tx1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B45861F-52BC-3043-C88E-31B1206F1182}"/>
              </a:ext>
            </a:extLst>
          </p:cNvPr>
          <p:cNvSpPr txBox="1"/>
          <p:nvPr/>
        </p:nvSpPr>
        <p:spPr>
          <a:xfrm>
            <a:off x="0" y="46039"/>
            <a:ext cx="2807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2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</a:t>
            </a:r>
            <a:r>
              <a:rPr lang="zh-TW" altLang="en-US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資料定義、準備</a:t>
            </a:r>
            <a:endParaRPr lang="zh-TW" altLang="en-US" sz="1800" b="1" dirty="0">
              <a:solidFill>
                <a:srgbClr val="0000CC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30799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3C0A76-E4F2-B438-5CEA-1B44E1328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資料治理狀況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C28D5B4-BCD0-33D3-74F9-F77AF95BF6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90459FC-FC4B-F28D-D9BA-C232A152A45F}"/>
              </a:ext>
            </a:extLst>
          </p:cNvPr>
          <p:cNvSpPr txBox="1"/>
          <p:nvPr/>
        </p:nvSpPr>
        <p:spPr>
          <a:xfrm>
            <a:off x="0" y="46039"/>
            <a:ext cx="2807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2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</a:t>
            </a:r>
            <a:r>
              <a:rPr lang="zh-TW" altLang="en-US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資料定義、準備</a:t>
            </a:r>
            <a:endParaRPr lang="zh-TW" altLang="en-US" sz="1800" b="1" dirty="0">
              <a:solidFill>
                <a:srgbClr val="0000CC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795636C-E2B2-D68B-546C-520B72671964}"/>
              </a:ext>
            </a:extLst>
          </p:cNvPr>
          <p:cNvSpPr txBox="1"/>
          <p:nvPr/>
        </p:nvSpPr>
        <p:spPr>
          <a:xfrm>
            <a:off x="459340" y="956365"/>
            <a:ext cx="11427860" cy="2608406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l">
              <a:defRPr sz="18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eaLnBrk="1" hangingPunct="1">
              <a:spcBef>
                <a:spcPts val="300"/>
              </a:spcBef>
              <a:spcAft>
                <a:spcPts val="600"/>
              </a:spcAft>
              <a:defRPr/>
            </a:pPr>
            <a:r>
              <a: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目的</a:t>
            </a:r>
            <a:r>
              <a:rPr lang="en-US" altLang="zh-TW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zh-TW" altLang="en-US" b="0" dirty="0">
                <a:solidFill>
                  <a:schemeClr val="tx1"/>
                </a:solidFill>
              </a:rPr>
              <a:t>瞭解資料的品質及存放方式、位置。</a:t>
            </a:r>
            <a:endParaRPr lang="en-US" altLang="zh-TW" b="0" dirty="0">
              <a:solidFill>
                <a:schemeClr val="tx1"/>
              </a:solidFill>
            </a:endParaRPr>
          </a:p>
          <a:p>
            <a:pPr eaLnBrk="1" hangingPunct="1">
              <a:spcBef>
                <a:spcPts val="300"/>
              </a:spcBef>
              <a:spcAft>
                <a:spcPts val="600"/>
              </a:spcAft>
              <a:defRPr/>
            </a:pPr>
            <a:r>
              <a:rPr lang="zh-TW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注意事項</a:t>
            </a:r>
            <a:r>
              <a:rPr lang="en-US" altLang="zh-TW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zh-TW" altLang="en-US" b="0" dirty="0">
                <a:solidFill>
                  <a:schemeClr val="tx1"/>
                </a:solidFill>
              </a:rPr>
              <a:t>請清楚交代所有使用到的資料，目前的收集頻率、儲存位置及權限控管方式</a:t>
            </a:r>
            <a:r>
              <a:rPr lang="en-US" altLang="zh-TW" b="0" dirty="0">
                <a:solidFill>
                  <a:schemeClr val="tx1"/>
                </a:solidFill>
              </a:rPr>
              <a:t>/</a:t>
            </a:r>
            <a:r>
              <a:rPr lang="zh-TW" altLang="en-US" b="0" dirty="0">
                <a:solidFill>
                  <a:schemeClr val="tx1"/>
                </a:solidFill>
              </a:rPr>
              <a:t>設定</a:t>
            </a:r>
            <a:endParaRPr lang="en-US" altLang="zh-TW" b="0" dirty="0">
              <a:solidFill>
                <a:schemeClr val="tx1"/>
              </a:solidFill>
            </a:endParaRP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zh-TW" altLang="en-US" b="0" dirty="0">
                <a:solidFill>
                  <a:schemeClr val="tx1"/>
                </a:solidFill>
              </a:rPr>
              <a:t>說明設定使用的資料範圍 </a:t>
            </a:r>
            <a:r>
              <a:rPr lang="en-US" altLang="zh-TW" b="0" dirty="0">
                <a:solidFill>
                  <a:schemeClr val="tx1"/>
                </a:solidFill>
              </a:rPr>
              <a:t>(</a:t>
            </a:r>
            <a:r>
              <a:rPr lang="zh-TW" altLang="en-US" b="0" dirty="0">
                <a:solidFill>
                  <a:schemeClr val="tx1"/>
                </a:solidFill>
              </a:rPr>
              <a:t>時間、資料欄位</a:t>
            </a:r>
            <a:r>
              <a:rPr lang="en-US" altLang="zh-TW" b="0" dirty="0">
                <a:solidFill>
                  <a:schemeClr val="tx1"/>
                </a:solidFill>
              </a:rPr>
              <a:t>)</a:t>
            </a:r>
            <a:r>
              <a:rPr lang="zh-TW" altLang="en-US" b="0" dirty="0">
                <a:solidFill>
                  <a:schemeClr val="tx1"/>
                </a:solidFill>
              </a:rPr>
              <a:t>內，資料的缺漏程度</a:t>
            </a:r>
            <a:endParaRPr lang="en-US" altLang="zh-TW" b="0" dirty="0">
              <a:solidFill>
                <a:schemeClr val="tx1"/>
              </a:solidFill>
            </a:endParaRP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zh-TW" altLang="en-US" b="0" dirty="0">
                <a:solidFill>
                  <a:schemeClr val="tx1"/>
                </a:solidFill>
              </a:rPr>
              <a:t>說明每一個資料項目在跨機台、跨樓層、跨部門、跨廠別等，有沒有相同的資料項目？如果有，那欄位命名、資料呈現的方式有沒有一致</a:t>
            </a:r>
            <a:endParaRPr lang="en-US" altLang="zh-TW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051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90D5E-9B31-1E40-8579-8ABC1D5D5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831539-B7F4-9B2A-4FAC-32032FB77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模型建立與評估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06C4993-253E-F8D0-CD11-05AD4B2CA3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27B9B59-599D-F7C8-C6D2-15470132DDCE}"/>
              </a:ext>
            </a:extLst>
          </p:cNvPr>
          <p:cNvSpPr txBox="1"/>
          <p:nvPr/>
        </p:nvSpPr>
        <p:spPr>
          <a:xfrm>
            <a:off x="0" y="46039"/>
            <a:ext cx="2807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3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：模型建立</a:t>
            </a:r>
            <a:r>
              <a:rPr lang="zh-TW" altLang="en-US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與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評估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0C07FAB-493C-BCF2-F446-D67282ADB89C}"/>
              </a:ext>
            </a:extLst>
          </p:cNvPr>
          <p:cNvSpPr txBox="1"/>
          <p:nvPr/>
        </p:nvSpPr>
        <p:spPr>
          <a:xfrm>
            <a:off x="459340" y="956365"/>
            <a:ext cx="11427860" cy="193899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l">
              <a:defRPr sz="18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zh-TW" altLang="en-US" b="0" dirty="0">
                <a:solidFill>
                  <a:schemeClr val="tx1"/>
                </a:solidFill>
              </a:rPr>
              <a:t>真正用來建模的</a:t>
            </a:r>
            <a:r>
              <a:rPr lang="en-US" altLang="zh-TW" b="0" dirty="0" err="1">
                <a:solidFill>
                  <a:schemeClr val="tx1"/>
                </a:solidFill>
              </a:rPr>
              <a:t>Xs</a:t>
            </a:r>
            <a:r>
              <a:rPr lang="zh-TW" altLang="en-US" b="0" dirty="0">
                <a:solidFill>
                  <a:schemeClr val="tx1"/>
                </a:solidFill>
              </a:rPr>
              <a:t>有哪些？</a:t>
            </a:r>
            <a:endParaRPr lang="en-US" altLang="zh-TW" b="0" dirty="0">
              <a:solidFill>
                <a:schemeClr val="tx1"/>
              </a:solidFill>
            </a:endParaRP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zh-TW" altLang="en-US" b="0" dirty="0">
                <a:solidFill>
                  <a:schemeClr val="tx1"/>
                </a:solidFill>
              </a:rPr>
              <a:t>模型建置流程說明</a:t>
            </a:r>
            <a:endParaRPr lang="en-US" altLang="zh-TW" b="0" dirty="0">
              <a:solidFill>
                <a:schemeClr val="tx1"/>
              </a:solidFill>
            </a:endParaRP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zh-TW" altLang="en-US" b="0" dirty="0">
                <a:solidFill>
                  <a:schemeClr val="tx1"/>
                </a:solidFill>
              </a:rPr>
              <a:t>模型的績效</a:t>
            </a:r>
            <a:r>
              <a:rPr lang="en-US" altLang="zh-TW" b="0" dirty="0">
                <a:solidFill>
                  <a:schemeClr val="tx1"/>
                </a:solidFill>
              </a:rPr>
              <a:t>(</a:t>
            </a:r>
            <a:r>
              <a:rPr lang="zh-TW" altLang="en-US" b="0" dirty="0">
                <a:solidFill>
                  <a:schemeClr val="tx1"/>
                </a:solidFill>
              </a:rPr>
              <a:t>指標分數</a:t>
            </a:r>
            <a:r>
              <a:rPr lang="en-US" altLang="zh-TW" b="0" dirty="0">
                <a:solidFill>
                  <a:schemeClr val="tx1"/>
                </a:solidFill>
              </a:rPr>
              <a:t>)</a:t>
            </a:r>
            <a:r>
              <a:rPr lang="zh-TW" altLang="en-US" b="0" dirty="0">
                <a:solidFill>
                  <a:schemeClr val="tx1"/>
                </a:solidFill>
              </a:rPr>
              <a:t>是多少？</a:t>
            </a:r>
            <a:endParaRPr lang="en-US" altLang="zh-TW" b="0" dirty="0">
              <a:solidFill>
                <a:schemeClr val="tx1"/>
              </a:solidFill>
            </a:endParaRP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zh-TW" altLang="en-US" b="0" dirty="0">
                <a:solidFill>
                  <a:schemeClr val="tx1"/>
                </a:solidFill>
              </a:rPr>
              <a:t>模型的演化過程 </a:t>
            </a:r>
            <a:r>
              <a:rPr lang="en-US" altLang="zh-TW" b="0" dirty="0">
                <a:solidFill>
                  <a:schemeClr val="tx1"/>
                </a:solidFill>
              </a:rPr>
              <a:t>(Fine tune)</a:t>
            </a:r>
            <a:r>
              <a:rPr lang="zh-TW" altLang="en-US" b="0" dirty="0">
                <a:solidFill>
                  <a:schemeClr val="tx1"/>
                </a:solidFill>
              </a:rPr>
              <a:t>過程說明</a:t>
            </a:r>
            <a:endParaRPr lang="en-US" altLang="zh-TW" b="0" dirty="0">
              <a:solidFill>
                <a:schemeClr val="tx1"/>
              </a:solidFill>
            </a:endParaRP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zh-TW" altLang="en-US" b="0" dirty="0">
                <a:solidFill>
                  <a:schemeClr val="tx1"/>
                </a:solidFill>
              </a:rPr>
              <a:t>實際資料的測試、驗證結果</a:t>
            </a:r>
            <a:endParaRPr lang="en-US" altLang="zh-TW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887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2E7A7-94F2-EA90-5690-35CEDEE9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C6DE6C-D4FC-803E-0F44-71A2CF784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專案結論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74987C9-A0EB-1CAF-776A-B2E335EE9A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E08163E-D8C4-41D6-B833-188968AF5F3F}"/>
              </a:ext>
            </a:extLst>
          </p:cNvPr>
          <p:cNvSpPr txBox="1"/>
          <p:nvPr/>
        </p:nvSpPr>
        <p:spPr>
          <a:xfrm>
            <a:off x="0" y="46039"/>
            <a:ext cx="3250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4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</a:t>
            </a:r>
            <a:r>
              <a:rPr lang="zh-TW" altLang="en-US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結論與後續工作規劃</a:t>
            </a:r>
            <a:endParaRPr lang="zh-TW" altLang="en-US" sz="1800" b="1" dirty="0">
              <a:solidFill>
                <a:srgbClr val="0000CC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110365C-C6D5-6036-F893-41C4A7AA62FE}"/>
              </a:ext>
            </a:extLst>
          </p:cNvPr>
          <p:cNvSpPr txBox="1"/>
          <p:nvPr/>
        </p:nvSpPr>
        <p:spPr>
          <a:xfrm>
            <a:off x="459340" y="956365"/>
            <a:ext cx="11427860" cy="115416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l">
              <a:defRPr sz="18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zh-TW" altLang="en-US" b="0" dirty="0">
                <a:solidFill>
                  <a:schemeClr val="tx1"/>
                </a:solidFill>
              </a:rPr>
              <a:t>模型是否已上線</a:t>
            </a:r>
            <a:r>
              <a:rPr lang="en-US" altLang="zh-TW" b="0" dirty="0">
                <a:solidFill>
                  <a:schemeClr val="tx1"/>
                </a:solidFill>
              </a:rPr>
              <a:t>?</a:t>
            </a:r>
            <a:r>
              <a:rPr lang="zh-TW" altLang="en-US" b="0" dirty="0">
                <a:solidFill>
                  <a:schemeClr val="tx1"/>
                </a:solidFill>
              </a:rPr>
              <a:t>如果已上線，已發生</a:t>
            </a:r>
            <a:r>
              <a:rPr lang="en-US" altLang="zh-TW" b="0" dirty="0">
                <a:solidFill>
                  <a:schemeClr val="tx1"/>
                </a:solidFill>
              </a:rPr>
              <a:t>(</a:t>
            </a:r>
            <a:r>
              <a:rPr lang="zh-TW" altLang="en-US" b="0" dirty="0">
                <a:solidFill>
                  <a:schemeClr val="tx1"/>
                </a:solidFill>
              </a:rPr>
              <a:t>或預計到年底</a:t>
            </a:r>
            <a:r>
              <a:rPr lang="en-US" altLang="zh-TW" b="0" dirty="0">
                <a:solidFill>
                  <a:schemeClr val="tx1"/>
                </a:solidFill>
              </a:rPr>
              <a:t>)</a:t>
            </a:r>
            <a:r>
              <a:rPr lang="zh-TW" altLang="en-US" b="0" dirty="0">
                <a:solidFill>
                  <a:schemeClr val="tx1"/>
                </a:solidFill>
              </a:rPr>
              <a:t>的量化效益是什麼？</a:t>
            </a:r>
            <a:endParaRPr lang="en-US" altLang="zh-TW" b="0" dirty="0">
              <a:solidFill>
                <a:schemeClr val="tx1"/>
              </a:solidFill>
            </a:endParaRP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zh-TW" altLang="en-US" b="0" dirty="0">
                <a:solidFill>
                  <a:schemeClr val="tx1"/>
                </a:solidFill>
              </a:rPr>
              <a:t>有哪些步驟可在優化？</a:t>
            </a:r>
            <a:endParaRPr lang="en-US" altLang="zh-TW" b="0" dirty="0">
              <a:solidFill>
                <a:schemeClr val="tx1"/>
              </a:solidFill>
            </a:endParaRP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zh-TW" altLang="en-US" b="0" dirty="0">
                <a:solidFill>
                  <a:schemeClr val="tx1"/>
                </a:solidFill>
              </a:rPr>
              <a:t>已知</a:t>
            </a:r>
            <a:r>
              <a:rPr lang="en-US" altLang="zh-TW" b="0" dirty="0">
                <a:solidFill>
                  <a:schemeClr val="tx1"/>
                </a:solidFill>
              </a:rPr>
              <a:t>/</a:t>
            </a:r>
            <a:r>
              <a:rPr lang="zh-TW" altLang="en-US" b="0" dirty="0">
                <a:solidFill>
                  <a:schemeClr val="tx1"/>
                </a:solidFill>
              </a:rPr>
              <a:t>潛在可能的未使用因子</a:t>
            </a:r>
            <a:r>
              <a:rPr lang="en-US" altLang="zh-TW" b="0" dirty="0">
                <a:solidFill>
                  <a:schemeClr val="tx1"/>
                </a:solidFill>
              </a:rPr>
              <a:t>(</a:t>
            </a:r>
            <a:r>
              <a:rPr lang="en-US" altLang="zh-TW" b="0" dirty="0" err="1">
                <a:solidFill>
                  <a:schemeClr val="tx1"/>
                </a:solidFill>
              </a:rPr>
              <a:t>Xs</a:t>
            </a:r>
            <a:r>
              <a:rPr lang="en-US" altLang="zh-TW" b="0" dirty="0">
                <a:solidFill>
                  <a:schemeClr val="tx1"/>
                </a:solidFill>
              </a:rPr>
              <a:t>)</a:t>
            </a:r>
            <a:r>
              <a:rPr lang="zh-TW" altLang="en-US" b="0" dirty="0">
                <a:solidFill>
                  <a:schemeClr val="tx1"/>
                </a:solidFill>
              </a:rPr>
              <a:t>有哪些？為何未使用？</a:t>
            </a:r>
            <a:endParaRPr lang="en-US" altLang="zh-TW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781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DC87B-D9B5-513F-40DB-77678BDF1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B59330-DB65-2A2C-E9BE-D6B4E4E0F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後續專案精進規劃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64E6653-4E12-2A00-27E0-3339756786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47A400E-EC7F-7FC3-CF89-BC7F77FBAAE9}"/>
              </a:ext>
            </a:extLst>
          </p:cNvPr>
          <p:cNvSpPr txBox="1"/>
          <p:nvPr/>
        </p:nvSpPr>
        <p:spPr>
          <a:xfrm>
            <a:off x="0" y="46039"/>
            <a:ext cx="3250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4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</a:t>
            </a:r>
            <a:r>
              <a:rPr lang="zh-TW" altLang="en-US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結論與後續工作規劃</a:t>
            </a:r>
            <a:endParaRPr lang="zh-TW" altLang="en-US" sz="1800" b="1" dirty="0">
              <a:solidFill>
                <a:srgbClr val="0000CC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C24C7C-4916-D68D-B854-4804E18442A2}"/>
              </a:ext>
            </a:extLst>
          </p:cNvPr>
          <p:cNvSpPr txBox="1"/>
          <p:nvPr/>
        </p:nvSpPr>
        <p:spPr>
          <a:xfrm>
            <a:off x="459340" y="956365"/>
            <a:ext cx="11427860" cy="7617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l">
              <a:defRPr sz="18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zh-TW" altLang="en-US" b="0" dirty="0">
                <a:solidFill>
                  <a:schemeClr val="tx1"/>
                </a:solidFill>
              </a:rPr>
              <a:t>此專案到</a:t>
            </a:r>
            <a:r>
              <a:rPr lang="en-US" altLang="zh-TW" b="0" dirty="0">
                <a:solidFill>
                  <a:schemeClr val="tx1"/>
                </a:solidFill>
              </a:rPr>
              <a:t>2026</a:t>
            </a:r>
            <a:r>
              <a:rPr lang="zh-TW" altLang="en-US" b="0" dirty="0">
                <a:solidFill>
                  <a:schemeClr val="tx1"/>
                </a:solidFill>
              </a:rPr>
              <a:t>年底的預計持續進行項目有哪些？</a:t>
            </a:r>
            <a:endParaRPr lang="en-US" altLang="zh-TW" b="0" dirty="0">
              <a:solidFill>
                <a:schemeClr val="tx1"/>
              </a:solidFill>
            </a:endParaRP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zh-TW" altLang="en-US" b="0" dirty="0">
                <a:solidFill>
                  <a:schemeClr val="tx1"/>
                </a:solidFill>
              </a:rPr>
              <a:t>預計完成時程是何時？</a:t>
            </a:r>
            <a:endParaRPr lang="en-US" altLang="zh-TW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182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253517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集團公版簡報母片 (3x4)</Template>
  <TotalTime>874</TotalTime>
  <Words>1118</Words>
  <Application>Microsoft Office PowerPoint</Application>
  <PresentationFormat>寬螢幕</PresentationFormat>
  <Paragraphs>119</Paragraphs>
  <Slides>12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12</vt:i4>
      </vt:variant>
    </vt:vector>
  </HeadingPairs>
  <TitlesOfParts>
    <vt:vector size="20" baseType="lpstr">
      <vt:lpstr>微軟正黑體</vt:lpstr>
      <vt:lpstr>Arial</vt:lpstr>
      <vt:lpstr>Calibri</vt:lpstr>
      <vt:lpstr>Verdana</vt:lpstr>
      <vt:lpstr>Wingdings</vt:lpstr>
      <vt:lpstr>1_Office 佈景主題</vt:lpstr>
      <vt:lpstr>Worksheet</vt:lpstr>
      <vt:lpstr>工作表</vt:lpstr>
      <vt:lpstr>專案名稱</vt:lpstr>
      <vt:lpstr>專案同意書 (Team Charter)</vt:lpstr>
      <vt:lpstr>選題理由</vt:lpstr>
      <vt:lpstr>VOC to CTQ</vt:lpstr>
      <vt:lpstr>SIPOC</vt:lpstr>
      <vt:lpstr>現況把握與目標訂定</vt:lpstr>
      <vt:lpstr>數據來源探索</vt:lpstr>
      <vt:lpstr>資料治理狀況</vt:lpstr>
      <vt:lpstr>模型建立與評估</vt:lpstr>
      <vt:lpstr>專案結論</vt:lpstr>
      <vt:lpstr>後續專案精進規劃</vt:lpstr>
      <vt:lpstr>PowerPoint 簡報</vt:lpstr>
    </vt:vector>
  </TitlesOfParts>
  <Company>Unimicron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 Chang (張正鼎)</dc:creator>
  <cp:lastModifiedBy>ChiWei Kao (高琦幃)</cp:lastModifiedBy>
  <cp:revision>10</cp:revision>
  <dcterms:created xsi:type="dcterms:W3CDTF">2026-03-06T02:53:10Z</dcterms:created>
  <dcterms:modified xsi:type="dcterms:W3CDTF">2026-04-17T09:46:04Z</dcterms:modified>
</cp:coreProperties>
</file>