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58" r:id="rId5"/>
    <p:sldId id="259" r:id="rId6"/>
    <p:sldId id="260" r:id="rId7"/>
    <p:sldId id="272" r:id="rId8"/>
    <p:sldId id="275" r:id="rId9"/>
    <p:sldId id="263" r:id="rId10"/>
    <p:sldId id="273" r:id="rId11"/>
    <p:sldId id="270" r:id="rId12"/>
    <p:sldId id="271" r:id="rId13"/>
    <p:sldId id="266" r:id="rId14"/>
    <p:sldId id="274" r:id="rId15"/>
    <p:sldId id="276" r:id="rId16"/>
    <p:sldId id="268" r:id="rId17"/>
    <p:sldId id="257" r:id="rId18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4ED"/>
    <a:srgbClr val="B7DEE8"/>
    <a:srgbClr val="FAC090"/>
    <a:srgbClr val="01113B"/>
    <a:srgbClr val="2C3755"/>
    <a:srgbClr val="000829"/>
    <a:srgbClr val="024C7D"/>
    <a:srgbClr val="FFFFFF"/>
    <a:srgbClr val="0000FF"/>
    <a:srgbClr val="E7F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A735DD-606C-4727-A6E7-0255D5616371}" type="datetimeFigureOut">
              <a:rPr lang="zh-TW" altLang="en-US" smtClean="0"/>
              <a:t>2026/4/20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47D48-979C-4CB8-AB09-C9DD0D375A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08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47D48-979C-4CB8-AB09-C9DD0D375A8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8339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47D48-979C-4CB8-AB09-C9DD0D375A8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774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直線接點 4"/>
          <p:cNvCxnSpPr/>
          <p:nvPr/>
        </p:nvCxnSpPr>
        <p:spPr>
          <a:xfrm flipV="1">
            <a:off x="313267" y="3551593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V="1">
            <a:off x="402167" y="3501008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720421" y="6064512"/>
            <a:ext cx="4855633" cy="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1815671" y="6022975"/>
            <a:ext cx="4671483" cy="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>
            <a:off x="1761811" y="4376058"/>
            <a:ext cx="1292" cy="1673121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815671" y="4441826"/>
            <a:ext cx="0" cy="15843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" name="副標題 2"/>
          <p:cNvSpPr>
            <a:spLocks noGrp="1"/>
          </p:cNvSpPr>
          <p:nvPr>
            <p:ph type="subTitle" idx="1"/>
          </p:nvPr>
        </p:nvSpPr>
        <p:spPr>
          <a:xfrm>
            <a:off x="2032454" y="4679998"/>
            <a:ext cx="4447589" cy="1197274"/>
          </a:xfrm>
          <a:effectLst>
            <a:glow rad="63500">
              <a:schemeClr val="bg1">
                <a:alpha val="40000"/>
              </a:schemeClr>
            </a:glow>
          </a:effectLst>
        </p:spPr>
        <p:txBody>
          <a:bodyPr>
            <a:normAutofit/>
          </a:bodyPr>
          <a:lstStyle>
            <a:lvl1pPr marL="0" indent="0" algn="l" defTabSz="914400" rtl="0" eaLnBrk="0" latinLnBrk="0" hangingPunct="0">
              <a:lnSpc>
                <a:spcPct val="100000"/>
              </a:lnSpc>
              <a:spcBef>
                <a:spcPts val="300"/>
              </a:spcBef>
              <a:buClr>
                <a:srgbClr val="3333CC"/>
              </a:buClr>
              <a:buSzPct val="75000"/>
              <a:buFont typeface="Wingdings" pitchFamily="2" charset="2"/>
              <a:buNone/>
              <a:defRPr kumimoji="0" lang="zh-TW" altLang="en-US" sz="2000" b="1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itchFamily="34" charset="0"/>
                <a:ea typeface="微軟正黑體" pitchFamily="34" charset="-120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23" name="標題 1"/>
          <p:cNvSpPr>
            <a:spLocks noGrp="1"/>
          </p:cNvSpPr>
          <p:nvPr>
            <p:ph type="ctrTitle"/>
          </p:nvPr>
        </p:nvSpPr>
        <p:spPr>
          <a:xfrm>
            <a:off x="335361" y="2568896"/>
            <a:ext cx="7381401" cy="500065"/>
          </a:xfrm>
        </p:spPr>
        <p:txBody>
          <a:bodyPr>
            <a:noAutofit/>
          </a:bodyPr>
          <a:lstStyle>
            <a:lvl1pPr marL="0" indent="0" algn="ctr">
              <a:defRPr lang="zh-TW" altLang="en-US" sz="4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7622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標題 1"/>
          <p:cNvSpPr>
            <a:spLocks noGrp="1"/>
          </p:cNvSpPr>
          <p:nvPr>
            <p:ph type="ctrTitle"/>
          </p:nvPr>
        </p:nvSpPr>
        <p:spPr>
          <a:xfrm>
            <a:off x="335362" y="44624"/>
            <a:ext cx="7396823" cy="720080"/>
          </a:xfrm>
        </p:spPr>
        <p:txBody>
          <a:bodyPr lIns="0" rIns="0"/>
          <a:lstStyle>
            <a:lvl1pPr algn="ctr">
              <a:defRPr lang="zh-TW" altLang="en-US" sz="36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335360" y="1052736"/>
            <a:ext cx="7232651" cy="3887788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cxnSp>
        <p:nvCxnSpPr>
          <p:cNvPr id="12" name="直線接點 11"/>
          <p:cNvCxnSpPr/>
          <p:nvPr/>
        </p:nvCxnSpPr>
        <p:spPr>
          <a:xfrm flipV="1">
            <a:off x="300567" y="811312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02167" y="764705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63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標題 1"/>
          <p:cNvSpPr>
            <a:spLocks noGrp="1"/>
          </p:cNvSpPr>
          <p:nvPr>
            <p:ph type="ctrTitle"/>
          </p:nvPr>
        </p:nvSpPr>
        <p:spPr>
          <a:xfrm>
            <a:off x="335362" y="2828925"/>
            <a:ext cx="7396823" cy="633984"/>
          </a:xfrm>
        </p:spPr>
        <p:txBody>
          <a:bodyPr lIns="0" rIns="0" anchor="ctr"/>
          <a:lstStyle>
            <a:lvl1pPr algn="ctr">
              <a:defRPr lang="zh-TW" altLang="en-US" sz="36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cxnSp>
        <p:nvCxnSpPr>
          <p:cNvPr id="6" name="直線接點 5"/>
          <p:cNvCxnSpPr/>
          <p:nvPr/>
        </p:nvCxnSpPr>
        <p:spPr>
          <a:xfrm flipV="1">
            <a:off x="313267" y="3551593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/>
        </p:nvCxnSpPr>
        <p:spPr>
          <a:xfrm flipV="1">
            <a:off x="402167" y="3501008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761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cxnSp>
        <p:nvCxnSpPr>
          <p:cNvPr id="8" name="直線接點 7"/>
          <p:cNvCxnSpPr/>
          <p:nvPr/>
        </p:nvCxnSpPr>
        <p:spPr>
          <a:xfrm>
            <a:off x="390889" y="809698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527052" y="765175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7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0" name="標題 1"/>
          <p:cNvSpPr>
            <a:spLocks noGrp="1"/>
          </p:cNvSpPr>
          <p:nvPr>
            <p:ph type="title"/>
          </p:nvPr>
        </p:nvSpPr>
        <p:spPr>
          <a:xfrm>
            <a:off x="-30865" y="44625"/>
            <a:ext cx="12222865" cy="720080"/>
          </a:xfr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5" name="內容版面配置區 6"/>
          <p:cNvSpPr>
            <a:spLocks noGrp="1"/>
          </p:cNvSpPr>
          <p:nvPr>
            <p:ph sz="quarter" idx="13"/>
          </p:nvPr>
        </p:nvSpPr>
        <p:spPr>
          <a:xfrm>
            <a:off x="393271" y="990600"/>
            <a:ext cx="5515083" cy="5246712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6" name="內容版面配置區 6"/>
          <p:cNvSpPr>
            <a:spLocks noGrp="1"/>
          </p:cNvSpPr>
          <p:nvPr>
            <p:ph sz="quarter" idx="15"/>
          </p:nvPr>
        </p:nvSpPr>
        <p:spPr>
          <a:xfrm>
            <a:off x="6245547" y="980729"/>
            <a:ext cx="5515083" cy="524065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665EBC8E-E561-42E5-AEB8-2901944F2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96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21" name="標題 1"/>
          <p:cNvSpPr>
            <a:spLocks noGrp="1"/>
          </p:cNvSpPr>
          <p:nvPr>
            <p:ph type="title"/>
          </p:nvPr>
        </p:nvSpPr>
        <p:spPr>
          <a:xfrm>
            <a:off x="-15432" y="44625"/>
            <a:ext cx="12207432" cy="720080"/>
          </a:xfr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2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4" name="內容版面配置區 6"/>
          <p:cNvSpPr>
            <a:spLocks noGrp="1"/>
          </p:cNvSpPr>
          <p:nvPr>
            <p:ph sz="quarter" idx="13"/>
          </p:nvPr>
        </p:nvSpPr>
        <p:spPr>
          <a:xfrm>
            <a:off x="388953" y="980728"/>
            <a:ext cx="11363568" cy="5256560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2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665EBC8E-E561-42E5-AEB8-2901944F20B8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390889" y="809698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527052" y="765175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45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21" name="標題 1"/>
          <p:cNvSpPr>
            <a:spLocks noGrp="1"/>
          </p:cNvSpPr>
          <p:nvPr>
            <p:ph type="title" hasCustomPrompt="1"/>
          </p:nvPr>
        </p:nvSpPr>
        <p:spPr>
          <a:xfrm>
            <a:off x="-15433" y="44624"/>
            <a:ext cx="12207433" cy="956609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/>
              <a:t>按一下</a:t>
            </a:r>
            <a:br>
              <a:rPr lang="en-US" altLang="zh-TW" dirty="0"/>
            </a:br>
            <a:r>
              <a:rPr lang="zh-TW" altLang="en-US" dirty="0"/>
              <a:t>以編輯母片標題樣式</a:t>
            </a:r>
          </a:p>
        </p:txBody>
      </p:sp>
      <p:sp>
        <p:nvSpPr>
          <p:cNvPr id="19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內容版面配置區 6"/>
          <p:cNvSpPr>
            <a:spLocks noGrp="1"/>
          </p:cNvSpPr>
          <p:nvPr>
            <p:ph sz="quarter" idx="13"/>
          </p:nvPr>
        </p:nvSpPr>
        <p:spPr>
          <a:xfrm>
            <a:off x="388953" y="1219140"/>
            <a:ext cx="5579456" cy="501814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20" name="內容版面配置區 6"/>
          <p:cNvSpPr>
            <a:spLocks noGrp="1"/>
          </p:cNvSpPr>
          <p:nvPr>
            <p:ph sz="quarter" idx="15"/>
          </p:nvPr>
        </p:nvSpPr>
        <p:spPr>
          <a:xfrm>
            <a:off x="6149536" y="1219200"/>
            <a:ext cx="5588808" cy="5002186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4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665EBC8E-E561-42E5-AEB8-2901944F20B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390889" y="1045756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527052" y="1001233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43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15" name="標題 1"/>
          <p:cNvSpPr>
            <a:spLocks noGrp="1"/>
          </p:cNvSpPr>
          <p:nvPr>
            <p:ph type="title" hasCustomPrompt="1"/>
          </p:nvPr>
        </p:nvSpPr>
        <p:spPr>
          <a:xfrm>
            <a:off x="-15433" y="44624"/>
            <a:ext cx="12207433" cy="956609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/>
              <a:t>按一下</a:t>
            </a:r>
            <a:br>
              <a:rPr lang="en-US" altLang="zh-TW" dirty="0"/>
            </a:br>
            <a:r>
              <a:rPr lang="zh-TW" altLang="en-US" dirty="0"/>
              <a:t>以編輯母片標題樣式</a:t>
            </a:r>
          </a:p>
        </p:txBody>
      </p:sp>
      <p:sp>
        <p:nvSpPr>
          <p:cNvPr id="24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內容版面配置區 6"/>
          <p:cNvSpPr>
            <a:spLocks noGrp="1"/>
          </p:cNvSpPr>
          <p:nvPr>
            <p:ph sz="quarter" idx="13"/>
          </p:nvPr>
        </p:nvSpPr>
        <p:spPr>
          <a:xfrm>
            <a:off x="388953" y="1219200"/>
            <a:ext cx="11371676" cy="501808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aseline="0"/>
            </a:lvl1pPr>
            <a:lvl2pPr marL="742950" indent="-28575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l"/>
              <a:defRPr sz="2000" baseline="0"/>
            </a:lvl2pPr>
            <a:lvl3pPr>
              <a:lnSpc>
                <a:spcPct val="100000"/>
              </a:lnSpc>
              <a:spcBef>
                <a:spcPts val="600"/>
              </a:spcBef>
              <a:defRPr baseline="0"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3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665EBC8E-E561-42E5-AEB8-2901944F20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直線接點 13"/>
          <p:cNvCxnSpPr/>
          <p:nvPr/>
        </p:nvCxnSpPr>
        <p:spPr>
          <a:xfrm>
            <a:off x="390889" y="1045756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527052" y="1001233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65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5" name="橢圓 4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6" name="橢圓 5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14" name="標題 1"/>
          <p:cNvSpPr>
            <a:spLocks noGrp="1"/>
          </p:cNvSpPr>
          <p:nvPr>
            <p:ph type="title"/>
          </p:nvPr>
        </p:nvSpPr>
        <p:spPr>
          <a:xfrm>
            <a:off x="-30865" y="46039"/>
            <a:ext cx="12222865" cy="718666"/>
          </a:xfrm>
        </p:spPr>
        <p:txBody>
          <a:bodyPr/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zh-TW" altLang="en-US" sz="30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1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665EBC8E-E561-42E5-AEB8-2901944F20B8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直線接點 12"/>
          <p:cNvCxnSpPr/>
          <p:nvPr/>
        </p:nvCxnSpPr>
        <p:spPr>
          <a:xfrm>
            <a:off x="390889" y="809698"/>
            <a:ext cx="11391609" cy="698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527052" y="765175"/>
            <a:ext cx="11093449" cy="63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22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351618" y="490539"/>
            <a:ext cx="7488767" cy="56657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7" name="橢圓 6"/>
          <p:cNvSpPr/>
          <p:nvPr/>
        </p:nvSpPr>
        <p:spPr>
          <a:xfrm flipH="1">
            <a:off x="10551584" y="6084888"/>
            <a:ext cx="336549" cy="252412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 flipH="1">
            <a:off x="10202333" y="6184900"/>
            <a:ext cx="239184" cy="179388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>
              <a:solidFill>
                <a:prstClr val="white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19357" y="4800600"/>
            <a:ext cx="7315200" cy="566738"/>
          </a:xfrm>
        </p:spPr>
        <p:txBody>
          <a:bodyPr anchor="b">
            <a:noAutofit/>
          </a:bodyPr>
          <a:lstStyle>
            <a:lvl1pPr algn="l">
              <a:defRPr lang="zh-TW" altLang="en-US" sz="24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41935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  <a:endParaRPr lang="zh-TW" altLang="en-US" noProof="0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41935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lang="zh-TW" altLang="en-US" sz="1800" b="1" kern="1200" baseline="0" dirty="0" smtClean="0">
                <a:ln w="50800"/>
                <a:solidFill>
                  <a:schemeClr val="tx1"/>
                </a:solidFill>
                <a:latin typeface="Calibri" pitchFamily="34" charset="0"/>
                <a:ea typeface="微軟正黑體" pitchFamily="34" charset="-120"/>
                <a:cs typeface="Verdan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版面配置區 6"/>
          <p:cNvSpPr>
            <a:spLocks noGrp="1"/>
          </p:cNvSpPr>
          <p:nvPr>
            <p:ph type="body" sz="quarter" idx="14"/>
          </p:nvPr>
        </p:nvSpPr>
        <p:spPr>
          <a:xfrm>
            <a:off x="268288" y="6525344"/>
            <a:ext cx="3523456" cy="216024"/>
          </a:xfrm>
        </p:spPr>
        <p:txBody>
          <a:bodyPr lIns="72000" rIns="72000" anchor="ctr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投影片編號版面配置區 5"/>
          <p:cNvSpPr>
            <a:spLocks noGrp="1"/>
          </p:cNvSpPr>
          <p:nvPr>
            <p:ph type="sldNum" sz="quarter" idx="16"/>
          </p:nvPr>
        </p:nvSpPr>
        <p:spPr>
          <a:xfrm>
            <a:off x="5519937" y="6361114"/>
            <a:ext cx="1007864" cy="365125"/>
          </a:xfrm>
          <a:prstGeom prst="rect">
            <a:avLst/>
          </a:prstGeom>
        </p:spPr>
        <p:txBody>
          <a:bodyPr anchor="ctr"/>
          <a:lstStyle>
            <a:lvl1pPr marL="0" algn="ctr" defTabSz="914400" rtl="0" eaLnBrk="1" latinLnBrk="0" hangingPunct="1">
              <a:defRPr lang="zh-TW" altLang="en-US" sz="1400" b="1" kern="1200" smtClean="0">
                <a:ln>
                  <a:solidFill>
                    <a:srgbClr val="1F497D">
                      <a:lumMod val="20000"/>
                      <a:lumOff val="80000"/>
                    </a:srgbClr>
                  </a:solidFill>
                </a:ln>
                <a:solidFill>
                  <a:prstClr val="white"/>
                </a:solidFill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defRPr>
            </a:lvl1pPr>
          </a:lstStyle>
          <a:p>
            <a:fld id="{665EBC8E-E561-42E5-AEB8-2901944F2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2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84" y="-19050"/>
            <a:ext cx="12213168" cy="689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版面配置區 29"/>
          <p:cNvSpPr txBox="1">
            <a:spLocks/>
          </p:cNvSpPr>
          <p:nvPr/>
        </p:nvSpPr>
        <p:spPr>
          <a:xfrm>
            <a:off x="334433" y="3611564"/>
            <a:ext cx="7425268" cy="56832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r>
              <a:rPr kumimoji="0" lang="en-US" altLang="zh-TW" sz="2800" dirty="0">
                <a:solidFill>
                  <a:prstClr val="black"/>
                </a:solidFill>
              </a:rPr>
              <a:t>Thank you</a:t>
            </a:r>
            <a:endParaRPr kumimoji="0" lang="zh-TW" altLang="en-US" sz="2800" dirty="0">
              <a:solidFill>
                <a:prstClr val="black"/>
              </a:solidFill>
            </a:endParaRPr>
          </a:p>
        </p:txBody>
      </p:sp>
      <p:sp>
        <p:nvSpPr>
          <p:cNvPr id="14" name="標題 1"/>
          <p:cNvSpPr txBox="1">
            <a:spLocks/>
          </p:cNvSpPr>
          <p:nvPr/>
        </p:nvSpPr>
        <p:spPr>
          <a:xfrm>
            <a:off x="335361" y="2852937"/>
            <a:ext cx="7396823" cy="60064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lang="zh-TW" altLang="en-US" sz="3600" b="1" kern="1200" baseline="0" dirty="0">
                <a:solidFill>
                  <a:srgbClr val="00007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微軟正黑體" pitchFamily="34" charset="-120"/>
                <a:cs typeface="+mn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000076"/>
                </a:solidFill>
                <a:latin typeface="Calibri" pitchFamily="34" charset="0"/>
                <a:ea typeface="微軟正黑體" pitchFamily="34" charset="-120"/>
              </a:defRPr>
            </a:lvl9pPr>
          </a:lstStyle>
          <a:p>
            <a:r>
              <a:rPr lang="zh-TW" altLang="en-US" sz="3600" dirty="0"/>
              <a:t>謝謝您的聆聽</a:t>
            </a:r>
          </a:p>
        </p:txBody>
      </p:sp>
      <p:cxnSp>
        <p:nvCxnSpPr>
          <p:cNvPr id="12" name="直線接點 11"/>
          <p:cNvCxnSpPr/>
          <p:nvPr/>
        </p:nvCxnSpPr>
        <p:spPr>
          <a:xfrm flipV="1">
            <a:off x="313267" y="3551593"/>
            <a:ext cx="7418917" cy="6350"/>
          </a:xfrm>
          <a:prstGeom prst="line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402167" y="3501008"/>
            <a:ext cx="7236884" cy="9525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54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9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  <a:endParaRPr lang="en-US" altLang="zh-TW"/>
          </a:p>
          <a:p>
            <a:pPr lvl="4"/>
            <a:r>
              <a:rPr lang="zh-TW" altLang="en-US"/>
              <a:t>第一層</a:t>
            </a:r>
          </a:p>
          <a:p>
            <a:pPr lvl="2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44889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lang="zh-TW" altLang="en-US" sz="3000" b="1" kern="1200" dirty="0">
          <a:solidFill>
            <a:srgbClr val="000076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itchFamily="34" charset="0"/>
          <a:ea typeface="微軟正黑體" pitchFamily="34" charset="-120"/>
          <a:cs typeface="+mn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76"/>
          </a:solidFill>
          <a:latin typeface="Calibri" pitchFamily="34" charset="0"/>
          <a:ea typeface="微軟正黑體" pitchFamily="34" charset="-120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Ø"/>
        <a:defRPr lang="zh-TW" altLang="en-US" sz="24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–"/>
        <a:defRPr lang="zh-TW" altLang="en-US" sz="20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2pPr>
      <a:lvl3pPr marL="1260475" indent="-1857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Verdana" pitchFamily="34" charset="0"/>
        <a:buChar char="•"/>
        <a:defRPr lang="zh-TW" altLang="en-US" sz="16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pitchFamily="34" charset="0"/>
        <a:buChar char="–"/>
        <a:defRPr lang="zh-TW" altLang="en-US" sz="24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4pPr>
      <a:lvl5pPr marL="803275" indent="-2603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lang="zh-TW" altLang="en-US" sz="2000" b="1" kern="1200" dirty="0">
          <a:ln w="50800"/>
          <a:solidFill>
            <a:schemeClr val="tx1"/>
          </a:solidFill>
          <a:latin typeface="Calibri" pitchFamily="34" charset="0"/>
          <a:ea typeface="微軟正黑體" pitchFamily="34" charset="-12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CD6E914-20DB-EC2D-D09C-7B11244972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報告人：</a:t>
            </a:r>
            <a:endParaRPr lang="en-US" altLang="zh-TW" dirty="0"/>
          </a:p>
          <a:p>
            <a:r>
              <a:rPr lang="zh-TW" altLang="en-US" dirty="0"/>
              <a:t>事業部</a:t>
            </a:r>
            <a:r>
              <a:rPr lang="en-US" altLang="zh-TW" dirty="0"/>
              <a:t>/</a:t>
            </a:r>
            <a:r>
              <a:rPr lang="zh-TW" altLang="en-US" dirty="0"/>
              <a:t>廠別：</a:t>
            </a:r>
            <a:endParaRPr lang="en-US" altLang="zh-TW" dirty="0"/>
          </a:p>
          <a:p>
            <a:r>
              <a:rPr lang="zh-TW" altLang="en-US" dirty="0"/>
              <a:t>報告日期：</a:t>
            </a:r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E97BBB1-F526-981D-5FA6-8DFF831F7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361" y="2568896"/>
            <a:ext cx="8095407" cy="500065"/>
          </a:xfrm>
        </p:spPr>
        <p:txBody>
          <a:bodyPr/>
          <a:lstStyle/>
          <a:p>
            <a:r>
              <a:rPr lang="zh-TW" altLang="zh-TW" dirty="0">
                <a:effectLst/>
              </a:rPr>
              <a:t>π型人才培育與</a:t>
            </a:r>
            <a:r>
              <a:rPr lang="en-US" altLang="zh-TW" dirty="0">
                <a:effectLst/>
              </a:rPr>
              <a:t>MO</a:t>
            </a:r>
            <a:r>
              <a:rPr lang="zh-TW" altLang="zh-TW" dirty="0">
                <a:effectLst/>
              </a:rPr>
              <a:t>預防性教育訓練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750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CB32DC-2427-ACCF-87EF-DC0A3E8E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微軟正黑體" panose="020B0604030504040204" pitchFamily="34" charset="-120"/>
              </a:rPr>
              <a:t>π</a:t>
            </a:r>
            <a:r>
              <a:rPr lang="zh-TW" altLang="en-US" dirty="0">
                <a:latin typeface="微軟正黑體" panose="020B0604030504040204" pitchFamily="34" charset="-120"/>
              </a:rPr>
              <a:t>型人才培育與</a:t>
            </a:r>
            <a:r>
              <a:rPr lang="en-US" altLang="zh-TW" dirty="0">
                <a:latin typeface="微軟正黑體" panose="020B0604030504040204" pitchFamily="34" charset="-120"/>
              </a:rPr>
              <a:t>MO</a:t>
            </a:r>
            <a:r>
              <a:rPr lang="zh-TW" altLang="en-US" dirty="0">
                <a:latin typeface="微軟正黑體" panose="020B0604030504040204" pitchFamily="34" charset="-120"/>
              </a:rPr>
              <a:t>預防性教育訓練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34D892-599B-E3F6-DE05-69992D1EA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Box 53">
            <a:extLst>
              <a:ext uri="{FF2B5EF4-FFF2-40B4-BE49-F238E27FC236}">
                <a16:creationId xmlns:a16="http://schemas.microsoft.com/office/drawing/2014/main" id="{8EEFC913-C255-9AF8-2647-DE97870EB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32" y="877595"/>
            <a:ext cx="560937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專案描述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因應 </a:t>
            </a: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YM </a:t>
            </a:r>
            <a:r>
              <a:rPr lang="zh-TW" altLang="en-US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產能提升，工廠需持續強化關鍵人力培養與多專長人力建置，以提升</a:t>
            </a:r>
            <a:r>
              <a:rPr lang="en-US" altLang="zh-TW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YM</a:t>
            </a:r>
            <a:r>
              <a:rPr lang="zh-TW" altLang="en-US" sz="14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廠彈性與應變能力。建置工作流程智能助理，提供流程查詢、操作指引、教育訓練與測驗生成，提升員工工作效率與知識傳承。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16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D842582-3540-0445-755A-1AB0B80783B8}"/>
              </a:ext>
            </a:extLst>
          </p:cNvPr>
          <p:cNvSpPr txBox="1"/>
          <p:nvPr/>
        </p:nvSpPr>
        <p:spPr>
          <a:xfrm>
            <a:off x="367832" y="2038986"/>
            <a:ext cx="5556871" cy="1384995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Where: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YM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廠製程部</a:t>
            </a: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M4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電鍍</a:t>
            </a:r>
            <a:endParaRPr lang="en-US" altLang="zh-TW" sz="1400" b="1" dirty="0">
              <a:latin typeface="+mj-lt"/>
              <a:ea typeface="微軟正黑體" panose="020B0604030504040204" pitchFamily="34" charset="-120"/>
            </a:endParaRPr>
          </a:p>
          <a:p>
            <a:pPr eaLnBrk="1" hangingPunct="1"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When: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2025/12~2026/2</a:t>
            </a:r>
          </a:p>
          <a:p>
            <a:pPr eaLnBrk="1" hangingPunct="1"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What: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Agent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使用覆蓋率、工作流程建置</a:t>
            </a:r>
            <a:endParaRPr lang="en-US" altLang="zh-TW" sz="1400" b="1" dirty="0">
              <a:latin typeface="+mj-lt"/>
              <a:ea typeface="微軟正黑體" panose="020B0604030504040204" pitchFamily="34" charset="-120"/>
            </a:endParaRPr>
          </a:p>
          <a:p>
            <a:pPr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How Many(much): Agent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使用覆蓋率 </a:t>
            </a: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0%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、工作流程建置 </a:t>
            </a: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0%</a:t>
            </a:r>
          </a:p>
          <a:p>
            <a:pPr eaLnBrk="1" hangingPunct="1">
              <a:defRPr/>
            </a:pPr>
            <a:r>
              <a:rPr lang="en-US" altLang="zh-TW" sz="1400" b="1" dirty="0">
                <a:latin typeface="+mj-lt"/>
                <a:ea typeface="微軟正黑體" panose="020B0604030504040204" pitchFamily="34" charset="-120"/>
              </a:rPr>
              <a:t>Impact:</a:t>
            </a:r>
            <a:r>
              <a:rPr lang="zh-TW" altLang="en-US" sz="1400" b="1" dirty="0">
                <a:latin typeface="+mj-lt"/>
                <a:ea typeface="微軟正黑體" panose="020B0604030504040204" pitchFamily="34" charset="-120"/>
              </a:rPr>
              <a:t>關鍵知識持續集中於少數熟手，導致工廠人才斷層與提高支援中斷風險</a:t>
            </a:r>
            <a:endParaRPr lang="en-US" altLang="zh-TW" sz="1400" b="1" dirty="0">
              <a:latin typeface="+mj-lt"/>
              <a:ea typeface="微軟正黑體" panose="020B0604030504040204" pitchFamily="34" charset="-120"/>
            </a:endParaRPr>
          </a:p>
        </p:txBody>
      </p: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6E085F26-9BC1-123C-D0A4-A699E82D52AB}"/>
              </a:ext>
            </a:extLst>
          </p:cNvPr>
          <p:cNvCxnSpPr/>
          <p:nvPr/>
        </p:nvCxnSpPr>
        <p:spPr>
          <a:xfrm>
            <a:off x="291513" y="3727175"/>
            <a:ext cx="116089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990B18EA-F287-53EF-87A9-AF73CF3BE96E}"/>
              </a:ext>
            </a:extLst>
          </p:cNvPr>
          <p:cNvCxnSpPr/>
          <p:nvPr/>
        </p:nvCxnSpPr>
        <p:spPr>
          <a:xfrm>
            <a:off x="291513" y="5042456"/>
            <a:ext cx="116089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Box 53">
            <a:extLst>
              <a:ext uri="{FF2B5EF4-FFF2-40B4-BE49-F238E27FC236}">
                <a16:creationId xmlns:a16="http://schemas.microsoft.com/office/drawing/2014/main" id="{B467E219-621D-6329-211E-98F85CD44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3751075"/>
            <a:ext cx="4160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預期目標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</p:txBody>
      </p:sp>
      <p:sp>
        <p:nvSpPr>
          <p:cNvPr id="32" name="Text Box 57">
            <a:extLst>
              <a:ext uri="{FF2B5EF4-FFF2-40B4-BE49-F238E27FC236}">
                <a16:creationId xmlns:a16="http://schemas.microsoft.com/office/drawing/2014/main" id="{11175A51-B125-63ED-BC27-72693DB25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5076231"/>
            <a:ext cx="38862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專案計畫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en-US" sz="16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Text Box 54">
            <a:extLst>
              <a:ext uri="{FF2B5EF4-FFF2-40B4-BE49-F238E27FC236}">
                <a16:creationId xmlns:a16="http://schemas.microsoft.com/office/drawing/2014/main" id="{8C09AB91-7A06-EC96-DA8F-E9746616A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786" y="927586"/>
            <a:ext cx="6088973" cy="273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10800" rIns="0" bIns="10800">
            <a:spAutoFit/>
          </a:bodyPr>
          <a:lstStyle>
            <a:lvl1pPr marL="457200" indent="-45720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預期效益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eaLnBrk="1" hangingPunct="1">
              <a:lnSpc>
                <a:spcPct val="50000"/>
              </a:lnSpc>
              <a:spcBef>
                <a:spcPct val="0"/>
              </a:spcBef>
              <a:buClrTx/>
              <a:buFontTx/>
              <a:buNone/>
            </a:pPr>
            <a:endParaRPr lang="en-US" altLang="zh-TW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63525" indent="-263525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有形效益 </a:t>
            </a:r>
            <a:endParaRPr lang="en-US" altLang="zh-TW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工時的節省：學習人員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位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月，使用次數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時薪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使用次數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每月上班天數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196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/hr×1hr×6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×22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×12=51,744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當年度效益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(5~12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51,744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÷12×8=34,496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無形效益</a:t>
            </a:r>
          </a:p>
          <a:p>
            <a:pPr marL="182563" indent="-182563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本專案可減輕熟手與教學者負擔，提升學習支援即時性，促進數位化與知識管理文化，並強化多專長人力培育基礎及組織韌性與人才彈性。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16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4250D9C2-E6B1-D34A-49D1-7F7ED166E43A}"/>
              </a:ext>
            </a:extLst>
          </p:cNvPr>
          <p:cNvCxnSpPr/>
          <p:nvPr/>
        </p:nvCxnSpPr>
        <p:spPr>
          <a:xfrm>
            <a:off x="6095999" y="1240319"/>
            <a:ext cx="1" cy="51704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Box 56">
            <a:extLst>
              <a:ext uri="{FF2B5EF4-FFF2-40B4-BE49-F238E27FC236}">
                <a16:creationId xmlns:a16="http://schemas.microsoft.com/office/drawing/2014/main" id="{3E35AF70-160F-216C-AACD-29D4EFD3F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787" y="3825529"/>
            <a:ext cx="4086225" cy="635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10800" rIns="0" bIns="10800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專案範圍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lvl="1" eaLnBrk="1" hangingPunct="1">
              <a:lnSpc>
                <a:spcPct val="40000"/>
              </a:lnSpc>
              <a:spcBef>
                <a:spcPct val="0"/>
              </a:spcBef>
              <a:buClrTx/>
              <a:buFontTx/>
              <a:buChar char="•"/>
            </a:pPr>
            <a:endParaRPr lang="en-US" altLang="zh-TW" sz="1600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Char char="•"/>
            </a:pP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YM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廠製程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M4</a:t>
            </a:r>
          </a:p>
        </p:txBody>
      </p:sp>
      <p:sp>
        <p:nvSpPr>
          <p:cNvPr id="40" name="Text Box 58">
            <a:extLst>
              <a:ext uri="{FF2B5EF4-FFF2-40B4-BE49-F238E27FC236}">
                <a16:creationId xmlns:a16="http://schemas.microsoft.com/office/drawing/2014/main" id="{817D561B-2A2E-03E1-4D67-98C0E5604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4786" y="5081463"/>
            <a:ext cx="5977214" cy="108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36000" tIns="10800" rIns="0" bIns="10800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專案成員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b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Team Leader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A3817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高琦幃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Team Members 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A3722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陳愷婕 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A2444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張凱程   </a:t>
            </a:r>
            <a:r>
              <a:rPr lang="en-US" altLang="zh-TW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A0619</a:t>
            </a: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劉毓芳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輔導員：吳濟維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64A874A-BBC2-5BA2-B0FF-38B291DCF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66448"/>
              </p:ext>
            </p:extLst>
          </p:nvPr>
        </p:nvGraphicFramePr>
        <p:xfrm>
          <a:off x="1604529" y="3808263"/>
          <a:ext cx="4021686" cy="113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443">
                  <a:extLst>
                    <a:ext uri="{9D8B030D-6E8A-4147-A177-3AD203B41FA5}">
                      <a16:colId xmlns:a16="http://schemas.microsoft.com/office/drawing/2014/main" val="124161248"/>
                    </a:ext>
                  </a:extLst>
                </a:gridCol>
                <a:gridCol w="937550">
                  <a:extLst>
                    <a:ext uri="{9D8B030D-6E8A-4147-A177-3AD203B41FA5}">
                      <a16:colId xmlns:a16="http://schemas.microsoft.com/office/drawing/2014/main" val="1843255695"/>
                    </a:ext>
                  </a:extLst>
                </a:gridCol>
                <a:gridCol w="1000693">
                  <a:extLst>
                    <a:ext uri="{9D8B030D-6E8A-4147-A177-3AD203B41FA5}">
                      <a16:colId xmlns:a16="http://schemas.microsoft.com/office/drawing/2014/main" val="3132792580"/>
                    </a:ext>
                  </a:extLst>
                </a:gridCol>
              </a:tblGrid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項目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現況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目標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181029"/>
                  </a:ext>
                </a:extLst>
              </a:tr>
              <a:tr h="40031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US" altLang="zh-TW" b="1" i="0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Agent</a:t>
                      </a:r>
                      <a:r>
                        <a:rPr lang="zh-TW" altLang="en-US" b="1" i="0" dirty="0">
                          <a:effectLst/>
                          <a:latin typeface="+mn-lt"/>
                          <a:ea typeface="微軟正黑體" panose="020B0604030504040204" pitchFamily="34" charset="-120"/>
                        </a:rPr>
                        <a:t>使用覆蓋率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+mn-lt"/>
                          <a:ea typeface="微軟正黑體" panose="020B0604030504040204" pitchFamily="34" charset="-120"/>
                        </a:rPr>
                        <a:t>0%</a:t>
                      </a:r>
                      <a:endParaRPr lang="zh-TW" altLang="en-US" b="1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+mn-lt"/>
                          <a:ea typeface="微軟正黑體" panose="020B0604030504040204" pitchFamily="34" charset="-120"/>
                        </a:rPr>
                        <a:t>50%</a:t>
                      </a:r>
                      <a:endParaRPr lang="zh-TW" altLang="en-US" b="1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472414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>
                          <a:latin typeface="+mn-lt"/>
                          <a:ea typeface="微軟正黑體" panose="020B0604030504040204" pitchFamily="34" charset="-120"/>
                        </a:rPr>
                        <a:t>工作流程建置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+mn-lt"/>
                          <a:ea typeface="微軟正黑體" panose="020B0604030504040204" pitchFamily="34" charset="-120"/>
                        </a:rPr>
                        <a:t>0%</a:t>
                      </a:r>
                      <a:endParaRPr lang="zh-TW" altLang="en-US" b="1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+mn-lt"/>
                          <a:ea typeface="微軟正黑體" panose="020B0604030504040204" pitchFamily="34" charset="-120"/>
                        </a:rPr>
                        <a:t>50%</a:t>
                      </a:r>
                      <a:endParaRPr lang="zh-TW" altLang="en-US" b="1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545098"/>
                  </a:ext>
                </a:extLst>
              </a:tr>
            </a:tbl>
          </a:graphicData>
        </a:graphic>
      </p:graphicFrame>
      <p:pic>
        <p:nvPicPr>
          <p:cNvPr id="14" name="圖片 13">
            <a:extLst>
              <a:ext uri="{FF2B5EF4-FFF2-40B4-BE49-F238E27FC236}">
                <a16:creationId xmlns:a16="http://schemas.microsoft.com/office/drawing/2014/main" id="{4F4D10C3-B8C7-8864-E092-C6E6D547E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383" y="5116201"/>
            <a:ext cx="4411979" cy="147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3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C3348D6B-4888-34A7-75FE-C02A3383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26" y="3399789"/>
            <a:ext cx="5893200" cy="296165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227B8B1-3312-E404-0AD0-B7BBF8CDE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選題理由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00D761-38C2-E975-9004-F6A875CE99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3F0DB3D-C7B8-66CF-7065-4B7ACA1721ED}"/>
              </a:ext>
            </a:extLst>
          </p:cNvPr>
          <p:cNvSpPr txBox="1"/>
          <p:nvPr/>
        </p:nvSpPr>
        <p:spPr>
          <a:xfrm>
            <a:off x="293826" y="936647"/>
            <a:ext cx="11493983" cy="707886"/>
          </a:xfrm>
          <a:prstGeom prst="rect">
            <a:avLst/>
          </a:prstGeom>
          <a:solidFill>
            <a:srgbClr val="B7DE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sz="2000" dirty="0">
                <a:solidFill>
                  <a:srgbClr val="0051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目的：</a:t>
            </a:r>
            <a:r>
              <a:rPr lang="zh-TW" altLang="en-US" sz="2000" dirty="0">
                <a:solidFill>
                  <a:srgbClr val="000000"/>
                </a:solidFill>
              </a:rPr>
              <a:t>因應 </a:t>
            </a:r>
            <a:r>
              <a:rPr lang="en-US" altLang="zh-TW" sz="2000" dirty="0">
                <a:solidFill>
                  <a:srgbClr val="000000"/>
                </a:solidFill>
              </a:rPr>
              <a:t>YM </a:t>
            </a:r>
            <a:r>
              <a:rPr lang="zh-TW" altLang="en-US" sz="2000" dirty="0">
                <a:solidFill>
                  <a:srgbClr val="000000"/>
                </a:solidFill>
              </a:rPr>
              <a:t>產能提升</a:t>
            </a:r>
            <a:r>
              <a:rPr lang="en-US" altLang="zh-TW" sz="2000" dirty="0">
                <a:solidFill>
                  <a:srgbClr val="000000"/>
                </a:solidFill>
              </a:rPr>
              <a:t>(</a:t>
            </a:r>
            <a:r>
              <a:rPr lang="zh-TW" altLang="en-US" sz="2000" dirty="0">
                <a:solidFill>
                  <a:srgbClr val="000000"/>
                </a:solidFill>
              </a:rPr>
              <a:t>平均稼動率從</a:t>
            </a:r>
            <a:r>
              <a:rPr lang="en-US" altLang="zh-TW" sz="2000" dirty="0">
                <a:solidFill>
                  <a:srgbClr val="000000"/>
                </a:solidFill>
              </a:rPr>
              <a:t>50%</a:t>
            </a:r>
            <a:r>
              <a:rPr lang="zh-TW" altLang="en-US" sz="2000" dirty="0">
                <a:solidFill>
                  <a:srgbClr val="000000"/>
                </a:solidFill>
              </a:rPr>
              <a:t>提升至</a:t>
            </a:r>
            <a:r>
              <a:rPr lang="en-US" altLang="zh-TW" sz="2000" dirty="0">
                <a:solidFill>
                  <a:srgbClr val="000000"/>
                </a:solidFill>
              </a:rPr>
              <a:t>70%)</a:t>
            </a:r>
            <a:r>
              <a:rPr lang="zh-TW" altLang="en-US" sz="2000" dirty="0">
                <a:solidFill>
                  <a:srgbClr val="000000"/>
                </a:solidFill>
              </a:rPr>
              <a:t>，工廠需持續強化關鍵人力培養與多專長人力建置，以</a:t>
            </a:r>
            <a:r>
              <a:rPr lang="zh-TW" altLang="en-US" sz="2000" dirty="0">
                <a:solidFill>
                  <a:srgbClr val="0000FF"/>
                </a:solidFill>
              </a:rPr>
              <a:t>提升</a:t>
            </a:r>
            <a:r>
              <a:rPr lang="en-US" altLang="zh-TW" sz="2000" dirty="0">
                <a:solidFill>
                  <a:srgbClr val="0000FF"/>
                </a:solidFill>
              </a:rPr>
              <a:t>YM</a:t>
            </a:r>
            <a:r>
              <a:rPr lang="zh-TW" altLang="en-US" sz="2000" dirty="0">
                <a:solidFill>
                  <a:srgbClr val="0000FF"/>
                </a:solidFill>
              </a:rPr>
              <a:t>廠彈性與應變能力。</a:t>
            </a:r>
            <a:endParaRPr lang="en-US" altLang="zh-TW" sz="2000" dirty="0">
              <a:solidFill>
                <a:srgbClr val="0000FF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E04FAF1-1EF1-2126-A409-AA6DC2108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1280" y="3285818"/>
            <a:ext cx="5596980" cy="3052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C5B7E102-59F4-59ED-A343-2C32F16F091D}"/>
              </a:ext>
            </a:extLst>
          </p:cNvPr>
          <p:cNvSpPr txBox="1"/>
          <p:nvPr/>
        </p:nvSpPr>
        <p:spPr>
          <a:xfrm>
            <a:off x="293826" y="1773949"/>
            <a:ext cx="11493983" cy="1461939"/>
          </a:xfrm>
          <a:prstGeom prst="rect">
            <a:avLst/>
          </a:prstGeom>
          <a:solidFill>
            <a:srgbClr val="B7DEE8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eaLnBrk="1" hangingPunct="1">
              <a:spcBef>
                <a:spcPts val="300"/>
              </a:spcBef>
              <a:spcAft>
                <a:spcPts val="600"/>
              </a:spcAft>
              <a:defRPr/>
            </a:pPr>
            <a:r>
              <a:rPr lang="zh-TW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痛點：</a:t>
            </a:r>
            <a:endParaRPr lang="en-US" altLang="zh-TW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學習人員於實務操作中遇到問題時，也可能因輔導人力忙碌或無法即時支援，影響學習與作業效率。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 eaLnBrk="1" hangingPunct="1">
              <a:spcBef>
                <a:spcPts val="300"/>
              </a:spcBef>
              <a:spcAft>
                <a:spcPts val="600"/>
              </a:spcAft>
              <a:buFont typeface="+mj-lt"/>
              <a:buAutoNum type="arabicPeriod"/>
              <a:defRPr/>
            </a:pP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熟手人員除需負擔日常作業外，亦須投入教材製作與教學輔導，造成時間壓力增加，進而影響教材產出效率與教學品質。</a:t>
            </a:r>
            <a:endParaRPr lang="en-US" altLang="zh-TW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D3475727-4F26-A455-1635-7DEFE3D09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080" y="3429000"/>
            <a:ext cx="1727200" cy="1727200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26238A41-CFB7-F7A2-7810-D8A2B63E2AE9}"/>
              </a:ext>
            </a:extLst>
          </p:cNvPr>
          <p:cNvSpPr txBox="1"/>
          <p:nvPr/>
        </p:nvSpPr>
        <p:spPr>
          <a:xfrm>
            <a:off x="1066800" y="3823328"/>
            <a:ext cx="3217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2026</a:t>
            </a:r>
            <a:r>
              <a:rPr lang="zh-TW" altLang="en-US" sz="1200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稼動率大幅成長，在更加忙碌的環境下</a:t>
            </a:r>
            <a:endParaRPr lang="en-US" altLang="zh-TW" sz="1200" b="1" dirty="0">
              <a:solidFill>
                <a:srgbClr val="0000FF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zh-TW" altLang="en-US" sz="1200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教育訓練的即時性與品質將面臨挑戰</a:t>
            </a:r>
            <a:endParaRPr lang="en-US" altLang="zh-TW" sz="1200" b="1" dirty="0">
              <a:solidFill>
                <a:srgbClr val="0000FF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2BA1BE-1726-66F8-1A6F-19937214A3F2}"/>
              </a:ext>
            </a:extLst>
          </p:cNvPr>
          <p:cNvSpPr txBox="1"/>
          <p:nvPr/>
        </p:nvSpPr>
        <p:spPr>
          <a:xfrm>
            <a:off x="5366657" y="477882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78B0FA-BCFD-8161-C05D-A27664D505FF}"/>
              </a:ext>
            </a:extLst>
          </p:cNvPr>
          <p:cNvSpPr txBox="1"/>
          <p:nvPr/>
        </p:nvSpPr>
        <p:spPr>
          <a:xfrm>
            <a:off x="4591381" y="5508924"/>
            <a:ext cx="14494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50" b="1" dirty="0">
                <a:solidFill>
                  <a:schemeClr val="bg1">
                    <a:lumMod val="50000"/>
                  </a:schemeClr>
                </a:solidFill>
                <a:latin typeface="+mj-lt"/>
                <a:ea typeface="微軟正黑體" panose="020B0604030504040204" pitchFamily="34" charset="-120"/>
              </a:rPr>
              <a:t>資料來源：</a:t>
            </a:r>
            <a:r>
              <a:rPr lang="en-US" altLang="zh-TW" sz="1050" b="1" dirty="0">
                <a:solidFill>
                  <a:schemeClr val="bg1">
                    <a:lumMod val="50000"/>
                  </a:schemeClr>
                </a:solidFill>
                <a:latin typeface="+mj-lt"/>
                <a:ea typeface="微軟正黑體" panose="020B0604030504040204" pitchFamily="34" charset="-120"/>
              </a:rPr>
              <a:t>YM</a:t>
            </a:r>
            <a:r>
              <a:rPr lang="zh-TW" altLang="en-US" sz="1050" b="1" dirty="0">
                <a:solidFill>
                  <a:schemeClr val="bg1">
                    <a:lumMod val="50000"/>
                  </a:schemeClr>
                </a:solidFill>
                <a:latin typeface="+mj-lt"/>
                <a:ea typeface="微軟正黑體" panose="020B0604030504040204" pitchFamily="34" charset="-120"/>
              </a:rPr>
              <a:t>生管部</a:t>
            </a:r>
          </a:p>
        </p:txBody>
      </p:sp>
      <p:sp>
        <p:nvSpPr>
          <p:cNvPr id="11" name="Text Box 77">
            <a:extLst>
              <a:ext uri="{FF2B5EF4-FFF2-40B4-BE49-F238E27FC236}">
                <a16:creationId xmlns:a16="http://schemas.microsoft.com/office/drawing/2014/main" id="{D85AB354-2A3F-D908-55A5-1B88C942F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865" y="46039"/>
            <a:ext cx="478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：問題釐清，現況與目標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現地、現物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540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520E-BD87-6EB6-3020-412EA0E9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3ACEEAC-C752-28C4-0EA2-29B05061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0" y="1066577"/>
            <a:ext cx="11522439" cy="515156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A1F1B8B-ECAD-0274-428B-EA26A40A9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VOC</a:t>
            </a:r>
            <a:r>
              <a:rPr lang="zh-TW" altLang="en-US" dirty="0"/>
              <a:t> </a:t>
            </a:r>
            <a:r>
              <a:rPr lang="en-US" altLang="zh-TW" dirty="0"/>
              <a:t>to CTQ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68431D-25A5-0711-955B-BCE1590FB1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3F37319-3822-C2D7-6E7E-D808D61B2A55}"/>
              </a:ext>
            </a:extLst>
          </p:cNvPr>
          <p:cNvSpPr/>
          <p:nvPr/>
        </p:nvSpPr>
        <p:spPr>
          <a:xfrm>
            <a:off x="8138160" y="985520"/>
            <a:ext cx="3535680" cy="5080000"/>
          </a:xfrm>
          <a:prstGeom prst="rect">
            <a:avLst/>
          </a:prstGeom>
          <a:noFill/>
          <a:ln w="38100">
            <a:solidFill>
              <a:srgbClr val="E9BB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EEAE39B-4197-E530-6760-C6E263495A7F}"/>
              </a:ext>
            </a:extLst>
          </p:cNvPr>
          <p:cNvSpPr txBox="1"/>
          <p:nvPr/>
        </p:nvSpPr>
        <p:spPr>
          <a:xfrm>
            <a:off x="8686018" y="491832"/>
            <a:ext cx="2439963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AC8A0C"/>
                </a:solidFill>
                <a:latin typeface="+mn-lt"/>
                <a:ea typeface="微軟正黑體" panose="020B0604030504040204" pitchFamily="34" charset="-120"/>
              </a:rPr>
              <a:t>CTQ</a:t>
            </a:r>
            <a:r>
              <a:rPr lang="zh-TW" altLang="en-US" sz="2000" b="1" dirty="0">
                <a:solidFill>
                  <a:srgbClr val="AC8A0C"/>
                </a:solidFill>
                <a:latin typeface="+mn-lt"/>
                <a:ea typeface="微軟正黑體" panose="020B0604030504040204" pitchFamily="34" charset="-120"/>
              </a:rPr>
              <a:t>即是</a:t>
            </a:r>
            <a:r>
              <a:rPr lang="en-US" altLang="zh-TW" sz="2000" b="1" dirty="0">
                <a:solidFill>
                  <a:srgbClr val="AC8A0C"/>
                </a:solidFill>
                <a:latin typeface="+mn-lt"/>
                <a:ea typeface="微軟正黑體" panose="020B0604030504040204" pitchFamily="34" charset="-120"/>
              </a:rPr>
              <a:t>Prompt</a:t>
            </a:r>
            <a:r>
              <a:rPr lang="zh-TW" altLang="en-US" sz="2000" b="1" dirty="0">
                <a:solidFill>
                  <a:srgbClr val="AC8A0C"/>
                </a:solidFill>
                <a:latin typeface="+mn-lt"/>
                <a:ea typeface="微軟正黑體" panose="020B0604030504040204" pitchFamily="34" charset="-120"/>
              </a:rPr>
              <a:t>內容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C818C0-D574-B625-316B-A8F01C4136C7}"/>
              </a:ext>
            </a:extLst>
          </p:cNvPr>
          <p:cNvSpPr/>
          <p:nvPr/>
        </p:nvSpPr>
        <p:spPr>
          <a:xfrm>
            <a:off x="5410200" y="1333501"/>
            <a:ext cx="1116330" cy="3429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79000">
                <a:srgbClr val="CAD9EB"/>
              </a:gs>
              <a:gs pos="31000">
                <a:schemeClr val="accent1">
                  <a:lumMod val="45000"/>
                  <a:lumOff val="55000"/>
                </a:schemeClr>
              </a:gs>
              <a:gs pos="76000">
                <a:schemeClr val="accent1">
                  <a:lumMod val="30000"/>
                  <a:lumOff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</a:rPr>
              <a:t>KCR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67D3AE-F211-FAFF-5448-36820C53FF45}"/>
              </a:ext>
            </a:extLst>
          </p:cNvPr>
          <p:cNvSpPr/>
          <p:nvPr/>
        </p:nvSpPr>
        <p:spPr>
          <a:xfrm>
            <a:off x="3791744" y="5722620"/>
            <a:ext cx="4051776" cy="342900"/>
          </a:xfrm>
          <a:prstGeom prst="rect">
            <a:avLst/>
          </a:prstGeom>
          <a:solidFill>
            <a:srgbClr val="EEF1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Text Box 77">
            <a:extLst>
              <a:ext uri="{FF2B5EF4-FFF2-40B4-BE49-F238E27FC236}">
                <a16:creationId xmlns:a16="http://schemas.microsoft.com/office/drawing/2014/main" id="{83ED8457-1791-5C47-D645-E4971F505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865" y="46039"/>
            <a:ext cx="478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：問題釐清，現況與目標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現地、現物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316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BC6F5-1B18-93AD-203D-B802E92E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9C372A-7E00-3073-3F56-CF6661EC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SIPOC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C8DAE3-4E39-DB80-A914-369110F9DD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Box 77">
            <a:extLst>
              <a:ext uri="{FF2B5EF4-FFF2-40B4-BE49-F238E27FC236}">
                <a16:creationId xmlns:a16="http://schemas.microsoft.com/office/drawing/2014/main" id="{F9B1A00A-D83F-083E-7C85-4F43F3A0E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0865" y="46039"/>
            <a:ext cx="4781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：問題釐清，現況與目標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(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現地、現物</a:t>
            </a: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)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9797455-FFFF-D67C-10B1-12CC3C806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6"/>
          <a:stretch>
            <a:fillRect/>
          </a:stretch>
        </p:blipFill>
        <p:spPr>
          <a:xfrm>
            <a:off x="1111165" y="998705"/>
            <a:ext cx="9969670" cy="526762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C870179-E152-25CA-2D58-4EAD8FF672FB}"/>
              </a:ext>
            </a:extLst>
          </p:cNvPr>
          <p:cNvSpPr/>
          <p:nvPr/>
        </p:nvSpPr>
        <p:spPr>
          <a:xfrm>
            <a:off x="10381129" y="6006353"/>
            <a:ext cx="466165" cy="259976"/>
          </a:xfrm>
          <a:prstGeom prst="rect">
            <a:avLst/>
          </a:prstGeom>
          <a:solidFill>
            <a:srgbClr val="E9EA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EFDA90-9215-F62A-3539-841D2A7E590B}"/>
              </a:ext>
            </a:extLst>
          </p:cNvPr>
          <p:cNvSpPr txBox="1"/>
          <p:nvPr/>
        </p:nvSpPr>
        <p:spPr>
          <a:xfrm>
            <a:off x="0" y="992545"/>
            <a:ext cx="12192000" cy="400110"/>
          </a:xfrm>
          <a:prstGeom prst="rect">
            <a:avLst/>
          </a:prstGeom>
          <a:solidFill>
            <a:srgbClr val="B7DEE8"/>
          </a:solidFill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Agent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輔助知識傳承，打造敏捷的組織學習生態</a:t>
            </a:r>
          </a:p>
        </p:txBody>
      </p:sp>
    </p:spTree>
    <p:extLst>
      <p:ext uri="{BB962C8B-B14F-4D97-AF65-F5344CB8AC3E}">
        <p14:creationId xmlns:p14="http://schemas.microsoft.com/office/powerpoint/2010/main" val="1627426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798EFD-501A-41C8-8F5E-D11B62A2F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現況把握與目標訂定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F0C0CD9-480A-FCCF-B11E-EA87DF9EC3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929731-2BDD-7D27-8DD0-F172CB0FB029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1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：現況與專案目標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1A85DB5-C687-5C5D-8713-5EFE99F58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435" y="939082"/>
            <a:ext cx="11562239" cy="4796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|"/>
              <a:defRPr kumimoji="1" sz="28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Font typeface="Wingdings" panose="05000000000000000000" pitchFamily="2" charset="2"/>
              <a:buChar char="T"/>
              <a:defRPr kumimoji="1" sz="24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t"/>
              <a:defRPr kumimoji="1" sz="2000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SzPct val="100000"/>
              <a:buChar char="•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Char char="–"/>
              <a:defRPr kumimoji="1">
                <a:solidFill>
                  <a:srgbClr val="0000FF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TW" altLang="en-US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r>
              <a:rPr lang="en-US" altLang="zh-TW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(KPI)</a:t>
            </a:r>
            <a:r>
              <a:rPr lang="zh-TW" altLang="en-US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altLang="zh-TW" sz="18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AutoNum type="arabicPeriod"/>
            </a:pP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Agent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使用覆蓋率：本專案先以製程 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M4 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為試行對象，並依據與主管討論結果，考量現階段工作狀況，採漸進式導入，初期建置目標訂為 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M4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總人數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人，目標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AutoNum type="arabicPeriod"/>
            </a:pP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工作流程建置：考量初期導入範圍與推動節奏，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Agent 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使用覆蓋率階段性目標訂為 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製程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M4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總人數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人，目標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  <a:r>
              <a:rPr lang="en-US" altLang="zh-TW" sz="16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zh-TW" altLang="en-US" sz="1800" b="1" dirty="0">
                <a:solidFill>
                  <a:srgbClr val="0000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預期效益：假設一個模組平均每月訓練一人</a:t>
            </a:r>
            <a:endParaRPr lang="en-US" altLang="zh-TW" sz="18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時薪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每次教學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詢問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每日次數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每月上班天數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	196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/hr×1hr×6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次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×22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×12=51,744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0111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zh-TW" altLang="en-US" sz="18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None/>
            </a:pPr>
            <a:endParaRPr lang="zh-TW" altLang="en-US" sz="18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TW" sz="18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TW" sz="18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TW" sz="1800" b="1" dirty="0">
              <a:solidFill>
                <a:srgbClr val="0000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7ABF62C-CA6E-6AA1-A6A8-71E1746F2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54" y="3255083"/>
            <a:ext cx="5598000" cy="305446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033DD02-E293-DD07-511C-FF2EC9D2EB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53" r="5649" b="5603"/>
          <a:stretch>
            <a:fillRect/>
          </a:stretch>
        </p:blipFill>
        <p:spPr>
          <a:xfrm>
            <a:off x="505435" y="3651366"/>
            <a:ext cx="4532730" cy="265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2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E3D8-1278-1AD0-D597-C2082B16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E2F4EF-4770-9198-E0FB-99CEB4D21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資料治理狀況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FDD7847-BA19-DC27-5200-DE7B52DF6D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6E20D916-A2E5-31A8-DF24-FB0A025D34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0" b="11532"/>
          <a:stretch>
            <a:fillRect/>
          </a:stretch>
        </p:blipFill>
        <p:spPr bwMode="auto">
          <a:xfrm>
            <a:off x="336000" y="1752887"/>
            <a:ext cx="11520000" cy="431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0A1D780-9680-4705-DD09-BF27DE5C5ABD}"/>
              </a:ext>
            </a:extLst>
          </p:cNvPr>
          <p:cNvSpPr/>
          <p:nvPr/>
        </p:nvSpPr>
        <p:spPr>
          <a:xfrm>
            <a:off x="6258560" y="3825240"/>
            <a:ext cx="2641600" cy="482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作為資料集中管理平台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09968E6-1698-6893-DF32-5E96C3032AAF}"/>
              </a:ext>
            </a:extLst>
          </p:cNvPr>
          <p:cNvSpPr txBox="1"/>
          <p:nvPr/>
        </p:nvSpPr>
        <p:spPr>
          <a:xfrm>
            <a:off x="0" y="992545"/>
            <a:ext cx="12192000" cy="400110"/>
          </a:xfrm>
          <a:prstGeom prst="rect">
            <a:avLst/>
          </a:prstGeom>
          <a:solidFill>
            <a:srgbClr val="B7DEE8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雙軌建立流程內容並集中於 </a:t>
            </a:r>
            <a:r>
              <a: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SharePoint 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管理，兼顧產出彈性與格式一致性。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6666CB4-354E-01D7-E0C2-3019D9B18CE0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2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資料定義、準備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C4084C-9DA2-53A9-4807-9A0E433F17BE}"/>
              </a:ext>
            </a:extLst>
          </p:cNvPr>
          <p:cNvSpPr/>
          <p:nvPr/>
        </p:nvSpPr>
        <p:spPr>
          <a:xfrm>
            <a:off x="2692400" y="3373120"/>
            <a:ext cx="2641600" cy="23368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微軟正黑體" panose="020B0604030504040204" pitchFamily="34" charset="-120"/>
              </a:rPr>
              <a:t>Web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微軟正黑體" panose="020B0604030504040204" pitchFamily="34" charset="-120"/>
              </a:rPr>
              <a:t> </a:t>
            </a:r>
            <a:r>
              <a:rPr lang="en-US" altLang="zh-TW" sz="1200" b="1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微軟正黑體" panose="020B0604030504040204" pitchFamily="34" charset="-120"/>
              </a:rPr>
              <a:t>App</a:t>
            </a:r>
            <a:r>
              <a:rPr lang="zh-TW" altLang="en-US" sz="1200" b="1" dirty="0">
                <a:solidFill>
                  <a:schemeClr val="tx1"/>
                </a:solidFill>
                <a:highlight>
                  <a:srgbClr val="FFFF00"/>
                </a:highlight>
                <a:latin typeface="+mj-lt"/>
                <a:ea typeface="微軟正黑體" panose="020B0604030504040204" pitchFamily="34" charset="-120"/>
              </a:rPr>
              <a:t>額外支援載入與編修功能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1100C04-2E64-D8D0-131B-5C05C7FAD2FF}"/>
              </a:ext>
            </a:extLst>
          </p:cNvPr>
          <p:cNvSpPr/>
          <p:nvPr/>
        </p:nvSpPr>
        <p:spPr>
          <a:xfrm>
            <a:off x="1264024" y="3328988"/>
            <a:ext cx="4141694" cy="1081647"/>
          </a:xfrm>
          <a:prstGeom prst="roundRect">
            <a:avLst>
              <a:gd name="adj" fmla="val 8891"/>
            </a:avLst>
          </a:prstGeom>
          <a:solidFill>
            <a:srgbClr val="FAC09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7019E02-82EC-E318-CB67-DB2B5F0046CD}"/>
              </a:ext>
            </a:extLst>
          </p:cNvPr>
          <p:cNvSpPr txBox="1"/>
          <p:nvPr/>
        </p:nvSpPr>
        <p:spPr>
          <a:xfrm>
            <a:off x="336000" y="3275111"/>
            <a:ext cx="2448106" cy="27699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主要建置流程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考量正式環境費用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1935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828E-9DE9-6E3D-3A4C-57A2FC7D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E0FD1C-6590-BA05-339A-C6D178916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模型建立與評估</a:t>
            </a:r>
            <a:r>
              <a:rPr lang="en-US" altLang="zh-TW" dirty="0"/>
              <a:t>-</a:t>
            </a:r>
            <a:r>
              <a:rPr lang="zh-TW" altLang="en-US" dirty="0"/>
              <a:t>模型建置流程說明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99F5C5-224A-9C5B-E05A-0EF718FB6A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63717778-B8D2-68CD-71DD-C5FF5EB72456}"/>
              </a:ext>
            </a:extLst>
          </p:cNvPr>
          <p:cNvGrpSpPr/>
          <p:nvPr/>
        </p:nvGrpSpPr>
        <p:grpSpPr>
          <a:xfrm>
            <a:off x="1040567" y="1462381"/>
            <a:ext cx="10080000" cy="4730828"/>
            <a:chOff x="1040567" y="961458"/>
            <a:chExt cx="10080000" cy="4730828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BC503172-B7C4-A1D8-5517-4E1DCBFE2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0567" y="961458"/>
              <a:ext cx="10080000" cy="4730828"/>
            </a:xfrm>
            <a:prstGeom prst="rect">
              <a:avLst/>
            </a:prstGeom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3EB9DCFB-E11C-7C63-9CDD-E69803F33314}"/>
                </a:ext>
              </a:extLst>
            </p:cNvPr>
            <p:cNvSpPr txBox="1"/>
            <p:nvPr/>
          </p:nvSpPr>
          <p:spPr>
            <a:xfrm>
              <a:off x="3711585" y="4351546"/>
              <a:ext cx="982335" cy="523220"/>
            </a:xfrm>
            <a:prstGeom prst="rect">
              <a:avLst/>
            </a:prstGeom>
            <a:solidFill>
              <a:srgbClr val="034D7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提出</a:t>
              </a:r>
              <a:endParaRPr lang="en-US" altLang="zh-TW" sz="14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endParaRPr>
            </a:p>
            <a:p>
              <a:pPr algn="ctr"/>
              <a:r>
                <a:rPr lang="zh-TW" altLang="en-US" sz="1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架構</a:t>
              </a: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228A3454-9CA5-62FF-B9FD-F5E7A418365C}"/>
                </a:ext>
              </a:extLst>
            </p:cNvPr>
            <p:cNvSpPr txBox="1"/>
            <p:nvPr/>
          </p:nvSpPr>
          <p:spPr>
            <a:xfrm>
              <a:off x="5333141" y="4827852"/>
              <a:ext cx="2005141" cy="523220"/>
            </a:xfrm>
            <a:prstGeom prst="rect">
              <a:avLst/>
            </a:prstGeom>
            <a:solidFill>
              <a:srgbClr val="034D7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Copilot</a:t>
              </a:r>
              <a:r>
                <a:rPr lang="zh-TW" altLang="en-US" sz="1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 撰寫 </a:t>
              </a:r>
              <a:r>
                <a:rPr lang="en-US" altLang="zh-TW" sz="1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Prompt</a:t>
              </a:r>
              <a:br>
                <a:rPr lang="en-US" altLang="zh-TW" sz="1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</a:br>
              <a:r>
                <a:rPr lang="zh-TW" altLang="en-US" sz="1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*</a:t>
              </a:r>
              <a:r>
                <a:rPr lang="en-US" altLang="zh-TW" sz="1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Markdown</a:t>
              </a:r>
              <a:r>
                <a:rPr lang="zh-TW" altLang="en-US" sz="14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格式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CA89E372-7C40-30E1-1A09-39A7D2A88396}"/>
                </a:ext>
              </a:extLst>
            </p:cNvPr>
            <p:cNvSpPr txBox="1"/>
            <p:nvPr/>
          </p:nvSpPr>
          <p:spPr>
            <a:xfrm>
              <a:off x="5128241" y="3729580"/>
              <a:ext cx="2563720" cy="338554"/>
            </a:xfrm>
            <a:prstGeom prst="rect">
              <a:avLst/>
            </a:prstGeom>
            <a:solidFill>
              <a:srgbClr val="034D7D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Copilot</a:t>
              </a:r>
              <a:r>
                <a:rPr lang="zh-TW" altLang="en-US" sz="16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 </a:t>
              </a:r>
              <a:r>
                <a:rPr lang="en-US" altLang="zh-TW" sz="16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Agent</a:t>
              </a:r>
              <a:r>
                <a:rPr lang="zh-TW" altLang="en-US" sz="16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 </a:t>
              </a:r>
              <a:r>
                <a:rPr lang="en-US" altLang="zh-TW" sz="1600" b="1" dirty="0">
                  <a:solidFill>
                    <a:schemeClr val="bg1"/>
                  </a:solidFill>
                  <a:latin typeface="+mj-lt"/>
                  <a:ea typeface="微軟正黑體" panose="020B0604030504040204" pitchFamily="34" charset="-120"/>
                </a:rPr>
                <a:t>Processing</a:t>
              </a:r>
              <a:endParaRPr lang="zh-TW" altLang="en-US" sz="16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endParaRPr>
            </a:p>
          </p:txBody>
        </p:sp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67BA618-DFFC-D61F-5068-3E88883994C2}"/>
              </a:ext>
            </a:extLst>
          </p:cNvPr>
          <p:cNvSpPr txBox="1"/>
          <p:nvPr/>
        </p:nvSpPr>
        <p:spPr>
          <a:xfrm>
            <a:off x="0" y="992545"/>
            <a:ext cx="12192000" cy="400110"/>
          </a:xfrm>
          <a:prstGeom prst="rect">
            <a:avLst/>
          </a:prstGeom>
          <a:solidFill>
            <a:srgbClr val="B7DEE8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工作流程助理</a:t>
            </a:r>
            <a:r>
              <a: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Agent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架構分兩階段：資料填寫、知識問答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4A9EE85-E810-3AC5-79D9-F71C94C61EE3}"/>
              </a:ext>
            </a:extLst>
          </p:cNvPr>
          <p:cNvSpPr txBox="1"/>
          <p:nvPr/>
        </p:nvSpPr>
        <p:spPr>
          <a:xfrm>
            <a:off x="8412479" y="2554103"/>
            <a:ext cx="2175081" cy="307777"/>
          </a:xfrm>
          <a:prstGeom prst="rect">
            <a:avLst/>
          </a:prstGeom>
          <a:solidFill>
            <a:srgbClr val="034D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rPr>
              <a:t>SharePoint</a:t>
            </a:r>
            <a:endParaRPr lang="zh-TW" altLang="en-US" sz="1400" b="1" dirty="0">
              <a:solidFill>
                <a:schemeClr val="bg1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A4DF5C8-90C7-846E-7521-B3B5576D6EDD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3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：模型建立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與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評估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E142C60-8011-8B56-533A-436BA54D2AB6}"/>
              </a:ext>
            </a:extLst>
          </p:cNvPr>
          <p:cNvSpPr txBox="1"/>
          <p:nvPr/>
        </p:nvSpPr>
        <p:spPr>
          <a:xfrm>
            <a:off x="6863788" y="2931606"/>
            <a:ext cx="1940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FF00"/>
                </a:solidFill>
                <a:latin typeface="+mj-lt"/>
                <a:ea typeface="微軟正黑體" panose="020B0604030504040204" pitchFamily="34" charset="-120"/>
              </a:rPr>
              <a:t>Web</a:t>
            </a:r>
            <a:r>
              <a:rPr lang="zh-TW" altLang="en-US" sz="2400" b="1" dirty="0">
                <a:solidFill>
                  <a:srgbClr val="FFFF00"/>
                </a:solidFill>
                <a:latin typeface="+mj-lt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rgbClr val="FFFF00"/>
                </a:solidFill>
                <a:latin typeface="+mj-lt"/>
                <a:ea typeface="微軟正黑體" panose="020B0604030504040204" pitchFamily="34" charset="-120"/>
              </a:rPr>
              <a:t>app</a:t>
            </a:r>
            <a:r>
              <a:rPr lang="zh-TW" altLang="en-US" sz="2400" b="1" dirty="0">
                <a:solidFill>
                  <a:srgbClr val="FFFF00"/>
                </a:solidFill>
                <a:latin typeface="+mj-lt"/>
                <a:ea typeface="微軟正黑體" panose="020B0604030504040204" pitchFamily="34" charset="-120"/>
              </a:rPr>
              <a:t>輔助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9EFBF41-49A2-BB42-75F3-C8D88067B467}"/>
              </a:ext>
            </a:extLst>
          </p:cNvPr>
          <p:cNvSpPr txBox="1"/>
          <p:nvPr/>
        </p:nvSpPr>
        <p:spPr>
          <a:xfrm>
            <a:off x="1614296" y="1593600"/>
            <a:ext cx="2109873" cy="400110"/>
          </a:xfrm>
          <a:prstGeom prst="rect">
            <a:avLst/>
          </a:prstGeom>
          <a:solidFill>
            <a:srgbClr val="024C7D"/>
          </a:solidFill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rPr>
              <a:t>階段</a:t>
            </a:r>
            <a:r>
              <a:rPr lang="en-US" altLang="zh-TW" sz="20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rPr>
              <a:t>1</a:t>
            </a:r>
            <a:r>
              <a:rPr lang="zh-TW" altLang="en-US" sz="2000" b="1" dirty="0">
                <a:solidFill>
                  <a:schemeClr val="bg1"/>
                </a:solidFill>
                <a:latin typeface="+mj-lt"/>
                <a:ea typeface="微軟正黑體" panose="020B0604030504040204" pitchFamily="34" charset="-120"/>
              </a:rPr>
              <a:t>：資料填寫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7A08F1-839F-2DCF-002A-DDDF1AFD6C42}"/>
              </a:ext>
            </a:extLst>
          </p:cNvPr>
          <p:cNvSpPr txBox="1"/>
          <p:nvPr/>
        </p:nvSpPr>
        <p:spPr>
          <a:xfrm>
            <a:off x="1614296" y="3693349"/>
            <a:ext cx="2109873" cy="400110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1113B"/>
                </a:solidFill>
                <a:latin typeface="+mj-lt"/>
                <a:ea typeface="微軟正黑體" panose="020B0604030504040204" pitchFamily="34" charset="-120"/>
              </a:rPr>
              <a:t>階段</a:t>
            </a:r>
            <a:r>
              <a:rPr lang="en-US" altLang="zh-TW" sz="2000" b="1" dirty="0">
                <a:solidFill>
                  <a:srgbClr val="01113B"/>
                </a:solidFill>
                <a:latin typeface="+mj-lt"/>
                <a:ea typeface="微軟正黑體" panose="020B0604030504040204" pitchFamily="34" charset="-120"/>
              </a:rPr>
              <a:t>2</a:t>
            </a:r>
            <a:r>
              <a:rPr lang="zh-TW" altLang="en-US" sz="2000" b="1" dirty="0">
                <a:solidFill>
                  <a:srgbClr val="01113B"/>
                </a:solidFill>
                <a:latin typeface="+mj-lt"/>
                <a:ea typeface="微軟正黑體" panose="020B0604030504040204" pitchFamily="34" charset="-120"/>
              </a:rPr>
              <a:t>：知識問答</a:t>
            </a:r>
          </a:p>
        </p:txBody>
      </p:sp>
    </p:spTree>
    <p:extLst>
      <p:ext uri="{BB962C8B-B14F-4D97-AF65-F5344CB8AC3E}">
        <p14:creationId xmlns:p14="http://schemas.microsoft.com/office/powerpoint/2010/main" val="2958630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2B13-2DF8-A8CB-54DA-8DF30F22F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DB22B2-41DB-D7E8-9AE3-41ED0F7E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模型建立與評估</a:t>
            </a:r>
            <a:r>
              <a:rPr lang="en-US" altLang="zh-TW" dirty="0"/>
              <a:t>-RTF</a:t>
            </a:r>
            <a:r>
              <a:rPr lang="zh-TW" altLang="en-US" dirty="0"/>
              <a:t>結構設計</a:t>
            </a:r>
            <a:endParaRPr lang="en-US" dirty="0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A5BF4EB4-44FA-855B-7AD7-5561BB83FC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38" b="20462"/>
          <a:stretch>
            <a:fillRect/>
          </a:stretch>
        </p:blipFill>
        <p:spPr bwMode="auto">
          <a:xfrm>
            <a:off x="0" y="1701775"/>
            <a:ext cx="12188530" cy="451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05B8A4D-4991-3F0D-D484-50B3BB54882B}"/>
              </a:ext>
            </a:extLst>
          </p:cNvPr>
          <p:cNvSpPr txBox="1"/>
          <p:nvPr/>
        </p:nvSpPr>
        <p:spPr>
          <a:xfrm>
            <a:off x="0" y="992545"/>
            <a:ext cx="12192000" cy="400110"/>
          </a:xfrm>
          <a:prstGeom prst="rect">
            <a:avLst/>
          </a:prstGeom>
          <a:solidFill>
            <a:srgbClr val="B7DEE8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以內部知識庫為核心，建立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ea typeface="微軟正黑體" panose="020B0604030504040204" pitchFamily="34" charset="-120"/>
              </a:rPr>
              <a:t>輔助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教材建立與教學的工作流程助理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6FE04D7-772E-5582-0CFB-CD0C77C0937D}"/>
              </a:ext>
            </a:extLst>
          </p:cNvPr>
          <p:cNvSpPr txBox="1"/>
          <p:nvPr/>
        </p:nvSpPr>
        <p:spPr>
          <a:xfrm>
            <a:off x="2757004" y="1701775"/>
            <a:ext cx="8459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1" dirty="0">
                <a:solidFill>
                  <a:srgbClr val="0000FF"/>
                </a:solidFill>
                <a:effectLst/>
                <a:latin typeface="+mj-lt"/>
                <a:ea typeface="微軟正黑體" panose="020B0604030504040204" pitchFamily="34" charset="-120"/>
              </a:rPr>
              <a:t>角色設定：專業、有條理且善於教學的企業工作流程助理</a:t>
            </a:r>
            <a:endParaRPr lang="zh-TW" altLang="en-US" sz="2400" b="1" dirty="0">
              <a:solidFill>
                <a:srgbClr val="0000FF"/>
              </a:solidFill>
              <a:latin typeface="+mj-lt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9836C80-140F-684A-2296-60FD5849E10B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3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：模型建立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與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評估</a:t>
            </a:r>
          </a:p>
        </p:txBody>
      </p:sp>
    </p:spTree>
    <p:extLst>
      <p:ext uri="{BB962C8B-B14F-4D97-AF65-F5344CB8AC3E}">
        <p14:creationId xmlns:p14="http://schemas.microsoft.com/office/powerpoint/2010/main" val="2192085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0D5E-9B31-1E40-8579-8ABC1D5D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C1F3FE6-F4C0-A8A4-042A-7DC202D013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48" b="6987"/>
          <a:stretch>
            <a:fillRect/>
          </a:stretch>
        </p:blipFill>
        <p:spPr bwMode="auto">
          <a:xfrm>
            <a:off x="438864" y="1429354"/>
            <a:ext cx="11314272" cy="4746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9831539-B7F4-9B2A-4FAC-32032FB77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模型建立與評估</a:t>
            </a:r>
            <a:r>
              <a:rPr lang="en-US" altLang="zh-TW" dirty="0"/>
              <a:t>-Fine tune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06C4993-253E-F8D0-CD11-05AD4B2CA3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27B9B59-599D-F7C8-C6D2-15470132DDCE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3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：模型建立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與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評估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3E7D84-3E82-93E0-1C06-2DB01A54D096}"/>
              </a:ext>
            </a:extLst>
          </p:cNvPr>
          <p:cNvSpPr/>
          <p:nvPr/>
        </p:nvSpPr>
        <p:spPr>
          <a:xfrm>
            <a:off x="856972" y="3802682"/>
            <a:ext cx="1394460" cy="25908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</a:rPr>
              <a:t>(Word/.md)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FC8F970-2E12-9335-60A4-4EFD748B2604}"/>
              </a:ext>
            </a:extLst>
          </p:cNvPr>
          <p:cNvSpPr txBox="1"/>
          <p:nvPr/>
        </p:nvSpPr>
        <p:spPr>
          <a:xfrm>
            <a:off x="1141389" y="1020233"/>
            <a:ext cx="2477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Stage</a:t>
            </a:r>
            <a:r>
              <a:rPr lang="zh-TW" altLang="en-US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1.</a:t>
            </a:r>
            <a:r>
              <a:rPr lang="zh-TW" altLang="en-US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 建立</a:t>
            </a:r>
            <a:r>
              <a:rPr lang="en-US" altLang="zh-TW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Agent</a:t>
            </a:r>
            <a:r>
              <a:rPr lang="zh-TW" altLang="en-US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功能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070D125-35AA-2CD6-D930-0F23DAAE62E9}"/>
              </a:ext>
            </a:extLst>
          </p:cNvPr>
          <p:cNvSpPr txBox="1"/>
          <p:nvPr/>
        </p:nvSpPr>
        <p:spPr>
          <a:xfrm>
            <a:off x="4816542" y="1020233"/>
            <a:ext cx="2376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4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Stage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chemeClr val="accent4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solidFill>
                  <a:schemeClr val="accent4">
                    <a:lumMod val="75000"/>
                  </a:schemeClr>
                </a:solidFill>
                <a:latin typeface="+mn-lt"/>
                <a:ea typeface="微軟正黑體" panose="020B0604030504040204" pitchFamily="34" charset="-120"/>
              </a:rPr>
              <a:t> 修訂產出內容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79192CB-1AF9-BC2A-006E-DE44C63970E2}"/>
              </a:ext>
            </a:extLst>
          </p:cNvPr>
          <p:cNvSpPr txBox="1"/>
          <p:nvPr/>
        </p:nvSpPr>
        <p:spPr>
          <a:xfrm>
            <a:off x="8709521" y="1020233"/>
            <a:ext cx="2606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9E7800"/>
                </a:solidFill>
                <a:latin typeface="+mn-lt"/>
                <a:ea typeface="微軟正黑體" panose="020B0604030504040204" pitchFamily="34" charset="-120"/>
              </a:rPr>
              <a:t>Stage</a:t>
            </a:r>
            <a:r>
              <a:rPr lang="zh-TW" altLang="en-US" b="1" dirty="0">
                <a:solidFill>
                  <a:srgbClr val="9E7800"/>
                </a:solidFill>
                <a:latin typeface="+mn-lt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rgbClr val="9E7800"/>
                </a:solidFill>
                <a:latin typeface="+mn-lt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solidFill>
                  <a:srgbClr val="9E7800"/>
                </a:solidFill>
                <a:latin typeface="+mn-lt"/>
                <a:ea typeface="微軟正黑體" panose="020B0604030504040204" pitchFamily="34" charset="-120"/>
              </a:rPr>
              <a:t> </a:t>
            </a:r>
            <a:r>
              <a:rPr lang="zh-TW" altLang="en-US" b="1" dirty="0">
                <a:solidFill>
                  <a:srgbClr val="9E7800"/>
                </a:solidFill>
                <a:ea typeface="微軟正黑體" panose="020B0604030504040204" pitchFamily="34" charset="-120"/>
              </a:rPr>
              <a:t>優化</a:t>
            </a:r>
            <a:r>
              <a:rPr lang="zh-TW" altLang="en-US" b="1" dirty="0">
                <a:solidFill>
                  <a:srgbClr val="9E7800"/>
                </a:solidFill>
                <a:latin typeface="+mn-lt"/>
                <a:ea typeface="微軟正黑體" panose="020B0604030504040204" pitchFamily="34" charset="-120"/>
              </a:rPr>
              <a:t>使用者體驗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F1F310-B3F5-71A7-FF45-578D07A31176}"/>
              </a:ext>
            </a:extLst>
          </p:cNvPr>
          <p:cNvSpPr/>
          <p:nvPr/>
        </p:nvSpPr>
        <p:spPr>
          <a:xfrm>
            <a:off x="4064000" y="1429354"/>
            <a:ext cx="4185920" cy="4746656"/>
          </a:xfrm>
          <a:prstGeom prst="rect">
            <a:avLst/>
          </a:prstGeom>
          <a:solidFill>
            <a:srgbClr val="D99694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31A41C-E588-B350-6D35-EC29751BA057}"/>
              </a:ext>
            </a:extLst>
          </p:cNvPr>
          <p:cNvSpPr/>
          <p:nvPr/>
        </p:nvSpPr>
        <p:spPr>
          <a:xfrm>
            <a:off x="8402320" y="4460240"/>
            <a:ext cx="1330960" cy="1178560"/>
          </a:xfrm>
          <a:prstGeom prst="rect">
            <a:avLst/>
          </a:prstGeom>
          <a:solidFill>
            <a:srgbClr val="F5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DA87807-098D-0532-AA72-BE7CC73755B3}"/>
              </a:ext>
            </a:extLst>
          </p:cNvPr>
          <p:cNvSpPr/>
          <p:nvPr/>
        </p:nvSpPr>
        <p:spPr>
          <a:xfrm>
            <a:off x="10012954" y="2540000"/>
            <a:ext cx="1410256" cy="889000"/>
          </a:xfrm>
          <a:prstGeom prst="rect">
            <a:avLst/>
          </a:prstGeom>
          <a:solidFill>
            <a:srgbClr val="CFE1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Workflow</a:t>
            </a:r>
          </a:p>
          <a:p>
            <a:pPr algn="ctr"/>
            <a:r>
              <a:rPr lang="en-US" altLang="zh-TW" sz="16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Web</a:t>
            </a:r>
            <a:r>
              <a:rPr lang="zh-TW" altLang="en-US" sz="16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格式交付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394251-7A38-CA02-3EBB-DF9B6DE039F4}"/>
              </a:ext>
            </a:extLst>
          </p:cNvPr>
          <p:cNvSpPr/>
          <p:nvPr/>
        </p:nvSpPr>
        <p:spPr>
          <a:xfrm>
            <a:off x="10012954" y="4841240"/>
            <a:ext cx="1410256" cy="416560"/>
          </a:xfrm>
          <a:prstGeom prst="rect">
            <a:avLst/>
          </a:prstGeom>
          <a:solidFill>
            <a:srgbClr val="F5F4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Web</a:t>
            </a:r>
            <a:r>
              <a:rPr lang="zh-TW" altLang="en-US" sz="1600" b="1" dirty="0">
                <a:solidFill>
                  <a:schemeClr val="tx1"/>
                </a:solidFill>
                <a:ea typeface="微軟正黑體" panose="020B0604030504040204" pitchFamily="34" charset="-120"/>
              </a:rPr>
              <a:t>格式交付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3BC213-3543-5DCE-D5E1-4196F36E7D59}"/>
              </a:ext>
            </a:extLst>
          </p:cNvPr>
          <p:cNvSpPr/>
          <p:nvPr/>
        </p:nvSpPr>
        <p:spPr>
          <a:xfrm>
            <a:off x="8249920" y="1429354"/>
            <a:ext cx="3503216" cy="4746656"/>
          </a:xfrm>
          <a:prstGeom prst="rect">
            <a:avLst/>
          </a:prstGeom>
          <a:solidFill>
            <a:srgbClr val="FFC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4887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52297-3F2C-6AAB-379E-51489E405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DE135D-5E8F-F76F-22B1-9D6309AE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模型建立與評估</a:t>
            </a:r>
            <a:r>
              <a:rPr lang="en-US" altLang="zh-TW" dirty="0"/>
              <a:t>-Fine tune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93F42E-5EC5-F9F0-1181-5CCE6D59EF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3A27B0E-112E-E2CE-0335-A4822B74F3C1}"/>
              </a:ext>
            </a:extLst>
          </p:cNvPr>
          <p:cNvSpPr txBox="1"/>
          <p:nvPr/>
        </p:nvSpPr>
        <p:spPr>
          <a:xfrm>
            <a:off x="0" y="46039"/>
            <a:ext cx="2807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3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：模型建立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與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評估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21E9E46-CA1E-2DB1-14F1-858762CF7C68}"/>
              </a:ext>
            </a:extLst>
          </p:cNvPr>
          <p:cNvSpPr txBox="1"/>
          <p:nvPr/>
        </p:nvSpPr>
        <p:spPr>
          <a:xfrm>
            <a:off x="459340" y="956365"/>
            <a:ext cx="11427860" cy="369332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實際資料的測試、驗證結果     截圖 反指標</a:t>
            </a:r>
            <a:endParaRPr lang="en-US" altLang="zh-TW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668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44975-F9D4-2D39-D49C-7CE3AE645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9BC944-D4AE-C307-95D6-C6B2E43B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專案結論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83C5DD-787B-061E-7B10-F94E3FCC4E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AA0B0E-F0E9-FD87-9561-9EAEA55FB8C4}"/>
              </a:ext>
            </a:extLst>
          </p:cNvPr>
          <p:cNvSpPr txBox="1"/>
          <p:nvPr/>
        </p:nvSpPr>
        <p:spPr>
          <a:xfrm>
            <a:off x="0" y="46039"/>
            <a:ext cx="3250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4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結論與後續工作規劃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1A93338-6C9A-9446-EDB1-860DA98F590E}"/>
              </a:ext>
            </a:extLst>
          </p:cNvPr>
          <p:cNvSpPr txBox="1"/>
          <p:nvPr/>
        </p:nvSpPr>
        <p:spPr>
          <a:xfrm>
            <a:off x="0" y="992545"/>
            <a:ext cx="12192000" cy="400110"/>
          </a:xfrm>
          <a:prstGeom prst="rect">
            <a:avLst/>
          </a:prstGeom>
          <a:solidFill>
            <a:srgbClr val="B7DEE8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模型預計</a:t>
            </a:r>
            <a:r>
              <a: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2026 Ww18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上正式環境，預計到年底效益為</a:t>
            </a:r>
            <a:r>
              <a: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34,496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元</a:t>
            </a:r>
            <a:r>
              <a: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(PE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M4</a:t>
            </a:r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部分</a:t>
            </a:r>
            <a:r>
              <a:rPr lang="en-US" altLang="zh-TW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)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76508CC-BBE5-CD25-C339-6AF902D891E6}"/>
              </a:ext>
            </a:extLst>
          </p:cNvPr>
          <p:cNvSpPr txBox="1"/>
          <p:nvPr/>
        </p:nvSpPr>
        <p:spPr>
          <a:xfrm>
            <a:off x="0" y="3853598"/>
            <a:ext cx="12192000" cy="400110"/>
          </a:xfrm>
          <a:prstGeom prst="rect">
            <a:avLst/>
          </a:prstGeom>
          <a:solidFill>
            <a:srgbClr val="B7DEE8"/>
          </a:solidFill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微軟正黑體" panose="020B0604030504040204" pitchFamily="34" charset="-120"/>
              </a:rPr>
              <a:t>預計精進優化內容：</a:t>
            </a:r>
            <a:r>
              <a:rPr lang="en-US" altLang="zh-TW" sz="2000" b="1" dirty="0">
                <a:ea typeface="微軟正黑體" panose="020B0604030504040204" pitchFamily="34" charset="-120"/>
              </a:rPr>
              <a:t> Agent</a:t>
            </a:r>
            <a:r>
              <a:rPr lang="zh-TW" altLang="en-US" sz="2000" b="1" dirty="0">
                <a:ea typeface="微軟正黑體" panose="020B0604030504040204" pitchFamily="34" charset="-120"/>
              </a:rPr>
              <a:t>、</a:t>
            </a:r>
            <a:r>
              <a:rPr lang="en-US" altLang="zh-TW" sz="2000" b="1" dirty="0">
                <a:ea typeface="微軟正黑體" panose="020B0604030504040204" pitchFamily="34" charset="-120"/>
              </a:rPr>
              <a:t>Web</a:t>
            </a:r>
            <a:r>
              <a:rPr lang="zh-TW" altLang="en-US" sz="2000" b="1" dirty="0">
                <a:ea typeface="微軟正黑體" panose="020B0604030504040204" pitchFamily="34" charset="-120"/>
              </a:rPr>
              <a:t> </a:t>
            </a:r>
            <a:r>
              <a:rPr lang="en-US" altLang="zh-TW" sz="2000" b="1" dirty="0">
                <a:ea typeface="微軟正黑體" panose="020B0604030504040204" pitchFamily="34" charset="-120"/>
              </a:rPr>
              <a:t>app</a:t>
            </a:r>
            <a:r>
              <a:rPr lang="zh-TW" altLang="en-US" sz="2000" b="1" dirty="0">
                <a:ea typeface="微軟正黑體" panose="020B0604030504040204" pitchFamily="34" charset="-120"/>
              </a:rPr>
              <a:t>持續優化功能</a:t>
            </a:r>
            <a:endParaRPr lang="zh-TW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905A248-F3BC-9697-26A6-9DD9BA949F62}"/>
              </a:ext>
            </a:extLst>
          </p:cNvPr>
          <p:cNvSpPr txBox="1"/>
          <p:nvPr/>
        </p:nvSpPr>
        <p:spPr>
          <a:xfrm>
            <a:off x="165334" y="1598592"/>
            <a:ext cx="9077277" cy="1477328"/>
          </a:xfrm>
          <a:prstGeom prst="rect">
            <a:avLst/>
          </a:prstGeom>
          <a:solidFill>
            <a:srgbClr val="F7F4ED"/>
          </a:solidFill>
        </p:spPr>
        <p:txBody>
          <a:bodyPr wrap="square">
            <a:spAutoFit/>
          </a:bodyPr>
          <a:lstStyle/>
          <a:p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時薪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每次教學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詢問時間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次數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×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每月上班天數</a:t>
            </a:r>
            <a:endParaRPr lang="en-US" altLang="zh-TW" b="1" dirty="0">
              <a:solidFill>
                <a:schemeClr val="tx1"/>
              </a:solidFill>
              <a:latin typeface="+mn-lt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196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元</a:t>
            </a: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/hr×1hr×6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次</a:t>
            </a: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日</a:t>
            </a: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×22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日</a:t>
            </a: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×12=51,744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元</a:t>
            </a: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年</a:t>
            </a:r>
            <a:endParaRPr lang="en-US" altLang="zh-TW" b="1" dirty="0">
              <a:solidFill>
                <a:schemeClr val="tx1"/>
              </a:solidFill>
              <a:latin typeface="+mn-lt"/>
              <a:ea typeface="微軟正黑體" panose="020B0604030504040204" pitchFamily="34" charset="-120"/>
            </a:endParaRPr>
          </a:p>
          <a:p>
            <a:endParaRPr lang="en-US" altLang="zh-TW" b="1" dirty="0">
              <a:latin typeface="+mn-lt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當年度效益</a:t>
            </a:r>
            <a:r>
              <a:rPr lang="en-US" altLang="zh-TW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(5~12</a:t>
            </a:r>
            <a:r>
              <a:rPr lang="zh-TW" altLang="en-US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月</a:t>
            </a:r>
            <a:r>
              <a:rPr lang="en-US" altLang="zh-TW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51,744</a:t>
            </a:r>
            <a:r>
              <a:rPr lang="zh-TW" altLang="en-US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元</a:t>
            </a:r>
            <a:r>
              <a:rPr lang="en-US" altLang="zh-TW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年</a:t>
            </a:r>
            <a:r>
              <a:rPr lang="en-US" altLang="zh-TW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÷12×8=34,496</a:t>
            </a:r>
            <a:r>
              <a:rPr lang="zh-TW" altLang="en-US" b="1" dirty="0">
                <a:solidFill>
                  <a:srgbClr val="0000FF"/>
                </a:solidFill>
                <a:latin typeface="+mn-lt"/>
                <a:ea typeface="微軟正黑體" panose="020B0604030504040204" pitchFamily="34" charset="-120"/>
              </a:rPr>
              <a:t>元</a:t>
            </a:r>
            <a:endParaRPr lang="en-US" altLang="zh-TW" b="1" dirty="0">
              <a:solidFill>
                <a:srgbClr val="0000FF"/>
              </a:solidFill>
              <a:latin typeface="+mn-lt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2A9BF02-107B-440A-3CFF-76172F7D3B12}"/>
              </a:ext>
            </a:extLst>
          </p:cNvPr>
          <p:cNvSpPr txBox="1"/>
          <p:nvPr/>
        </p:nvSpPr>
        <p:spPr>
          <a:xfrm>
            <a:off x="165334" y="4650512"/>
            <a:ext cx="11103300" cy="761747"/>
          </a:xfrm>
          <a:prstGeom prst="rect">
            <a:avLst/>
          </a:prstGeom>
          <a:solidFill>
            <a:srgbClr val="F7F4ED"/>
          </a:solidFill>
        </p:spPr>
        <p:txBody>
          <a:bodyPr wrap="square">
            <a:spAutoFit/>
          </a:bodyPr>
          <a:lstStyle/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Agent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：針對不同工作型態或是部門需求做客製化教材，資料處理</a:t>
            </a: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&amp;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分析→</a:t>
            </a: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YIP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、活動規劃追蹤→廠長室</a:t>
            </a:r>
            <a:endParaRPr lang="en-US" altLang="zh-TW" b="1" dirty="0">
              <a:solidFill>
                <a:schemeClr val="tx1"/>
              </a:solidFill>
              <a:latin typeface="+mn-lt"/>
              <a:ea typeface="微軟正黑體" panose="020B0604030504040204" pitchFamily="34" charset="-120"/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Web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 </a:t>
            </a:r>
            <a:r>
              <a:rPr lang="en-US" altLang="zh-TW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app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：</a:t>
            </a:r>
            <a:r>
              <a:rPr lang="zh-TW" altLang="en-US" b="1" dirty="0">
                <a:ea typeface="微軟正黑體" panose="020B0604030504040204" pitchFamily="34" charset="-120"/>
              </a:rPr>
              <a:t>降低</a:t>
            </a:r>
            <a:r>
              <a:rPr lang="zh-TW" altLang="en-US" b="1" dirty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rPr>
              <a:t>產出錯誤率</a:t>
            </a:r>
            <a:endParaRPr lang="en-US" altLang="zh-TW" b="1" dirty="0">
              <a:solidFill>
                <a:schemeClr val="tx1"/>
              </a:solidFill>
              <a:latin typeface="+mn-l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9938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C87B-D9B5-513F-40DB-77678BDF1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B59330-DB65-2A2C-E9BE-D6B4E4E0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後續專案精進規劃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4E6653-4E12-2A00-27E0-3339756786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47A400E-EC7F-7FC3-CF89-BC7F77FBAAE9}"/>
              </a:ext>
            </a:extLst>
          </p:cNvPr>
          <p:cNvSpPr txBox="1"/>
          <p:nvPr/>
        </p:nvSpPr>
        <p:spPr>
          <a:xfrm>
            <a:off x="0" y="46039"/>
            <a:ext cx="3250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TW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Step 4</a:t>
            </a:r>
            <a:r>
              <a:rPr lang="zh-TW" altLang="en-US" sz="1800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：</a:t>
            </a:r>
            <a:r>
              <a:rPr lang="zh-TW" altLang="en-US" b="1" dirty="0">
                <a:solidFill>
                  <a:srgbClr val="0000CC"/>
                </a:solidFill>
                <a:latin typeface="Arial" panose="020B0604020202020204" pitchFamily="34" charset="0"/>
                <a:ea typeface="標楷體" panose="03000509000000000000" pitchFamily="65" charset="-120"/>
              </a:rPr>
              <a:t>結論與後續工作規劃</a:t>
            </a:r>
            <a:endParaRPr lang="zh-TW" altLang="en-US" sz="1800" b="1" dirty="0">
              <a:solidFill>
                <a:srgbClr val="0000CC"/>
              </a:solidFill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C24C7C-4916-D68D-B854-4804E18442A2}"/>
              </a:ext>
            </a:extLst>
          </p:cNvPr>
          <p:cNvSpPr txBox="1"/>
          <p:nvPr/>
        </p:nvSpPr>
        <p:spPr>
          <a:xfrm>
            <a:off x="459340" y="956365"/>
            <a:ext cx="11427860" cy="761747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TW"/>
            </a:defPPr>
            <a:lvl1pPr algn="l">
              <a:defRPr sz="1800" b="1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此專案到</a:t>
            </a:r>
            <a:r>
              <a:rPr lang="en-US" altLang="zh-TW" b="0" dirty="0">
                <a:solidFill>
                  <a:schemeClr val="tx1"/>
                </a:solidFill>
              </a:rPr>
              <a:t>2026</a:t>
            </a:r>
            <a:r>
              <a:rPr lang="zh-TW" altLang="en-US" b="0" dirty="0">
                <a:solidFill>
                  <a:schemeClr val="tx1"/>
                </a:solidFill>
              </a:rPr>
              <a:t>年底的預計持續進行項目有哪些？</a:t>
            </a:r>
            <a:endParaRPr lang="en-US" altLang="zh-TW" b="0" dirty="0">
              <a:solidFill>
                <a:schemeClr val="tx1"/>
              </a:solidFill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n"/>
              <a:defRPr/>
            </a:pPr>
            <a:r>
              <a:rPr lang="zh-TW" altLang="en-US" b="0" dirty="0">
                <a:solidFill>
                  <a:schemeClr val="tx1"/>
                </a:solidFill>
              </a:rPr>
              <a:t>預計完成時程是何時？</a:t>
            </a:r>
            <a:endParaRPr lang="en-US" altLang="zh-TW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182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2366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180A17BA744B5640974F4C9524807158" ma:contentTypeVersion="7" ma:contentTypeDescription="建立新的文件。" ma:contentTypeScope="" ma:versionID="16db8b763cc52e5c3034b88c5fba23ae">
  <xsd:schema xmlns:xsd="http://www.w3.org/2001/XMLSchema" xmlns:xs="http://www.w3.org/2001/XMLSchema" xmlns:p="http://schemas.microsoft.com/office/2006/metadata/properties" xmlns:ns2="ce5f705a-8ddf-4f8f-9fbf-11675c802f89" targetNamespace="http://schemas.microsoft.com/office/2006/metadata/properties" ma:root="true" ma:fieldsID="904bc605f2cde29e58632163bb11b18f" ns2:_="">
    <xsd:import namespace="ce5f705a-8ddf-4f8f-9fbf-11675c802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5f705a-8ddf-4f8f-9fbf-11675c802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pprovalAssignedTo" ma:index="11" nillable="true" ma:displayName="核准者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12" nillable="true" ma:displayName="回應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13" nillable="true" ma:displayName="核准建立者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14" nillable="true" ma:displayName="核准狀態" ma:internalName="_ApprovalStatu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pprovalAssignedTo xmlns="ce5f705a-8ddf-4f8f-9fbf-11675c802f89">
      <UserInfo>
        <DisplayName/>
        <AccountId xsi:nil="true"/>
        <AccountType/>
      </UserInfo>
    </_ApprovalAssignedTo>
    <_ApprovalRespondedBy xmlns="ce5f705a-8ddf-4f8f-9fbf-11675c802f89">
      <UserInfo>
        <DisplayName/>
        <AccountId xsi:nil="true"/>
        <AccountType/>
      </UserInfo>
    </_ApprovalRespondedBy>
    <_ApprovalStatus xmlns="ce5f705a-8ddf-4f8f-9fbf-11675c802f89">0</_ApprovalStatus>
  </documentManagement>
</p:properties>
</file>

<file path=customXml/itemProps1.xml><?xml version="1.0" encoding="utf-8"?>
<ds:datastoreItem xmlns:ds="http://schemas.openxmlformats.org/officeDocument/2006/customXml" ds:itemID="{3FD43A3A-38B1-48EE-829A-37AD3F12F1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5f705a-8ddf-4f8f-9fbf-11675c802f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6444050-AF76-4CD2-9515-F42CE10672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7D72A3-E0BF-48D0-8E2C-9D20512AA217}">
  <ds:schemaRefs>
    <ds:schemaRef ds:uri="http://schemas.microsoft.com/office/2006/metadata/properties"/>
    <ds:schemaRef ds:uri="http://schemas.microsoft.com/office/infopath/2007/PartnerControls"/>
    <ds:schemaRef ds:uri="ce5f705a-8ddf-4f8f-9fbf-11675c802f8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集團公版簡報母片 (3x4)</Template>
  <TotalTime>1756</TotalTime>
  <Words>1051</Words>
  <Application>Microsoft Office PowerPoint</Application>
  <PresentationFormat>寬螢幕</PresentationFormat>
  <Paragraphs>115</Paragraphs>
  <Slides>14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微軟正黑體</vt:lpstr>
      <vt:lpstr>Aptos</vt:lpstr>
      <vt:lpstr>Arial</vt:lpstr>
      <vt:lpstr>Calibri</vt:lpstr>
      <vt:lpstr>Verdana</vt:lpstr>
      <vt:lpstr>Wingdings</vt:lpstr>
      <vt:lpstr>1_Office 佈景主題</vt:lpstr>
      <vt:lpstr>π型人才培育與MO預防性教育訓練</vt:lpstr>
      <vt:lpstr>π型人才培育與MO預防性教育訓練</vt:lpstr>
      <vt:lpstr>選題理由</vt:lpstr>
      <vt:lpstr>VOC to CTQ</vt:lpstr>
      <vt:lpstr>SIPOC</vt:lpstr>
      <vt:lpstr>現況把握與目標訂定</vt:lpstr>
      <vt:lpstr>資料治理狀況</vt:lpstr>
      <vt:lpstr>模型建立與評估-模型建置流程說明</vt:lpstr>
      <vt:lpstr>模型建立與評估-RTF結構設計</vt:lpstr>
      <vt:lpstr>模型建立與評估-Fine tune</vt:lpstr>
      <vt:lpstr>模型建立與評估-Fine tune</vt:lpstr>
      <vt:lpstr>專案結論</vt:lpstr>
      <vt:lpstr>後續專案精進規劃</vt:lpstr>
      <vt:lpstr>PowerPoint 簡報</vt:lpstr>
    </vt:vector>
  </TitlesOfParts>
  <Company>Unimicron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Justin Chang (張正鼎)</dc:creator>
  <cp:lastModifiedBy>Kiwe Kao</cp:lastModifiedBy>
  <cp:revision>91</cp:revision>
  <dcterms:created xsi:type="dcterms:W3CDTF">2026-03-06T02:54:27Z</dcterms:created>
  <dcterms:modified xsi:type="dcterms:W3CDTF">2026-04-20T13:08:29Z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0x010100180A17BA744B5640974F4C9524807158</vt:lpwstr>
  </property>
</Properties>
</file>